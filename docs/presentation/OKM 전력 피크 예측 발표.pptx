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팀 LXAXMakers입니다. 저희는 OKM 공장의 2021년 시간별 제조 데이터로 다음 1시간 전력을 예측하고, 177 kW를 넘는 전력 피크를 확률로 미리 알려 주는 모델을 만들었습니다. 발표는 심사 기준 여섯 개 장 순서대로 진행하겠습니다.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장으로 요약하면, LSTM·TCN·가중 앙상블·XGBoost·LightGBM 다섯 후보를 같은 9개 입력, 같은 Test 703시간에서 비교했고 LSTM과 TCN을 섞은 가중 앙상블이 RMSE 8.67 kW, 피크 경보 F1 0.527로 둘 다 1위였습니다. 전주 같은 시각 값을 그대로 쓰는 기준선보다 RMSE를 30% 낮췄고, 피크 49시간 중 48시간을 미리 경보했습니다.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결과보고서의 심사 기준 여섯 개 장 순서를 그대로 따릅니다. 배점이 가장 큰 2장 AI 예측모델에 가장 많은 시간을 쓰겠습니다.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데이터는 공장 전체의 시간별 기록입니다. 2021년 1월 1일부터 9월 14일까지 6,168시간에 생산량, 기상, 인력, 그리고 15분 단위 네 번의 전력 계측이 있습니다. 네 계측의 평균을 다음 시간의 예측 목표로 정했습니다. 그림을 보면 평일과 주말이 뚜렷하게 반복되고, 8월 말에는 공장이 멈춘 셧다운 구간이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원본 6,168행 18열에서 공장인원 17건, 풍속 3건, 강수량 1건의 결측과 시간 표기가 잘못된 48건을 찾았습니다. 중복은 없었습니다. 공장인원 결측은 0으로, 풍속과 강수량은 시간 순서대로 선형보간했고, 시간 표기는 날짜와 요일 흐름에 맞춰 복원하면서 복원 여부를 따로 기록했습니다. 8월 28일부터 29일까지 공장이 멈춘 17시간은 셧다운으로 표시했습니다. 정제 후 22열, 결측은 0건입니다. 생산이 없는 시간에도 평균 46 kW를 쓰기 때문에, 단순한 생산 중단과 셧다운은 다르게 봐야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요일과 시간별 평균 전력을 열지도로 그리면 공장의 조업 리듬이 보입니다. 평일 아침 8시부터 오후까지 전력이 높고, 12시 점심에는 151.7 kW에서 94.4 kW로 뚝 떨어집니다. 주말은 하루 종일 낮습니다. 전력은 1시간 전 값과 0.901, 일주일 전 같은 시각과 0.740의 상관을 보여서, 모델이 과거 몇 시간을 볼지 24시간부터 168시간까지 비교하게 된 근거가 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생산량과 전력의 관계입니다. 생산이 없어도 대기 부하가 있고, 생산량이 많을 때 고부하가 나타납니다. 오른쪽은 평일과 주말의 시간별 평균인데, 평일 평균조차 177 kW 피크 기준보다 낮습니다. 즉 피크는 평소보다 부하가 몰린 드문 순간이고, 이것을 미리 잡는 것이 과제입니다.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모델 모두 같은 9개 입력을 씁니다. 과거 전력, 생산량, 기상 네 가지, 그리고 날짜와 시간에서 만든 시간_sin, 시간_cos, 주말여부입니다. 피크는 Test 이전 기간 전력의 상위 5%인 177 kW 이상으로 고정했습니다. 평가 구간 703시간 중 피크는 49시간, 7%밖에 안 되기 때문에 평균 오차만 보지 않고 피크를 얼마나 잡았는지, 오경보가 얼마나 되는지를 따로 평가했습니다.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시계열이라 데이터를 무작위로 섞지 않았습니다. 검증 기간 세 개를 한 달씩 뒤로 옮기면서, 각 검증 직전까지의 데이터로만 학습하는 확장형 fold입니다. 검증 직전 14일은 학습을 언제 멈출지 판단하는 데만 썼습니다. 최종 Test는 8월 16일부터 9월 14일로 고정해 설정을 고르는 과정과 완전히 분리했고, 그 안의 공장 셧다운 17시간은 예측 대상에서 빼서 703시간으로 평가했습니다.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2장 예측모델입니다. 먼저 학습 없이 값을 그대로 가져다 쓰는 기준선 두 개를 세웠습니다. 전주 같은 시각 값을 쓰면 RMSE 12.40 kW, F1 0.366이고, 직전 시간 값을 쓰면 RMSE 25.74 kW, F1 0.412입니다. 기준선도 모델과 똑같이 확률로 바꿔 경보했기 때문에 공정하게 비교할 수 있습니다. 모델 설정은 다섯 모델 모두 같은 규칙으로 골랐습니다. 검증 RMSE가 최저에서 2% 이내인 후보 중, 피크 시각 오차가 가장 작은 것을 고릅니다. 평균만 좋은 모델이 아니라 피크를 잘 맞히는 모델을 고르기 위해서입니다.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딥러닝 두 모델은 후보 조합이 너무 많아서 네 단계로 나눠 차례로 좁혔습니다. 먼저 과거 몇 시간을 볼지 정하고, 그다음 구조, 학습률과 dropout, 마지막으로 배치 크기를 골랐습니다. LSTM은 22개 후보, TCN은 34개 후보를 fold 세 개씩 평가했습니다. LSTM은 168시간, 즉 일주일을 보는 설정이, TCN은 24시간을 보는 설정이 뽑혔습니다. LSTM 마지막 단계에서 RMSE가 0.01 올라간 것은 2% 범위 안에서 피크 오차가 더 작은 배치 16을 골랐기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트리 모델 두 개는 학습이 빨라서 108개 조합을 하나도 빼지 않고 fold 세 개씩, 모두 324번 평가했습니다. XGBoost는 최저 RMSE가 13.89였고 그 2% 안에 8개 후보가 남았는데, 그중 피크 오차가 가장 작은 28번을 골랐습니다. LightGBM은 최저 12.83, 13개 후보 중 55번을 골랐습니다. 딥러닝과 똑같은 선택 규칙을 쓴 것이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 그래프는 딥러닝 탐색 단계마다 검증 RMSE가 어떻게 줄었는지 보여 줍니다. TCN이 처음부터 LSTM보다 낮았습니다. 오른쪽은 트리 모델 216개 조합 전체를 가로축 RMSE, 세로축 피크 오차로 찍은 것인데, 별표가 최종 선택입니다. 왼쪽 아래 모서리, 즉 두 오차가 모두 작은 곳에서 골랐다는 것을 확인할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최종 모델은 일주일을 보는 LSTM과 하루를 보는 TCN을 섞은 가중 앙상블입니다. 가중치는 검증 오차가 작을수록 크게, 검증 MSE의 역수로 정해서 LSTM 0.444, TCN 0.556이 됐습니다. 예측값은 그대로 쓰지 않고 피크 확률로 바꿉니다. 검증에서 오차의 표준편차가 10.43 kW였으니, 예측이 177에 얼마나 가까운지로 177을 넘을 확률을 계산합니다. 이 확률이 0.20 이상이면 경보를 냅니다. 0.20도 검증에서 F1이 가장 높은 값으로 고른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Test 703시간에서 다섯 모델과 기준선 두 개를 비교한 표입니다. 회색 두 줄이 학습 없는 기준선이고, 다섯 모델 모두 RMSE에서 기준선을 이겼습니다. LSTM은 피크를 하나도 놓치지 않았지만 오경보가 118건으로 가장 많고, TCN은 오경보는 적지만 6건을 놓쳤습니다. 둘을 섞은 앙상블은 1건만 놓치고 오경보 85건으로 균형을 맞췄고, RMSE 8.67과 F1 0.527로 둘 다 1위입니다. 그래서 최종 모델로 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3장 영향요인 분석입니다. 저장된 트리 모델에서 변수 하나의 과거 168시간을 통째로 다섯 번 섞어, 오차가 얼마나 커지는지 쟀습니다. 과거 전력을 섞으면 RMSE가 60 kW 넘게 늘어서 압도적으로 중요했습니다. 그다음이 시간_cos, 즉 하루 중 어느 시간인지이고, 생산량이 뒤따릅니다. 공장의 부하가 이어지는 성질이 가장 강한 단서이고, 시간대와 생산 강도를 함께 봐야 피크를 정확하게 잡을 수 있다는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생산량과 시간대를 따로 보지 않고 겹쳐 보면 더 분명해집니다. 직전 시간 생산량이 1,000 이하이고 오전 조업 시간이 아닐 때는 피크가 433시간 중 9시간, 2.1%뿐입니다. 반대로 생산량이 1,000을 넘고 오전 7시에서 11시 사이이면 42시간 중 12시간, 28.6%가 피크였습니다. 약 14배 차이입니다. 이 조합을 현장에서 먼저 확인할 시각으로 삼았습니다. 다만 이건 함께 나타난다는 연관성이라, 실제 조치는 작업 계획과 설비 상태를 확인하고 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피크가 몰린 8월 20일부터 27일까지를 확대한 그림입니다. 빨간 점이 경보, 노란 X가 놓친 시간입니다. Test 전체 피크 49시간 중 48시간을 경보했고, 놓친 것은 8월 23일 오후 3시 한 번입니다. 실측 179.5 kW를 167.9 kW로 예측해서 피크 확률이 0.192, 경보 기준 0.20에 아주 조금 못 미쳤습니다.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오경보와 미탐지가 어느 시간에 몰리는지 봤습니다. Test 오경보 85건은 9시, 11시, 13시에 각각 13건, 16시에 12건으로 조업 시간에 몰려 있습니다. 검증과 Test를 합친 2,911시간에서 보면 미탐지는 아침 8시, 10시, 16시에, 오경보는 13시와 9시에 집중됩니다. 이 시간대를 우선 모니터링 대상으로 정했고, 4장의 현장 대응에 그대로 연결됩니다.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4장 현장 활용입니다. 예측값 위아래로 3σ, 즉 ±31 kW 정도의 관리한계를 그립니다. σ는 검증 구간 오차에서만 구해 고정했습니다. 실측이 위 한계를 넘으면 예상보다 큰 부하 급증, 아래 한계보다 낮으면 설비 정지나 계측 오류, 생산계획 변경을 의심합니다. 이것과 별도로, 한계 안에 있더라도 177 kW를 넘을 확률이 0.20 이상이면 수요 피크 경보를 냅니다. 공정 이상 감지와 최대수요 관리를 둘 다 하는 구조입니다. 위 한계를 벗어나면 계측 확인, 작업 지시 대조, 부하 분산, 비필수 설비 조정 순으로 대응합니다.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관리한계를 실제 화면으로 만들었습니다. 저장된 Test 703시간을 한 시간씩 재생하면서, 지금 시각까지는 실측을 보여 주고 다음 한 시간의 예측을 미리 보여 줍니다. 6시간, 12시간, 24시간 보기로 예측선과 관리한계, 177 kW 기준을 함께 보고 다음 시간에 점검이 필요한지 판단합니다. 조치를 하면 담당자와 함께 기록해 둘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관제 화면 말고도 점검 화면이 세 개 더 있습니다. 첫째, 모델 성능 화면은 다섯 후보의 오차와 최종 앙상블의 경보 성능, 시간대별 오류를 한 번에 보여 줍니다. 둘째, 변수 기여도 화면은 트리 모델에서 각 변수가 그 시각 예측을 올렸는지 내렸는지 보여 줍니다. 셋째, 오류 사례 검토 화면에서는 놓친 피크와 오경보를 목록으로 보고 체크리스트로 원인을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현장에서는 3장에서 찾은 조건을 우선순위로 씁니다. 오전 조업 시작에 생산량이 많은 시각을 먼저 보고, 오경보가 잦은 9시, 11시, 13시에는 예측만 믿지 않고 작업 계획과 현장 계측을 같이 봅니다. 최종 조정은 안전과 품질을 지키는 범위에서 작업자가 승인합니다. 실제로 도입하면 피크 재현율, 불필요한 확인 건수, 작업 변경 횟수, 실제 최대수요 전력 변화를 함께 관리해 효과를 확인하겠습니다.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5장 창의성입니다. 네 가지를 강조하겠습니다. 첫째, 일주일 흐름을 보는 LSTM과 하루 변화를 보는 TCN을 검증 오차로 섞어, 각각 따로 쓸 때보다 오차를 줄였습니다. 둘째, 셧다운과 시간 복원 이력을 데이터에 남겨 공장이 멈춘 것과 단순히 생산이 없는 것을 구분했습니다. 셋째, 피크가 7%밖에 안 되기 때문에 평균 오차만 보지 않고 피크 시각 오차로 설정을 골랐습니다. 넷째, 예측값을 확률로 바꿔 경보했고, 기준선보다 F1이 0.16 높습니다. 놓친 것과 헛경보 숫자도 숨기지 않고 공개해 운영 비용을 판단할 수 있게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6장 재현성입니다. 폴더를 역할별로 나눴고, 실행 환경은 requirements.txt 하나에 적었습니다. 정제 결과가 원본에서 똑같이 다시 만들어지는지 검증하는 스크립트부터, 트리 학습, 다섯 모델 비교, 대시보드, 화면 캡처까지 단계별 명령이 있습니다. 마지막 reproduce_submission.py 하나를 실행하면 정제 검증, 결과 비교, 근거표와 그림, 보고서 HWPX 생성과 검증까지 연속으로 실행됩니다. seed, 데이터 해시, 입력 목록, 선택 규칙은 manifest 파일에 기록됩니다.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다음 한 시간 전력을 RMSE 8.67 kW로 예측해 기준선보다 30% 정확했고, 피크 49시간 중 48시간을 미리 경보했습니다. 이 예측을 3σ 관리한계와 대시보드로 연결해 현장에서 어떻게 조치할지까지 제시했고, 명령 한 줄로 모든 결과를 다시 만들 수 있습니다. 남은 과제는 오경보 85건을 줄이는 것, 실제 현장에서 효과를 측정하는 것, 더 긴 기간 데이터로 검증하는 것입니다.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97918"/>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3202E"/>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2040868"/>
            <a:ext cx="10566400" cy="4004332"/>
          </a:xfrm>
          <a:prstGeom prst="rect">
            <a:avLst/>
          </a:prstGeom>
          <a:noFill/>
          <a:ln/>
        </p:spPr>
        <p:txBody>
          <a:bodyPr wrap="square" lIns="0" tIns="0" rIns="0" bIns="0" rtlCol="0" anchor="t"/>
          <a:lstStyle>
            <a:lvl1pPr algn="l" indent="0" marL="0">
              <a:lnSpc>
                <a:spcPct val="140000"/>
              </a:lnSpc>
              <a:buNone/>
              <a:defRPr lang="en-US" sz="1600" dirty="0">
                <a:solidFill>
                  <a:srgbClr val="13202E"/>
                </a:solidFill>
                <a:latin typeface="IBM Plex Sans KR" pitchFamily="34" charset="0"/>
                <a:ea typeface="IBM Plex Sans KR" pitchFamily="34" charset="-122"/>
                <a:cs typeface="IBM Plex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97918"/>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3202E"/>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2040868"/>
            <a:ext cx="10566400" cy="4004332"/>
          </a:xfrm>
          <a:prstGeom prst="rect">
            <a:avLst/>
          </a:prstGeom>
          <a:noFill/>
          <a:ln/>
        </p:spPr>
        <p:txBody>
          <a:bodyPr wrap="square" lIns="0" tIns="0" rIns="0" bIns="0" rtlCol="0" anchor="t"/>
          <a:lstStyle>
            <a:lvl1pPr algn="l" indent="0" marL="0">
              <a:lnSpc>
                <a:spcPct val="140000"/>
              </a:lnSpc>
              <a:buNone/>
              <a:defRPr lang="en-US" sz="1600" dirty="0">
                <a:solidFill>
                  <a:srgbClr val="13202E"/>
                </a:solidFill>
                <a:latin typeface="IBM Plex Sans KR" pitchFamily="34" charset="0"/>
                <a:ea typeface="IBM Plex Sans KR" pitchFamily="34" charset="-122"/>
                <a:cs typeface="IBM Plex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2.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2E"/>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2A78D6"/>
          </a:solidFill>
          <a:ln/>
        </p:spPr>
      </p:sp>
      <p:sp>
        <p:nvSpPr>
          <p:cNvPr id="3" name="Text 1"/>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7FB6EC"/>
                </a:solidFill>
                <a:latin typeface="IBM Plex Sans KR" pitchFamily="34" charset="0"/>
                <a:ea typeface="IBM Plex Sans KR" pitchFamily="34" charset="-122"/>
                <a:cs typeface="IBM Plex Sans KR" pitchFamily="34" charset="-120"/>
              </a:rPr>
              <a:t>제6회 K-인공지능 제조데이터 분석 경진대회</a:t>
            </a:r>
            <a:endParaRPr lang="en-US" sz="1400" dirty="0"/>
          </a:p>
        </p:txBody>
      </p:sp>
      <p:sp>
        <p:nvSpPr>
          <p:cNvPr id="4" name="Text 2"/>
          <p:cNvSpPr/>
          <p:nvPr>
            <p:ph type="title"/>
          </p:nvPr>
        </p:nvSpPr>
        <p:spPr>
          <a:xfrm>
            <a:off x="812800" y="2446073"/>
            <a:ext cx="10883392" cy="1427427"/>
          </a:xfrm>
          <a:prstGeom prst="rect">
            <a:avLst/>
          </a:prstGeom>
          <a:noFill/>
          <a:ln/>
        </p:spPr>
        <p:txBody>
          <a:bodyPr wrap="square" lIns="0" tIns="0" rIns="0" bIns="0" rtlCol="0" anchor="t">
            <a:normAutofit/>
          </a:bodyPr>
          <a:lstStyle/>
          <a:p>
            <a:pPr algn="l" indent="0" marL="0">
              <a:lnSpc>
                <a:spcPts val="5520"/>
              </a:lnSpc>
              <a:buNone/>
            </a:pPr>
            <a:r>
              <a:rPr lang="en-US" sz="4800" b="1" i="0" dirty="0">
                <a:solidFill>
                  <a:srgbClr val="F6F7F4"/>
                </a:solidFill>
                <a:latin typeface="IBM Plex Sans KR" pitchFamily="34" charset="0"/>
                <a:ea typeface="IBM Plex Sans KR" pitchFamily="34" charset="-122"/>
                <a:cs typeface="IBM Plex Sans KR" pitchFamily="34" charset="-120"/>
              </a:rPr>
              <a:t>OKM 제조공정</a:t>
            </a:r>
            <a:endParaRPr lang="en-US" sz="4800" dirty="0"/>
          </a:p>
          <a:p>
            <a:pPr algn="l" indent="0" marL="0">
              <a:lnSpc>
                <a:spcPts val="5520"/>
              </a:lnSpc>
              <a:buNone/>
            </a:pPr>
            <a:r>
              <a:rPr lang="en-US" sz="4800" b="1" i="0" dirty="0">
                <a:solidFill>
                  <a:srgbClr val="F6F7F4"/>
                </a:solidFill>
                <a:latin typeface="IBM Plex Sans KR" pitchFamily="34" charset="0"/>
                <a:ea typeface="IBM Plex Sans KR" pitchFamily="34" charset="-122"/>
                <a:cs typeface="IBM Plex Sans KR" pitchFamily="34" charset="-120"/>
              </a:rPr>
              <a:t>전력 피크 예측</a:t>
            </a:r>
            <a:endParaRPr lang="en-US" sz="4800" dirty="0"/>
          </a:p>
        </p:txBody>
      </p:sp>
      <p:sp>
        <p:nvSpPr>
          <p:cNvPr id="5" name="Text 3"/>
          <p:cNvSpPr/>
          <p:nvPr/>
        </p:nvSpPr>
        <p:spPr>
          <a:xfrm>
            <a:off x="812800" y="4051300"/>
            <a:ext cx="10883392" cy="368300"/>
          </a:xfrm>
          <a:prstGeom prst="rect">
            <a:avLst/>
          </a:prstGeom>
          <a:noFill/>
          <a:ln/>
        </p:spPr>
        <p:txBody>
          <a:bodyPr wrap="square" lIns="0" tIns="0" rIns="0" bIns="0" rtlCol="0" anchor="t">
            <a:normAutofit/>
          </a:bodyPr>
          <a:lstStyle/>
          <a:p>
            <a:pPr algn="l" indent="0" marL="0">
              <a:lnSpc>
                <a:spcPts val="2700"/>
              </a:lnSpc>
              <a:buNone/>
            </a:pPr>
            <a:r>
              <a:rPr lang="en-US" sz="1800" dirty="0">
                <a:solidFill>
                  <a:srgbClr val="BFCCDA"/>
                </a:solidFill>
                <a:latin typeface="IBM Plex Sans KR" pitchFamily="34" charset="0"/>
                <a:ea typeface="IBM Plex Sans KR" pitchFamily="34" charset="-122"/>
                <a:cs typeface="IBM Plex Sans KR" pitchFamily="34" charset="-120"/>
              </a:rPr>
              <a:t>다음 1시간 전력을 예측하고, 177 kW 피크를 확률로 미리 경보합니다</a:t>
            </a:r>
            <a:endParaRPr lang="en-US" sz="1800" dirty="0"/>
          </a:p>
        </p:txBody>
      </p:sp>
      <p:sp>
        <p:nvSpPr>
          <p:cNvPr id="6" name="Text 4"/>
          <p:cNvSpPr/>
          <p:nvPr/>
        </p:nvSpPr>
        <p:spPr>
          <a:xfrm>
            <a:off x="812800" y="5778500"/>
            <a:ext cx="400010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7F4"/>
                </a:solidFill>
                <a:latin typeface="IBM Plex Sans KR" pitchFamily="34" charset="0"/>
                <a:ea typeface="IBM Plex Sans KR" pitchFamily="34" charset="-122"/>
                <a:cs typeface="IBM Plex Sans KR" pitchFamily="34" charset="-120"/>
              </a:rPr>
              <a:t>팀 LXAXMakers · 이한솔 · 김경제 · 김정현</a:t>
            </a:r>
            <a:endParaRPr lang="en-US" sz="1500" dirty="0"/>
          </a:p>
        </p:txBody>
      </p:sp>
      <p:sp>
        <p:nvSpPr>
          <p:cNvPr id="7" name="Text 5"/>
          <p:cNvSpPr/>
          <p:nvPr/>
        </p:nvSpPr>
        <p:spPr>
          <a:xfrm>
            <a:off x="10648752" y="5796293"/>
            <a:ext cx="876538"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CDA"/>
                </a:solidFill>
                <a:latin typeface="IBM Plex Sans KR" pitchFamily="34" charset="0"/>
                <a:ea typeface="IBM Plex Sans KR" pitchFamily="34" charset="-122"/>
                <a:cs typeface="IBM Plex Sans KR" pitchFamily="34" charset="-120"/>
              </a:rPr>
              <a:t>2026. 10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한 장 요약</a:t>
            </a:r>
            <a:endParaRPr lang="en-US" sz="1300" dirty="0"/>
          </a:p>
        </p:txBody>
      </p:sp>
      <p:sp>
        <p:nvSpPr>
          <p:cNvPr id="3" name="Text 1"/>
          <p:cNvSpPr/>
          <p:nvPr>
            <p:ph type="title"/>
          </p:nvPr>
        </p:nvSpPr>
        <p:spPr>
          <a:xfrm>
            <a:off x="812800" y="1297914"/>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가중 앙상블이 오차·경보 모두 1위</a:t>
            </a:r>
            <a:endParaRPr lang="en-US" sz="3000" dirty="0"/>
          </a:p>
        </p:txBody>
      </p:sp>
      <p:sp>
        <p:nvSpPr>
          <p:cNvPr id="4" name="Shape 2"/>
          <p:cNvSpPr/>
          <p:nvPr/>
        </p:nvSpPr>
        <p:spPr>
          <a:xfrm>
            <a:off x="812800" y="2009114"/>
            <a:ext cx="2508250" cy="0"/>
          </a:xfrm>
          <a:prstGeom prst="line">
            <a:avLst/>
          </a:prstGeom>
          <a:noFill/>
          <a:ln w="38100">
            <a:solidFill>
              <a:srgbClr val="2A78D6"/>
            </a:solidFill>
            <a:prstDash val="solid"/>
          </a:ln>
        </p:spPr>
      </p:sp>
      <p:sp>
        <p:nvSpPr>
          <p:cNvPr id="5" name="Text 3"/>
          <p:cNvSpPr/>
          <p:nvPr/>
        </p:nvSpPr>
        <p:spPr>
          <a:xfrm>
            <a:off x="812800" y="2155164"/>
            <a:ext cx="258349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전력 예측 RMSE</a:t>
            </a:r>
            <a:endParaRPr lang="en-US" sz="1300" dirty="0"/>
          </a:p>
        </p:txBody>
      </p:sp>
      <p:sp>
        <p:nvSpPr>
          <p:cNvPr id="6" name="Text 4"/>
          <p:cNvSpPr/>
          <p:nvPr/>
        </p:nvSpPr>
        <p:spPr>
          <a:xfrm>
            <a:off x="812800" y="2437078"/>
            <a:ext cx="2583498"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3202E"/>
                </a:solidFill>
                <a:latin typeface="IBM Plex Mono" pitchFamily="49" charset="0"/>
                <a:ea typeface="IBM Plex Mono" pitchFamily="49" charset="-122"/>
                <a:cs typeface="IBM Plex Mono" pitchFamily="49" charset="-120"/>
              </a:rPr>
              <a:t>8.67 kW</a:t>
            </a:r>
            <a:endParaRPr lang="en-US" sz="3600" dirty="0"/>
          </a:p>
        </p:txBody>
      </p:sp>
      <p:sp>
        <p:nvSpPr>
          <p:cNvPr id="7" name="Text 5"/>
          <p:cNvSpPr/>
          <p:nvPr/>
        </p:nvSpPr>
        <p:spPr>
          <a:xfrm>
            <a:off x="812800" y="2990784"/>
            <a:ext cx="25834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전주 같은 시각 기준선 12.40 대비 −30.0%</a:t>
            </a:r>
            <a:endParaRPr lang="en-US" sz="1200" dirty="0"/>
          </a:p>
        </p:txBody>
      </p:sp>
      <p:sp>
        <p:nvSpPr>
          <p:cNvPr id="8" name="Shape 6"/>
          <p:cNvSpPr/>
          <p:nvPr/>
        </p:nvSpPr>
        <p:spPr>
          <a:xfrm>
            <a:off x="3498850" y="2009114"/>
            <a:ext cx="2508250" cy="0"/>
          </a:xfrm>
          <a:prstGeom prst="line">
            <a:avLst/>
          </a:prstGeom>
          <a:noFill/>
          <a:ln w="38100">
            <a:solidFill>
              <a:srgbClr val="2A78D6"/>
            </a:solidFill>
            <a:prstDash val="solid"/>
          </a:ln>
        </p:spPr>
      </p:sp>
      <p:sp>
        <p:nvSpPr>
          <p:cNvPr id="9" name="Text 7"/>
          <p:cNvSpPr/>
          <p:nvPr/>
        </p:nvSpPr>
        <p:spPr>
          <a:xfrm>
            <a:off x="3498850" y="2155164"/>
            <a:ext cx="258349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R² · MAE</a:t>
            </a:r>
            <a:endParaRPr lang="en-US" sz="1300" dirty="0"/>
          </a:p>
        </p:txBody>
      </p:sp>
      <p:sp>
        <p:nvSpPr>
          <p:cNvPr id="10" name="Text 8"/>
          <p:cNvSpPr/>
          <p:nvPr/>
        </p:nvSpPr>
        <p:spPr>
          <a:xfrm>
            <a:off x="3498850" y="2437078"/>
            <a:ext cx="2583498"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3202E"/>
                </a:solidFill>
                <a:latin typeface="IBM Plex Mono" pitchFamily="49" charset="0"/>
                <a:ea typeface="IBM Plex Mono" pitchFamily="49" charset="-122"/>
                <a:cs typeface="IBM Plex Mono" pitchFamily="49" charset="-120"/>
              </a:rPr>
              <a:t>0.975</a:t>
            </a:r>
            <a:endParaRPr lang="en-US" sz="3600" dirty="0"/>
          </a:p>
        </p:txBody>
      </p:sp>
      <p:sp>
        <p:nvSpPr>
          <p:cNvPr id="11" name="Text 9"/>
          <p:cNvSpPr/>
          <p:nvPr/>
        </p:nvSpPr>
        <p:spPr>
          <a:xfrm>
            <a:off x="3498850" y="2990784"/>
            <a:ext cx="2583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MAE 5.90 kW</a:t>
            </a:r>
            <a:endParaRPr lang="en-US" sz="1200" dirty="0"/>
          </a:p>
        </p:txBody>
      </p:sp>
      <p:sp>
        <p:nvSpPr>
          <p:cNvPr id="12" name="Shape 10"/>
          <p:cNvSpPr/>
          <p:nvPr/>
        </p:nvSpPr>
        <p:spPr>
          <a:xfrm>
            <a:off x="6184900" y="2009114"/>
            <a:ext cx="2508250" cy="0"/>
          </a:xfrm>
          <a:prstGeom prst="line">
            <a:avLst/>
          </a:prstGeom>
          <a:noFill/>
          <a:ln w="38100">
            <a:solidFill>
              <a:srgbClr val="C2571A"/>
            </a:solidFill>
            <a:prstDash val="solid"/>
          </a:ln>
        </p:spPr>
      </p:sp>
      <p:sp>
        <p:nvSpPr>
          <p:cNvPr id="13" name="Text 11"/>
          <p:cNvSpPr/>
          <p:nvPr/>
        </p:nvSpPr>
        <p:spPr>
          <a:xfrm>
            <a:off x="6184900" y="2155164"/>
            <a:ext cx="258349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피크 재현율</a:t>
            </a:r>
            <a:endParaRPr lang="en-US" sz="1300" dirty="0"/>
          </a:p>
        </p:txBody>
      </p:sp>
      <p:sp>
        <p:nvSpPr>
          <p:cNvPr id="14" name="Text 12"/>
          <p:cNvSpPr/>
          <p:nvPr/>
        </p:nvSpPr>
        <p:spPr>
          <a:xfrm>
            <a:off x="6184900" y="2437078"/>
            <a:ext cx="2583498"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3202E"/>
                </a:solidFill>
                <a:latin typeface="IBM Plex Mono" pitchFamily="49" charset="0"/>
                <a:ea typeface="IBM Plex Mono" pitchFamily="49" charset="-122"/>
                <a:cs typeface="IBM Plex Mono" pitchFamily="49" charset="-120"/>
              </a:rPr>
              <a:t>98.0%</a:t>
            </a:r>
            <a:endParaRPr lang="en-US" sz="3600" dirty="0"/>
          </a:p>
        </p:txBody>
      </p:sp>
      <p:sp>
        <p:nvSpPr>
          <p:cNvPr id="15" name="Text 13"/>
          <p:cNvSpPr/>
          <p:nvPr/>
        </p:nvSpPr>
        <p:spPr>
          <a:xfrm>
            <a:off x="6184900" y="2990784"/>
            <a:ext cx="2583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피크 49시간 중 48시간 경보</a:t>
            </a:r>
            <a:endParaRPr lang="en-US" sz="1200" dirty="0"/>
          </a:p>
        </p:txBody>
      </p:sp>
      <p:sp>
        <p:nvSpPr>
          <p:cNvPr id="16" name="Shape 14"/>
          <p:cNvSpPr/>
          <p:nvPr/>
        </p:nvSpPr>
        <p:spPr>
          <a:xfrm>
            <a:off x="8870950" y="2009114"/>
            <a:ext cx="2508250" cy="0"/>
          </a:xfrm>
          <a:prstGeom prst="line">
            <a:avLst/>
          </a:prstGeom>
          <a:noFill/>
          <a:ln w="38100">
            <a:solidFill>
              <a:srgbClr val="C2571A"/>
            </a:solidFill>
            <a:prstDash val="solid"/>
          </a:ln>
        </p:spPr>
      </p:sp>
      <p:sp>
        <p:nvSpPr>
          <p:cNvPr id="17" name="Text 15"/>
          <p:cNvSpPr/>
          <p:nvPr/>
        </p:nvSpPr>
        <p:spPr>
          <a:xfrm>
            <a:off x="8870950" y="2155164"/>
            <a:ext cx="258349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피크 경보 F1</a:t>
            </a:r>
            <a:endParaRPr lang="en-US" sz="1300" dirty="0"/>
          </a:p>
        </p:txBody>
      </p:sp>
      <p:sp>
        <p:nvSpPr>
          <p:cNvPr id="18" name="Text 16"/>
          <p:cNvSpPr/>
          <p:nvPr/>
        </p:nvSpPr>
        <p:spPr>
          <a:xfrm>
            <a:off x="8870950" y="2437078"/>
            <a:ext cx="2583498"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3202E"/>
                </a:solidFill>
                <a:latin typeface="IBM Plex Mono" pitchFamily="49" charset="0"/>
                <a:ea typeface="IBM Plex Mono" pitchFamily="49" charset="-122"/>
                <a:cs typeface="IBM Plex Mono" pitchFamily="49" charset="-120"/>
              </a:rPr>
              <a:t>0.527</a:t>
            </a:r>
            <a:endParaRPr lang="en-US" sz="3600" dirty="0"/>
          </a:p>
        </p:txBody>
      </p:sp>
      <p:sp>
        <p:nvSpPr>
          <p:cNvPr id="19" name="Text 17"/>
          <p:cNvSpPr/>
          <p:nvPr/>
        </p:nvSpPr>
        <p:spPr>
          <a:xfrm>
            <a:off x="8870950" y="2990784"/>
            <a:ext cx="2583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기준선 0.366 · 0.412보다 높음</a:t>
            </a:r>
            <a:endParaRPr lang="en-US" sz="1200" dirty="0"/>
          </a:p>
        </p:txBody>
      </p:sp>
      <p:sp>
        <p:nvSpPr>
          <p:cNvPr id="20" name="Shape 18"/>
          <p:cNvSpPr/>
          <p:nvPr/>
        </p:nvSpPr>
        <p:spPr>
          <a:xfrm>
            <a:off x="812800" y="3671425"/>
            <a:ext cx="10566400" cy="1587500"/>
          </a:xfrm>
          <a:prstGeom prst="roundRect">
            <a:avLst>
              <a:gd name="adj" fmla="val 4800"/>
            </a:avLst>
          </a:prstGeom>
          <a:solidFill>
            <a:srgbClr val="FFFFFF"/>
          </a:solidFill>
          <a:ln/>
        </p:spPr>
      </p:sp>
      <p:pic>
        <p:nvPicPr>
          <p:cNvPr id="21" name="Image 0" descr="동일 Test 703시간 다섯 모델 비교. RMSE: LSTM+TCN 8.67, LSTM 9.17, TCN 10.07, LightGBM 10.78, XGBoost 11.53. F1: LSTM+TCN 0.527, TCN 0.506, LightGBM 0.503, XGBoost 0.481, LSTM 0.454">    </p:cNvPr>
          <p:cNvPicPr>
            <a:picLocks noChangeAspect="1"/>
          </p:cNvPicPr>
          <p:nvPr/>
        </p:nvPicPr>
        <p:blipFill>
          <a:blip r:embed="rId1"/>
          <a:stretch>
            <a:fillRect/>
          </a:stretch>
        </p:blipFill>
        <p:spPr>
          <a:xfrm>
            <a:off x="3963975" y="3671425"/>
            <a:ext cx="4264050" cy="1587500"/>
          </a:xfrm>
          <a:prstGeom prst="rect">
            <a:avLst/>
          </a:prstGeom>
        </p:spPr>
      </p:pic>
      <p:sp>
        <p:nvSpPr>
          <p:cNvPr id="22"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Test 2021-08-16 ~ 09-14 (셧다운 17시간 제외 703시간) · 9개 공통 입력 · seed 42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발표 순서</a:t>
            </a:r>
            <a:endParaRPr lang="en-US" sz="1300" dirty="0"/>
          </a:p>
        </p:txBody>
      </p:sp>
      <p:sp>
        <p:nvSpPr>
          <p:cNvPr id="3" name="Text 1"/>
          <p:cNvSpPr/>
          <p:nvPr>
            <p:ph type="title"/>
          </p:nvPr>
        </p:nvSpPr>
        <p:spPr>
          <a:xfrm>
            <a:off x="812800" y="1297915"/>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심사 기준 여섯 개 장 순서로 설명합니다</a:t>
            </a:r>
            <a:endParaRPr lang="en-US" sz="3000" dirty="0"/>
          </a:p>
        </p:txBody>
      </p:sp>
      <p:sp>
        <p:nvSpPr>
          <p:cNvPr id="4" name="Shape 2"/>
          <p:cNvSpPr/>
          <p:nvPr/>
        </p:nvSpPr>
        <p:spPr>
          <a:xfrm>
            <a:off x="815975" y="1993240"/>
            <a:ext cx="3397250" cy="1341239"/>
          </a:xfrm>
          <a:prstGeom prst="roundRect">
            <a:avLst>
              <a:gd name="adj" fmla="val 7338"/>
            </a:avLst>
          </a:prstGeom>
          <a:solidFill>
            <a:srgbClr val="FFFFFF"/>
          </a:solidFill>
          <a:ln w="6350">
            <a:solidFill>
              <a:srgbClr val="DDE2E7"/>
            </a:solidFill>
            <a:prstDash val="solid"/>
          </a:ln>
        </p:spPr>
      </p:sp>
      <p:sp>
        <p:nvSpPr>
          <p:cNvPr id="5" name="Text 3"/>
          <p:cNvSpPr/>
          <p:nvPr/>
        </p:nvSpPr>
        <p:spPr>
          <a:xfrm>
            <a:off x="1045633" y="2222897"/>
            <a:ext cx="3026071"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A78D6"/>
                </a:solidFill>
                <a:latin typeface="IBM Plex Sans KR" pitchFamily="34" charset="0"/>
                <a:ea typeface="IBM Plex Sans KR" pitchFamily="34" charset="-122"/>
                <a:cs typeface="IBM Plex Sans KR" pitchFamily="34" charset="-120"/>
              </a:rPr>
              <a:t>1장 · 15점</a:t>
            </a:r>
            <a:endParaRPr lang="en-US" sz="1300" dirty="0"/>
          </a:p>
        </p:txBody>
      </p:sp>
      <p:sp>
        <p:nvSpPr>
          <p:cNvPr id="6" name="Text 4"/>
          <p:cNvSpPr/>
          <p:nvPr/>
        </p:nvSpPr>
        <p:spPr>
          <a:xfrm>
            <a:off x="1045633" y="2530211"/>
            <a:ext cx="3026071"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02E"/>
                </a:solidFill>
                <a:latin typeface="IBM Plex Sans KR" pitchFamily="34" charset="0"/>
                <a:ea typeface="IBM Plex Sans KR" pitchFamily="34" charset="-122"/>
                <a:cs typeface="IBM Plex Sans KR" pitchFamily="34" charset="-120"/>
              </a:rPr>
              <a:t>데이터 이해 및 진단</a:t>
            </a:r>
            <a:endParaRPr lang="en-US" sz="1700" dirty="0"/>
          </a:p>
        </p:txBody>
      </p:sp>
      <p:sp>
        <p:nvSpPr>
          <p:cNvPr id="7" name="Text 5"/>
          <p:cNvSpPr/>
          <p:nvPr/>
        </p:nvSpPr>
        <p:spPr>
          <a:xfrm>
            <a:off x="1045633" y="2865438"/>
            <a:ext cx="3026071"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결측·시간 이상 정제, 조업 리듬, 검증 설계</a:t>
            </a:r>
            <a:endParaRPr lang="en-US" sz="1300" dirty="0"/>
          </a:p>
        </p:txBody>
      </p:sp>
      <p:sp>
        <p:nvSpPr>
          <p:cNvPr id="8" name="Shape 6"/>
          <p:cNvSpPr/>
          <p:nvPr/>
        </p:nvSpPr>
        <p:spPr>
          <a:xfrm>
            <a:off x="4394200" y="1990065"/>
            <a:ext cx="3403600" cy="1347589"/>
          </a:xfrm>
          <a:prstGeom prst="roundRect">
            <a:avLst>
              <a:gd name="adj" fmla="val 7539"/>
            </a:avLst>
          </a:prstGeom>
          <a:solidFill>
            <a:srgbClr val="13202E"/>
          </a:solidFill>
          <a:ln/>
        </p:spPr>
      </p:sp>
      <p:sp>
        <p:nvSpPr>
          <p:cNvPr id="9" name="Text 7"/>
          <p:cNvSpPr/>
          <p:nvPr/>
        </p:nvSpPr>
        <p:spPr>
          <a:xfrm>
            <a:off x="4622800" y="2218665"/>
            <a:ext cx="303479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FB6EC"/>
                </a:solidFill>
                <a:latin typeface="IBM Plex Sans KR" pitchFamily="34" charset="0"/>
                <a:ea typeface="IBM Plex Sans KR" pitchFamily="34" charset="-122"/>
                <a:cs typeface="IBM Plex Sans KR" pitchFamily="34" charset="-120"/>
              </a:rPr>
              <a:t>2장 · 40점</a:t>
            </a:r>
            <a:endParaRPr lang="en-US" sz="1300" dirty="0"/>
          </a:p>
        </p:txBody>
      </p:sp>
      <p:sp>
        <p:nvSpPr>
          <p:cNvPr id="10" name="Text 8"/>
          <p:cNvSpPr/>
          <p:nvPr/>
        </p:nvSpPr>
        <p:spPr>
          <a:xfrm>
            <a:off x="4622800" y="2525978"/>
            <a:ext cx="3034792"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7F4"/>
                </a:solidFill>
                <a:latin typeface="IBM Plex Sans KR" pitchFamily="34" charset="0"/>
                <a:ea typeface="IBM Plex Sans KR" pitchFamily="34" charset="-122"/>
                <a:cs typeface="IBM Plex Sans KR" pitchFamily="34" charset="-120"/>
              </a:rPr>
              <a:t>AI 예측모델 개발 및 성능평가</a:t>
            </a:r>
            <a:endParaRPr lang="en-US" sz="1700" dirty="0"/>
          </a:p>
        </p:txBody>
      </p:sp>
      <p:sp>
        <p:nvSpPr>
          <p:cNvPr id="11" name="Text 9"/>
          <p:cNvSpPr/>
          <p:nvPr/>
        </p:nvSpPr>
        <p:spPr>
          <a:xfrm>
            <a:off x="4622800" y="2861205"/>
            <a:ext cx="3034792"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FCCDA"/>
                </a:solidFill>
                <a:latin typeface="IBM Plex Sans KR" pitchFamily="34" charset="0"/>
                <a:ea typeface="IBM Plex Sans KR" pitchFamily="34" charset="-122"/>
                <a:cs typeface="IBM Plex Sans KR" pitchFamily="34" charset="-120"/>
              </a:rPr>
              <a:t>기준선, 탐색, 앙상블, 동일 Test 비교</a:t>
            </a:r>
            <a:endParaRPr lang="en-US" sz="1300" dirty="0"/>
          </a:p>
        </p:txBody>
      </p:sp>
      <p:sp>
        <p:nvSpPr>
          <p:cNvPr id="12" name="Shape 10"/>
          <p:cNvSpPr/>
          <p:nvPr/>
        </p:nvSpPr>
        <p:spPr>
          <a:xfrm>
            <a:off x="7978775" y="1993240"/>
            <a:ext cx="3397250" cy="1341239"/>
          </a:xfrm>
          <a:prstGeom prst="roundRect">
            <a:avLst>
              <a:gd name="adj" fmla="val 7338"/>
            </a:avLst>
          </a:prstGeom>
          <a:solidFill>
            <a:srgbClr val="FFFFFF"/>
          </a:solidFill>
          <a:ln w="6350">
            <a:solidFill>
              <a:srgbClr val="DDE2E7"/>
            </a:solidFill>
            <a:prstDash val="solid"/>
          </a:ln>
        </p:spPr>
      </p:sp>
      <p:sp>
        <p:nvSpPr>
          <p:cNvPr id="13" name="Text 11"/>
          <p:cNvSpPr/>
          <p:nvPr/>
        </p:nvSpPr>
        <p:spPr>
          <a:xfrm>
            <a:off x="8208434" y="2222897"/>
            <a:ext cx="3026071"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A78D6"/>
                </a:solidFill>
                <a:latin typeface="IBM Plex Sans KR" pitchFamily="34" charset="0"/>
                <a:ea typeface="IBM Plex Sans KR" pitchFamily="34" charset="-122"/>
                <a:cs typeface="IBM Plex Sans KR" pitchFamily="34" charset="-120"/>
              </a:rPr>
              <a:t>3장 · 15점</a:t>
            </a:r>
            <a:endParaRPr lang="en-US" sz="1300" dirty="0"/>
          </a:p>
        </p:txBody>
      </p:sp>
      <p:sp>
        <p:nvSpPr>
          <p:cNvPr id="14" name="Text 12"/>
          <p:cNvSpPr/>
          <p:nvPr/>
        </p:nvSpPr>
        <p:spPr>
          <a:xfrm>
            <a:off x="8208434" y="2530211"/>
            <a:ext cx="3026071"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02E"/>
                </a:solidFill>
                <a:latin typeface="IBM Plex Sans KR" pitchFamily="34" charset="0"/>
                <a:ea typeface="IBM Plex Sans KR" pitchFamily="34" charset="-122"/>
                <a:cs typeface="IBM Plex Sans KR" pitchFamily="34" charset="-120"/>
              </a:rPr>
              <a:t>영향요인 및 오류분석</a:t>
            </a:r>
            <a:endParaRPr lang="en-US" sz="1700" dirty="0"/>
          </a:p>
        </p:txBody>
      </p:sp>
      <p:sp>
        <p:nvSpPr>
          <p:cNvPr id="15" name="Text 13"/>
          <p:cNvSpPr/>
          <p:nvPr/>
        </p:nvSpPr>
        <p:spPr>
          <a:xfrm>
            <a:off x="8208434" y="2865438"/>
            <a:ext cx="3026071"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변수 영향, 생산×시간, 미탐지·오경보</a:t>
            </a:r>
            <a:endParaRPr lang="en-US" sz="1300" dirty="0"/>
          </a:p>
        </p:txBody>
      </p:sp>
      <p:sp>
        <p:nvSpPr>
          <p:cNvPr id="16" name="Shape 14"/>
          <p:cNvSpPr/>
          <p:nvPr/>
        </p:nvSpPr>
        <p:spPr>
          <a:xfrm>
            <a:off x="815975" y="3518629"/>
            <a:ext cx="3397250" cy="1341239"/>
          </a:xfrm>
          <a:prstGeom prst="roundRect">
            <a:avLst>
              <a:gd name="adj" fmla="val 7338"/>
            </a:avLst>
          </a:prstGeom>
          <a:solidFill>
            <a:srgbClr val="FFFFFF"/>
          </a:solidFill>
          <a:ln w="6350">
            <a:solidFill>
              <a:srgbClr val="DDE2E7"/>
            </a:solidFill>
            <a:prstDash val="solid"/>
          </a:ln>
        </p:spPr>
      </p:sp>
      <p:sp>
        <p:nvSpPr>
          <p:cNvPr id="17" name="Text 15"/>
          <p:cNvSpPr/>
          <p:nvPr/>
        </p:nvSpPr>
        <p:spPr>
          <a:xfrm>
            <a:off x="1045633" y="3748286"/>
            <a:ext cx="3026071"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A78D6"/>
                </a:solidFill>
                <a:latin typeface="IBM Plex Sans KR" pitchFamily="34" charset="0"/>
                <a:ea typeface="IBM Plex Sans KR" pitchFamily="34" charset="-122"/>
                <a:cs typeface="IBM Plex Sans KR" pitchFamily="34" charset="-120"/>
              </a:rPr>
              <a:t>4장 · 10점</a:t>
            </a:r>
            <a:endParaRPr lang="en-US" sz="1300" dirty="0"/>
          </a:p>
        </p:txBody>
      </p:sp>
      <p:sp>
        <p:nvSpPr>
          <p:cNvPr id="18" name="Text 16"/>
          <p:cNvSpPr/>
          <p:nvPr/>
        </p:nvSpPr>
        <p:spPr>
          <a:xfrm>
            <a:off x="1045633" y="4055601"/>
            <a:ext cx="3026071"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02E"/>
                </a:solidFill>
                <a:latin typeface="IBM Plex Sans KR" pitchFamily="34" charset="0"/>
                <a:ea typeface="IBM Plex Sans KR" pitchFamily="34" charset="-122"/>
                <a:cs typeface="IBM Plex Sans KR" pitchFamily="34" charset="-120"/>
              </a:rPr>
              <a:t>현장 활용방안</a:t>
            </a:r>
            <a:endParaRPr lang="en-US" sz="1700" dirty="0"/>
          </a:p>
        </p:txBody>
      </p:sp>
      <p:sp>
        <p:nvSpPr>
          <p:cNvPr id="19" name="Text 17"/>
          <p:cNvSpPr/>
          <p:nvPr/>
        </p:nvSpPr>
        <p:spPr>
          <a:xfrm>
            <a:off x="1045633" y="4390827"/>
            <a:ext cx="3026071"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3σ 관리한계, 관제 대시보드, 조치 순서</a:t>
            </a:r>
            <a:endParaRPr lang="en-US" sz="1300" dirty="0"/>
          </a:p>
        </p:txBody>
      </p:sp>
      <p:sp>
        <p:nvSpPr>
          <p:cNvPr id="20" name="Shape 18"/>
          <p:cNvSpPr/>
          <p:nvPr/>
        </p:nvSpPr>
        <p:spPr>
          <a:xfrm>
            <a:off x="4397375" y="3518629"/>
            <a:ext cx="3397250" cy="1341239"/>
          </a:xfrm>
          <a:prstGeom prst="roundRect">
            <a:avLst>
              <a:gd name="adj" fmla="val 7338"/>
            </a:avLst>
          </a:prstGeom>
          <a:solidFill>
            <a:srgbClr val="FFFFFF"/>
          </a:solidFill>
          <a:ln w="6350">
            <a:solidFill>
              <a:srgbClr val="DDE2E7"/>
            </a:solidFill>
            <a:prstDash val="solid"/>
          </a:ln>
        </p:spPr>
      </p:sp>
      <p:sp>
        <p:nvSpPr>
          <p:cNvPr id="21" name="Text 19"/>
          <p:cNvSpPr/>
          <p:nvPr/>
        </p:nvSpPr>
        <p:spPr>
          <a:xfrm>
            <a:off x="4627033" y="3748286"/>
            <a:ext cx="3026071"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A78D6"/>
                </a:solidFill>
                <a:latin typeface="IBM Plex Sans KR" pitchFamily="34" charset="0"/>
                <a:ea typeface="IBM Plex Sans KR" pitchFamily="34" charset="-122"/>
                <a:cs typeface="IBM Plex Sans KR" pitchFamily="34" charset="-120"/>
              </a:rPr>
              <a:t>5장 · 10점</a:t>
            </a:r>
            <a:endParaRPr lang="en-US" sz="1300" dirty="0"/>
          </a:p>
        </p:txBody>
      </p:sp>
      <p:sp>
        <p:nvSpPr>
          <p:cNvPr id="22" name="Text 20"/>
          <p:cNvSpPr/>
          <p:nvPr/>
        </p:nvSpPr>
        <p:spPr>
          <a:xfrm>
            <a:off x="4627033" y="4055601"/>
            <a:ext cx="3026071"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02E"/>
                </a:solidFill>
                <a:latin typeface="IBM Plex Sans KR" pitchFamily="34" charset="0"/>
                <a:ea typeface="IBM Plex Sans KR" pitchFamily="34" charset="-122"/>
                <a:cs typeface="IBM Plex Sans KR" pitchFamily="34" charset="-120"/>
              </a:rPr>
              <a:t>창의성 및 차별성</a:t>
            </a:r>
            <a:endParaRPr lang="en-US" sz="1700" dirty="0"/>
          </a:p>
        </p:txBody>
      </p:sp>
      <p:sp>
        <p:nvSpPr>
          <p:cNvPr id="23" name="Text 21"/>
          <p:cNvSpPr/>
          <p:nvPr/>
        </p:nvSpPr>
        <p:spPr>
          <a:xfrm>
            <a:off x="4627033" y="4390827"/>
            <a:ext cx="3026071"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장·단기 결합, 피크 맞춤 선택, 확률 경보</a:t>
            </a:r>
            <a:endParaRPr lang="en-US" sz="1300" dirty="0"/>
          </a:p>
        </p:txBody>
      </p:sp>
      <p:sp>
        <p:nvSpPr>
          <p:cNvPr id="24" name="Shape 22"/>
          <p:cNvSpPr/>
          <p:nvPr/>
        </p:nvSpPr>
        <p:spPr>
          <a:xfrm>
            <a:off x="7978775" y="3518629"/>
            <a:ext cx="3397250" cy="1341239"/>
          </a:xfrm>
          <a:prstGeom prst="roundRect">
            <a:avLst>
              <a:gd name="adj" fmla="val 7338"/>
            </a:avLst>
          </a:prstGeom>
          <a:solidFill>
            <a:srgbClr val="FFFFFF"/>
          </a:solidFill>
          <a:ln w="6350">
            <a:solidFill>
              <a:srgbClr val="DDE2E7"/>
            </a:solidFill>
            <a:prstDash val="solid"/>
          </a:ln>
        </p:spPr>
      </p:sp>
      <p:sp>
        <p:nvSpPr>
          <p:cNvPr id="25" name="Text 23"/>
          <p:cNvSpPr/>
          <p:nvPr/>
        </p:nvSpPr>
        <p:spPr>
          <a:xfrm>
            <a:off x="8208434" y="3748286"/>
            <a:ext cx="3026071"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A78D6"/>
                </a:solidFill>
                <a:latin typeface="IBM Plex Sans KR" pitchFamily="34" charset="0"/>
                <a:ea typeface="IBM Plex Sans KR" pitchFamily="34" charset="-122"/>
                <a:cs typeface="IBM Plex Sans KR" pitchFamily="34" charset="-120"/>
              </a:rPr>
              <a:t>6장 · 10점</a:t>
            </a:r>
            <a:endParaRPr lang="en-US" sz="1300" dirty="0"/>
          </a:p>
        </p:txBody>
      </p:sp>
      <p:sp>
        <p:nvSpPr>
          <p:cNvPr id="26" name="Text 24"/>
          <p:cNvSpPr/>
          <p:nvPr/>
        </p:nvSpPr>
        <p:spPr>
          <a:xfrm>
            <a:off x="8208434" y="4055601"/>
            <a:ext cx="3026071"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02E"/>
                </a:solidFill>
                <a:latin typeface="IBM Plex Sans KR" pitchFamily="34" charset="0"/>
                <a:ea typeface="IBM Plex Sans KR" pitchFamily="34" charset="-122"/>
                <a:cs typeface="IBM Plex Sans KR" pitchFamily="34" charset="-120"/>
              </a:rPr>
              <a:t>코드 구성 및 재현성</a:t>
            </a:r>
            <a:endParaRPr lang="en-US" sz="1700" dirty="0"/>
          </a:p>
        </p:txBody>
      </p:sp>
      <p:sp>
        <p:nvSpPr>
          <p:cNvPr id="27" name="Text 25"/>
          <p:cNvSpPr/>
          <p:nvPr/>
        </p:nvSpPr>
        <p:spPr>
          <a:xfrm>
            <a:off x="8208434" y="4390827"/>
            <a:ext cx="3026071"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파일 구성, 명령 한 줄 재생성</a:t>
            </a:r>
            <a:endParaRPr lang="en-US" sz="13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배점: 경진대회 결과보고서 심사 기준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1. 데이터 이해 및 진단 · 15점</a:t>
            </a:r>
            <a:endParaRPr lang="en-US" sz="1300" dirty="0"/>
          </a:p>
        </p:txBody>
      </p:sp>
      <p:sp>
        <p:nvSpPr>
          <p:cNvPr id="3" name="Text 1"/>
          <p:cNvSpPr/>
          <p:nvPr>
            <p:ph type="title"/>
          </p:nvPr>
        </p:nvSpPr>
        <p:spPr>
          <a:xfrm>
            <a:off x="812800" y="1297915"/>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2021년 1~9월, 6,168시간의 공장 전체 기록</a:t>
            </a:r>
            <a:endParaRPr lang="en-US" sz="3000" dirty="0"/>
          </a:p>
        </p:txBody>
      </p:sp>
      <p:sp>
        <p:nvSpPr>
          <p:cNvPr id="4" name="Shape 2"/>
          <p:cNvSpPr/>
          <p:nvPr/>
        </p:nvSpPr>
        <p:spPr>
          <a:xfrm>
            <a:off x="812800" y="1990065"/>
            <a:ext cx="3175000" cy="1266097"/>
          </a:xfrm>
          <a:prstGeom prst="roundRect">
            <a:avLst>
              <a:gd name="adj" fmla="val 8025"/>
            </a:avLst>
          </a:prstGeom>
          <a:solidFill>
            <a:srgbClr val="13202E"/>
          </a:solidFill>
          <a:ln/>
        </p:spPr>
      </p:sp>
      <p:sp>
        <p:nvSpPr>
          <p:cNvPr id="5" name="Text 3"/>
          <p:cNvSpPr/>
          <p:nvPr/>
        </p:nvSpPr>
        <p:spPr>
          <a:xfrm>
            <a:off x="1016000" y="2193265"/>
            <a:ext cx="285165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CDA"/>
                </a:solidFill>
                <a:latin typeface="IBM Plex Sans KR" pitchFamily="34" charset="0"/>
                <a:ea typeface="IBM Plex Sans KR" pitchFamily="34" charset="-122"/>
                <a:cs typeface="IBM Plex Sans KR" pitchFamily="34" charset="-120"/>
              </a:rPr>
              <a:t>예측 목표</a:t>
            </a:r>
            <a:endParaRPr lang="en-US" sz="1300" dirty="0"/>
          </a:p>
        </p:txBody>
      </p:sp>
      <p:sp>
        <p:nvSpPr>
          <p:cNvPr id="6" name="Text 4"/>
          <p:cNvSpPr/>
          <p:nvPr/>
        </p:nvSpPr>
        <p:spPr>
          <a:xfrm>
            <a:off x="1016000" y="2487878"/>
            <a:ext cx="2851658" cy="306057"/>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7F4"/>
                </a:solidFill>
                <a:latin typeface="IBM Plex Sans KR" pitchFamily="34" charset="0"/>
                <a:ea typeface="IBM Plex Sans KR" pitchFamily="34" charset="-122"/>
                <a:cs typeface="IBM Plex Sans KR" pitchFamily="34" charset="-120"/>
              </a:rPr>
              <a:t>다음 1시간 전력 (kW)</a:t>
            </a:r>
            <a:endParaRPr lang="en-US" sz="1700" dirty="0"/>
          </a:p>
        </p:txBody>
      </p:sp>
      <p:sp>
        <p:nvSpPr>
          <p:cNvPr id="7" name="Text 5"/>
          <p:cNvSpPr/>
          <p:nvPr/>
        </p:nvSpPr>
        <p:spPr>
          <a:xfrm>
            <a:off x="1016000" y="2832035"/>
            <a:ext cx="2851658" cy="24632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FCCDA"/>
                </a:solidFill>
                <a:latin typeface="IBM Plex Sans KR" pitchFamily="34" charset="0"/>
                <a:ea typeface="IBM Plex Sans KR" pitchFamily="34" charset="-122"/>
                <a:cs typeface="IBM Plex Sans KR" pitchFamily="34" charset="-120"/>
              </a:rPr>
              <a:t>15·30·45·60분 네 계측의 실수 평균</a:t>
            </a:r>
            <a:endParaRPr lang="en-US" sz="1200" dirty="0"/>
          </a:p>
        </p:txBody>
      </p:sp>
      <p:sp>
        <p:nvSpPr>
          <p:cNvPr id="8" name="Shape 6"/>
          <p:cNvSpPr/>
          <p:nvPr/>
        </p:nvSpPr>
        <p:spPr>
          <a:xfrm>
            <a:off x="815975" y="3386336"/>
            <a:ext cx="3168650" cy="1235207"/>
          </a:xfrm>
          <a:prstGeom prst="roundRect">
            <a:avLst>
              <a:gd name="adj" fmla="val 7968"/>
            </a:avLst>
          </a:prstGeom>
          <a:solidFill>
            <a:srgbClr val="FFFFFF"/>
          </a:solidFill>
          <a:ln w="6350">
            <a:solidFill>
              <a:srgbClr val="DDE2E7"/>
            </a:solidFill>
            <a:prstDash val="solid"/>
          </a:ln>
        </p:spPr>
      </p:sp>
      <p:sp>
        <p:nvSpPr>
          <p:cNvPr id="9" name="Text 7"/>
          <p:cNvSpPr/>
          <p:nvPr/>
        </p:nvSpPr>
        <p:spPr>
          <a:xfrm>
            <a:off x="1020233" y="3590595"/>
            <a:ext cx="284293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관측 단위</a:t>
            </a:r>
            <a:endParaRPr lang="en-US" sz="1300" dirty="0"/>
          </a:p>
        </p:txBody>
      </p:sp>
      <p:sp>
        <p:nvSpPr>
          <p:cNvPr id="10" name="Text 8"/>
          <p:cNvSpPr/>
          <p:nvPr/>
        </p:nvSpPr>
        <p:spPr>
          <a:xfrm>
            <a:off x="1020233" y="3885208"/>
            <a:ext cx="284293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02E"/>
                </a:solidFill>
                <a:latin typeface="IBM Plex Sans KR" pitchFamily="34" charset="0"/>
                <a:ea typeface="IBM Plex Sans KR" pitchFamily="34" charset="-122"/>
                <a:cs typeface="IBM Plex Sans KR" pitchFamily="34" charset="-120"/>
              </a:rPr>
              <a:t>공장 전체 · 1시간</a:t>
            </a:r>
            <a:endParaRPr lang="en-US" sz="1500" dirty="0"/>
          </a:p>
        </p:txBody>
      </p:sp>
      <p:sp>
        <p:nvSpPr>
          <p:cNvPr id="11" name="Text 9"/>
          <p:cNvSpPr/>
          <p:nvPr/>
        </p:nvSpPr>
        <p:spPr>
          <a:xfrm>
            <a:off x="1020233" y="4196358"/>
            <a:ext cx="2842937" cy="24632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생산량, 기상, 인력, 전력을 시간 키로 연결</a:t>
            </a:r>
            <a:endParaRPr lang="en-US" sz="1200" dirty="0"/>
          </a:p>
        </p:txBody>
      </p:sp>
      <p:sp>
        <p:nvSpPr>
          <p:cNvPr id="12" name="Shape 10"/>
          <p:cNvSpPr/>
          <p:nvPr/>
        </p:nvSpPr>
        <p:spPr>
          <a:xfrm>
            <a:off x="4241800" y="1990065"/>
            <a:ext cx="7137400" cy="3035300"/>
          </a:xfrm>
          <a:prstGeom prst="roundRect">
            <a:avLst>
              <a:gd name="adj" fmla="val 2510"/>
            </a:avLst>
          </a:prstGeom>
          <a:solidFill>
            <a:srgbClr val="FFFFFF"/>
          </a:solidFill>
          <a:ln/>
        </p:spPr>
      </p:sp>
      <p:pic>
        <p:nvPicPr>
          <p:cNvPr id="13" name="Image 0" descr="2021년 1~9월 일별 평균 전력과 평균 생산량. 평일 고부하와 주말 저부하가 반복되고 8월 말 공장 셧다운 구간이 표시됨">    </p:cNvPr>
          <p:cNvPicPr>
            <a:picLocks noChangeAspect="1"/>
          </p:cNvPicPr>
          <p:nvPr/>
        </p:nvPicPr>
        <p:blipFill>
          <a:blip r:embed="rId1"/>
          <a:srcRect l="-9" r="-9" t="0" b="0"/>
          <a:stretch/>
        </p:blipFill>
        <p:spPr>
          <a:xfrm>
            <a:off x="4241800" y="1990065"/>
            <a:ext cx="7137400" cy="3035300"/>
          </a:xfrm>
          <a:prstGeom prst="roundRect">
            <a:avLst>
              <a:gd name="adj" fmla="val 2510"/>
            </a:avLst>
          </a:prstGeom>
        </p:spPr>
      </p:pic>
      <p:sp>
        <p:nvSpPr>
          <p:cNvPr id="14" name="Text 11"/>
          <p:cNvSpPr/>
          <p:nvPr/>
        </p:nvSpPr>
        <p:spPr>
          <a:xfrm>
            <a:off x="4241800" y="5126965"/>
            <a:ext cx="7351522"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생산량이 낮은 날에도 전력이 이어지는 구간과 8월 말 셧다운을 구분해 해석했습니다.</a:t>
            </a:r>
            <a:endParaRPr lang="en-US" sz="13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그림 1. 일별 평균 전력과 생산량의 동시 변화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1. 데이터 이해 및 진단 · 정제</a:t>
            </a:r>
            <a:endParaRPr lang="en-US" sz="1300" dirty="0"/>
          </a:p>
        </p:txBody>
      </p:sp>
      <p:sp>
        <p:nvSpPr>
          <p:cNvPr id="3" name="Text 1"/>
          <p:cNvSpPr/>
          <p:nvPr>
            <p:ph type="title"/>
          </p:nvPr>
        </p:nvSpPr>
        <p:spPr>
          <a:xfrm>
            <a:off x="812800" y="1297915"/>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결측·시간 이상 복원, 셧다운 별도 표시</a:t>
            </a:r>
            <a:endParaRPr lang="en-US" sz="3000" dirty="0"/>
          </a:p>
        </p:txBody>
      </p:sp>
      <p:sp>
        <p:nvSpPr>
          <p:cNvPr id="4" name="Shape 2"/>
          <p:cNvSpPr/>
          <p:nvPr/>
        </p:nvSpPr>
        <p:spPr>
          <a:xfrm>
            <a:off x="812800" y="1990065"/>
            <a:ext cx="6096000" cy="2266950"/>
          </a:xfrm>
          <a:prstGeom prst="roundRect">
            <a:avLst>
              <a:gd name="adj" fmla="val 3361"/>
            </a:avLst>
          </a:prstGeom>
          <a:solidFill>
            <a:srgbClr val="FFFFFF"/>
          </a:solidFill>
          <a:ln/>
        </p:spPr>
      </p:sp>
      <p:pic>
        <p:nvPicPr>
          <p:cNvPr id="5" name="Image 0" descr="원본 결측 건수(공장인원 17, 풍속 3, 강수량 1)와 정제 후 0건, 8월 28~29일 셧다운 17시간 동안 전력 0 kW">    </p:cNvPr>
          <p:cNvPicPr>
            <a:picLocks noChangeAspect="1"/>
          </p:cNvPicPr>
          <p:nvPr/>
        </p:nvPicPr>
        <p:blipFill>
          <a:blip r:embed="rId1"/>
          <a:srcRect l="-57" r="-57" t="0" b="0"/>
          <a:stretch/>
        </p:blipFill>
        <p:spPr>
          <a:xfrm>
            <a:off x="812800" y="1990065"/>
            <a:ext cx="6096000" cy="2266950"/>
          </a:xfrm>
          <a:prstGeom prst="roundRect">
            <a:avLst>
              <a:gd name="adj" fmla="val 3361"/>
            </a:avLst>
          </a:prstGeom>
        </p:spPr>
      </p:pic>
      <p:sp>
        <p:nvSpPr>
          <p:cNvPr id="6" name="Text 3"/>
          <p:cNvSpPr/>
          <p:nvPr/>
        </p:nvSpPr>
        <p:spPr>
          <a:xfrm>
            <a:off x="812800" y="4358615"/>
            <a:ext cx="6278880"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셧다운을 뺀 무생산 2,640시간의 평균 전력은 46.4 kW. 생산 중단과 공장 셧다운은 전력 상태가 다릅니다.</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175500" y="2002765"/>
          <a:ext cx="4203700" cy="3208470"/>
        </p:xfrm>
        <a:graphic>
          <a:graphicData uri="http://schemas.openxmlformats.org/drawingml/2006/table">
            <a:tbl>
              <a:tblPr/>
              <a:tblGrid>
                <a:gridCol w="1429258"/>
                <a:gridCol w="2774442"/>
              </a:tblGrid>
              <a:tr h="359304">
                <a:tc>
                  <a:txBody>
                    <a:bodyPr/>
                    <a:lstStyle/>
                    <a:p>
                      <a:pPr indent="0" marL="0">
                        <a:lnSpc>
                          <a:spcPts val="1820"/>
                        </a:lnSpc>
                        <a:buNone/>
                      </a:pPr>
                      <a:r>
                        <a:rPr lang="en-US" sz="1300" b="1" dirty="0">
                          <a:solidFill>
                            <a:srgbClr val="1B2433"/>
                          </a:solidFill>
                          <a:latin typeface="IBM Plex Sans KR" pitchFamily="34" charset="0"/>
                          <a:ea typeface="IBM Plex Sans KR" pitchFamily="34" charset="-122"/>
                          <a:cs typeface="IBM Plex Sans KR" pitchFamily="34" charset="-120"/>
                        </a:rPr>
                        <a:t>진단</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indent="0" marL="0">
                        <a:lnSpc>
                          <a:spcPts val="1820"/>
                        </a:lnSpc>
                        <a:buNone/>
                      </a:pPr>
                      <a:r>
                        <a:rPr lang="en-US" sz="1300" b="1" dirty="0">
                          <a:solidFill>
                            <a:srgbClr val="1B2433"/>
                          </a:solidFill>
                          <a:latin typeface="IBM Plex Sans KR" pitchFamily="34" charset="0"/>
                          <a:ea typeface="IBM Plex Sans KR" pitchFamily="34" charset="-122"/>
                          <a:cs typeface="IBM Plex Sans KR" pitchFamily="34" charset="-120"/>
                        </a:rPr>
                        <a:t>처리</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r>
              <a:tr h="590418">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공장인원 결측 17건</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0으로 채움</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590418">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풍속 3건 · 강수량 1건</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시간 순서 선형보간</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590418">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시간 표기 이상 48건</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날짜·요일 연속성으로 복원, 복원 여부 기록</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중복 행·시각</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0건</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전력 목표</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네 계측값으로 실수 평균 재계산</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셧다운</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17시간 별도 표시</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bl>
          </a:graphicData>
        </a:graphic>
      </p:graphicFrame>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원본 6,168행·18열 → 정제 6,168행·22열, 결측 0건 · 그림 2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1. 데이터 이해 및 진단 · 조업 리듬</a:t>
            </a:r>
            <a:endParaRPr lang="en-US" sz="1300" dirty="0"/>
          </a:p>
        </p:txBody>
      </p:sp>
      <p:sp>
        <p:nvSpPr>
          <p:cNvPr id="3" name="Text 1"/>
          <p:cNvSpPr/>
          <p:nvPr>
            <p:ph type="title"/>
          </p:nvPr>
        </p:nvSpPr>
        <p:spPr>
          <a:xfrm>
            <a:off x="812800" y="1297915"/>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평일 낮 고부하, 12시 점심에 떨어지는 리듬</a:t>
            </a:r>
            <a:endParaRPr lang="en-US" sz="3000" dirty="0"/>
          </a:p>
        </p:txBody>
      </p:sp>
      <p:sp>
        <p:nvSpPr>
          <p:cNvPr id="4" name="Shape 2"/>
          <p:cNvSpPr/>
          <p:nvPr/>
        </p:nvSpPr>
        <p:spPr>
          <a:xfrm>
            <a:off x="812800" y="1990065"/>
            <a:ext cx="7264400" cy="2641600"/>
          </a:xfrm>
          <a:prstGeom prst="roundRect">
            <a:avLst>
              <a:gd name="adj" fmla="val 2885"/>
            </a:avLst>
          </a:prstGeom>
          <a:solidFill>
            <a:srgbClr val="FFFFFF"/>
          </a:solidFill>
          <a:ln/>
        </p:spPr>
      </p:sp>
      <p:pic>
        <p:nvPicPr>
          <p:cNvPr id="5" name="Image 0" descr="요일과 시간별 평균 전력 열지도. 평일 08~17시가 진하고 12시에 옅어지며 토·일요일은 하루 종일 낮음">    </p:cNvPr>
          <p:cNvPicPr>
            <a:picLocks noChangeAspect="1"/>
          </p:cNvPicPr>
          <p:nvPr/>
        </p:nvPicPr>
        <p:blipFill>
          <a:blip r:embed="rId1"/>
          <a:srcRect l="0" r="0" t="-25" b="-25"/>
          <a:stretch/>
        </p:blipFill>
        <p:spPr>
          <a:xfrm>
            <a:off x="812800" y="1990065"/>
            <a:ext cx="7264400" cy="2641600"/>
          </a:xfrm>
          <a:prstGeom prst="roundRect">
            <a:avLst>
              <a:gd name="adj" fmla="val 2885"/>
            </a:avLst>
          </a:prstGeom>
        </p:spPr>
      </p:pic>
      <p:sp>
        <p:nvSpPr>
          <p:cNvPr id="6" name="Shape 3"/>
          <p:cNvSpPr/>
          <p:nvPr/>
        </p:nvSpPr>
        <p:spPr>
          <a:xfrm>
            <a:off x="8334375" y="1993240"/>
            <a:ext cx="3041650" cy="1277078"/>
          </a:xfrm>
          <a:prstGeom prst="roundRect">
            <a:avLst>
              <a:gd name="adj" fmla="val 7707"/>
            </a:avLst>
          </a:prstGeom>
          <a:solidFill>
            <a:srgbClr val="FFFFFF"/>
          </a:solidFill>
          <a:ln w="6350">
            <a:solidFill>
              <a:srgbClr val="DDE2E7"/>
            </a:solidFill>
            <a:prstDash val="solid"/>
          </a:ln>
        </p:spPr>
      </p:sp>
      <p:sp>
        <p:nvSpPr>
          <p:cNvPr id="7" name="Text 4"/>
          <p:cNvSpPr/>
          <p:nvPr/>
        </p:nvSpPr>
        <p:spPr>
          <a:xfrm>
            <a:off x="8513234" y="2172097"/>
            <a:ext cx="27644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평일 11시 → 12시</a:t>
            </a:r>
            <a:endParaRPr lang="en-US" sz="1200" dirty="0"/>
          </a:p>
        </p:txBody>
      </p:sp>
      <p:sp>
        <p:nvSpPr>
          <p:cNvPr id="8" name="Text 5"/>
          <p:cNvSpPr/>
          <p:nvPr/>
        </p:nvSpPr>
        <p:spPr>
          <a:xfrm>
            <a:off x="8513234" y="2436217"/>
            <a:ext cx="276445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3202E"/>
                </a:solidFill>
                <a:latin typeface="IBM Plex Mono" pitchFamily="49" charset="0"/>
                <a:ea typeface="IBM Plex Mono" pitchFamily="49" charset="-122"/>
                <a:cs typeface="IBM Plex Mono" pitchFamily="49" charset="-120"/>
              </a:rPr>
              <a:t>151.7 → 94.4</a:t>
            </a:r>
            <a:endParaRPr lang="en-US" sz="2200" dirty="0"/>
          </a:p>
        </p:txBody>
      </p:sp>
      <p:sp>
        <p:nvSpPr>
          <p:cNvPr id="9" name="Text 6"/>
          <p:cNvSpPr/>
          <p:nvPr/>
        </p:nvSpPr>
        <p:spPr>
          <a:xfrm>
            <a:off x="8513234" y="2878138"/>
            <a:ext cx="27644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kW, 점심시간 하락</a:t>
            </a:r>
            <a:endParaRPr lang="en-US" sz="1200" dirty="0"/>
          </a:p>
        </p:txBody>
      </p:sp>
      <p:sp>
        <p:nvSpPr>
          <p:cNvPr id="10" name="Shape 7"/>
          <p:cNvSpPr/>
          <p:nvPr/>
        </p:nvSpPr>
        <p:spPr>
          <a:xfrm>
            <a:off x="8331200" y="3425893"/>
            <a:ext cx="3048000" cy="1274961"/>
          </a:xfrm>
          <a:prstGeom prst="roundRect">
            <a:avLst>
              <a:gd name="adj" fmla="val 7969"/>
            </a:avLst>
          </a:prstGeom>
          <a:solidFill>
            <a:srgbClr val="13202E"/>
          </a:solidFill>
          <a:ln/>
        </p:spPr>
      </p:sp>
      <p:sp>
        <p:nvSpPr>
          <p:cNvPr id="11" name="Text 8"/>
          <p:cNvSpPr/>
          <p:nvPr/>
        </p:nvSpPr>
        <p:spPr>
          <a:xfrm>
            <a:off x="8509000" y="3603693"/>
            <a:ext cx="27731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A"/>
                </a:solidFill>
                <a:latin typeface="IBM Plex Sans KR" pitchFamily="34" charset="0"/>
                <a:ea typeface="IBM Plex Sans KR" pitchFamily="34" charset="-122"/>
                <a:cs typeface="IBM Plex Sans KR" pitchFamily="34" charset="-120"/>
              </a:rPr>
              <a:t>전력 시차 상관</a:t>
            </a:r>
            <a:endParaRPr lang="en-US" sz="1200" dirty="0"/>
          </a:p>
        </p:txBody>
      </p:sp>
      <p:sp>
        <p:nvSpPr>
          <p:cNvPr id="12" name="Text 9"/>
          <p:cNvSpPr/>
          <p:nvPr/>
        </p:nvSpPr>
        <p:spPr>
          <a:xfrm>
            <a:off x="8509000" y="3867814"/>
            <a:ext cx="277317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7F4"/>
                </a:solidFill>
                <a:latin typeface="IBM Plex Mono" pitchFamily="49" charset="0"/>
                <a:ea typeface="IBM Plex Mono" pitchFamily="49" charset="-122"/>
                <a:cs typeface="IBM Plex Mono" pitchFamily="49" charset="-120"/>
              </a:rPr>
              <a:t>0.901 · 0.740</a:t>
            </a:r>
            <a:endParaRPr lang="en-US" sz="2200" dirty="0"/>
          </a:p>
        </p:txBody>
      </p:sp>
      <p:sp>
        <p:nvSpPr>
          <p:cNvPr id="13" name="Text 10"/>
          <p:cNvSpPr/>
          <p:nvPr/>
        </p:nvSpPr>
        <p:spPr>
          <a:xfrm>
            <a:off x="8509000" y="4309734"/>
            <a:ext cx="27731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A"/>
                </a:solidFill>
                <a:latin typeface="IBM Plex Sans KR" pitchFamily="34" charset="0"/>
                <a:ea typeface="IBM Plex Sans KR" pitchFamily="34" charset="-122"/>
                <a:cs typeface="IBM Plex Sans KR" pitchFamily="34" charset="-120"/>
              </a:rPr>
              <a:t>1시간 전 · 168시간 전</a:t>
            </a:r>
            <a:endParaRPr lang="en-US" sz="1200" dirty="0"/>
          </a:p>
        </p:txBody>
      </p:sp>
      <p:sp>
        <p:nvSpPr>
          <p:cNvPr id="14" name="Text 11"/>
          <p:cNvSpPr/>
          <p:nvPr/>
        </p:nvSpPr>
        <p:spPr>
          <a:xfrm>
            <a:off x="812800" y="4954854"/>
            <a:ext cx="10883392"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짧은 연속성과 주간 반복성이 모두 강해서 입력 길이를 24~168시간으로 비교하는 근거가 되었습니다.</a:t>
            </a:r>
            <a:endParaRPr lang="en-US" sz="13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그림 3. 요일·시간별 평균 전력 열지도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1. 데이터 이해 및 진단 · 부하 상태</a:t>
            </a:r>
            <a:endParaRPr lang="en-US" sz="1300" dirty="0"/>
          </a:p>
        </p:txBody>
      </p:sp>
      <p:sp>
        <p:nvSpPr>
          <p:cNvPr id="3" name="Text 1"/>
          <p:cNvSpPr/>
          <p:nvPr>
            <p:ph type="title"/>
          </p:nvPr>
        </p:nvSpPr>
        <p:spPr>
          <a:xfrm>
            <a:off x="812800" y="1297915"/>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무생산 대기 부하와 평일 조업 부하를 구분</a:t>
            </a:r>
            <a:endParaRPr lang="en-US" sz="3000" dirty="0"/>
          </a:p>
        </p:txBody>
      </p:sp>
      <p:sp>
        <p:nvSpPr>
          <p:cNvPr id="4" name="Shape 2"/>
          <p:cNvSpPr/>
          <p:nvPr/>
        </p:nvSpPr>
        <p:spPr>
          <a:xfrm>
            <a:off x="812800" y="1990065"/>
            <a:ext cx="5181600" cy="1885950"/>
          </a:xfrm>
          <a:prstGeom prst="roundRect">
            <a:avLst>
              <a:gd name="adj" fmla="val 4040"/>
            </a:avLst>
          </a:prstGeom>
          <a:solidFill>
            <a:srgbClr val="FFFFFF"/>
          </a:solidFill>
          <a:ln/>
        </p:spPr>
      </p:sp>
      <p:pic>
        <p:nvPicPr>
          <p:cNvPr id="5" name="Image 0" descr="생산량과 전력 산점도, 전력 분포 히스토그램. 무생산 평균 46.4 kW 기준선과 100 kW·160 kW 부근의 가동 부하 봉우리">    </p:cNvPr>
          <p:cNvPicPr>
            <a:picLocks noChangeAspect="1"/>
          </p:cNvPicPr>
          <p:nvPr/>
        </p:nvPicPr>
        <p:blipFill>
          <a:blip r:embed="rId1"/>
          <a:srcRect l="0" r="0" t="-71" b="-71"/>
          <a:stretch/>
        </p:blipFill>
        <p:spPr>
          <a:xfrm>
            <a:off x="812800" y="1990065"/>
            <a:ext cx="5181600" cy="1885950"/>
          </a:xfrm>
          <a:prstGeom prst="roundRect">
            <a:avLst>
              <a:gd name="adj" fmla="val 4040"/>
            </a:avLst>
          </a:prstGeom>
        </p:spPr>
      </p:pic>
      <p:sp>
        <p:nvSpPr>
          <p:cNvPr id="6" name="Text 3"/>
          <p:cNvSpPr/>
          <p:nvPr/>
        </p:nvSpPr>
        <p:spPr>
          <a:xfrm>
            <a:off x="812800" y="3977615"/>
            <a:ext cx="53370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KR" pitchFamily="34" charset="0"/>
                <a:ea typeface="IBM Plex Sans KR" pitchFamily="34" charset="-122"/>
                <a:cs typeface="IBM Plex Sans KR" pitchFamily="34" charset="-120"/>
              </a:rPr>
              <a:t>그림 4. 생산량과 부하 분포</a:t>
            </a:r>
            <a:endParaRPr lang="en-US" sz="1500" dirty="0"/>
          </a:p>
        </p:txBody>
      </p:sp>
      <p:sp>
        <p:nvSpPr>
          <p:cNvPr id="7" name="Text 4"/>
          <p:cNvSpPr/>
          <p:nvPr/>
        </p:nvSpPr>
        <p:spPr>
          <a:xfrm>
            <a:off x="812800" y="4307815"/>
            <a:ext cx="5384800"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생산이 없어도 대기 부하가 있고, 생산량이 많을수록 고부하 구간이 늘어납니다.</a:t>
            </a:r>
            <a:endParaRPr lang="en-US" sz="1300" dirty="0"/>
          </a:p>
        </p:txBody>
      </p:sp>
      <p:sp>
        <p:nvSpPr>
          <p:cNvPr id="8" name="Shape 5"/>
          <p:cNvSpPr/>
          <p:nvPr/>
        </p:nvSpPr>
        <p:spPr>
          <a:xfrm>
            <a:off x="6197600" y="1990065"/>
            <a:ext cx="5181600" cy="1746250"/>
          </a:xfrm>
          <a:prstGeom prst="roundRect">
            <a:avLst>
              <a:gd name="adj" fmla="val 4364"/>
            </a:avLst>
          </a:prstGeom>
          <a:solidFill>
            <a:srgbClr val="FFFFFF"/>
          </a:solidFill>
          <a:ln/>
        </p:spPr>
      </p:sp>
      <p:pic>
        <p:nvPicPr>
          <p:cNvPr id="9" name="Image 1" descr="평일과 주말의 시간별 평균 전력. 평일은 08~11시 150 kW 안팎, 12시 하락, 주말은 40~60 kW. 피크 기준 177 kW 점선">    </p:cNvPr>
          <p:cNvPicPr>
            <a:picLocks noChangeAspect="1"/>
          </p:cNvPicPr>
          <p:nvPr/>
        </p:nvPicPr>
        <p:blipFill>
          <a:blip r:embed="rId2"/>
          <a:srcRect l="0" r="0" t="-11" b="-11"/>
          <a:stretch/>
        </p:blipFill>
        <p:spPr>
          <a:xfrm>
            <a:off x="6197600" y="1990065"/>
            <a:ext cx="5181600" cy="1746250"/>
          </a:xfrm>
          <a:prstGeom prst="roundRect">
            <a:avLst>
              <a:gd name="adj" fmla="val 4364"/>
            </a:avLst>
          </a:prstGeom>
        </p:spPr>
      </p:pic>
      <p:sp>
        <p:nvSpPr>
          <p:cNvPr id="10" name="Text 6"/>
          <p:cNvSpPr/>
          <p:nvPr/>
        </p:nvSpPr>
        <p:spPr>
          <a:xfrm>
            <a:off x="6197600" y="3837915"/>
            <a:ext cx="53370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KR" pitchFamily="34" charset="0"/>
                <a:ea typeface="IBM Plex Sans KR" pitchFamily="34" charset="-122"/>
                <a:cs typeface="IBM Plex Sans KR" pitchFamily="34" charset="-120"/>
              </a:rPr>
              <a:t>그림 5. 평일과 주말의 시간별 패턴</a:t>
            </a:r>
            <a:endParaRPr lang="en-US" sz="1500" dirty="0"/>
          </a:p>
        </p:txBody>
      </p:sp>
      <p:sp>
        <p:nvSpPr>
          <p:cNvPr id="11" name="Text 7"/>
          <p:cNvSpPr/>
          <p:nvPr/>
        </p:nvSpPr>
        <p:spPr>
          <a:xfrm>
            <a:off x="6197600" y="4168115"/>
            <a:ext cx="5994400"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평일 평균도 177 kW 아래라서, 피크는 평소보다 부하가 몰린 드문 시간입니다.</a:t>
            </a:r>
            <a:endParaRPr lang="en-US" sz="1300" dirty="0"/>
          </a:p>
        </p:txBody>
      </p:sp>
      <p:sp>
        <p:nvSpPr>
          <p:cNvPr id="12"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점선: 피크 기준 177 kW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1. 데이터 이해 및 진단 · 입력과 피크</a:t>
            </a:r>
            <a:endParaRPr lang="en-US" sz="1300" dirty="0"/>
          </a:p>
        </p:txBody>
      </p:sp>
      <p:sp>
        <p:nvSpPr>
          <p:cNvPr id="3" name="Text 1"/>
          <p:cNvSpPr/>
          <p:nvPr>
            <p:ph type="title"/>
          </p:nvPr>
        </p:nvSpPr>
        <p:spPr>
          <a:xfrm>
            <a:off x="812800" y="1297915"/>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9개 공통 입력, 피크는 703시간 중 49시간</a:t>
            </a:r>
            <a:endParaRPr lang="en-US" sz="3000" dirty="0"/>
          </a:p>
        </p:txBody>
      </p:sp>
      <p:sp>
        <p:nvSpPr>
          <p:cNvPr id="4" name="Shape 2"/>
          <p:cNvSpPr/>
          <p:nvPr/>
        </p:nvSpPr>
        <p:spPr>
          <a:xfrm>
            <a:off x="815975" y="1993240"/>
            <a:ext cx="3295650" cy="1243211"/>
          </a:xfrm>
          <a:prstGeom prst="roundRect">
            <a:avLst>
              <a:gd name="adj" fmla="val 7917"/>
            </a:avLst>
          </a:prstGeom>
          <a:solidFill>
            <a:srgbClr val="FFFFFF"/>
          </a:solidFill>
          <a:ln w="6350">
            <a:solidFill>
              <a:srgbClr val="DDE2E7"/>
            </a:solidFill>
            <a:prstDash val="solid"/>
          </a:ln>
        </p:spPr>
      </p:sp>
      <p:sp>
        <p:nvSpPr>
          <p:cNvPr id="5" name="Text 3"/>
          <p:cNvSpPr/>
          <p:nvPr/>
        </p:nvSpPr>
        <p:spPr>
          <a:xfrm>
            <a:off x="1020233" y="2197497"/>
            <a:ext cx="297374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KR" pitchFamily="34" charset="0"/>
                <a:ea typeface="IBM Plex Sans KR" pitchFamily="34" charset="-122"/>
                <a:cs typeface="IBM Plex Sans KR" pitchFamily="34" charset="-120"/>
              </a:rPr>
              <a:t>과거 전력</a:t>
            </a:r>
            <a:endParaRPr lang="en-US" sz="1500" dirty="0"/>
          </a:p>
        </p:txBody>
      </p:sp>
      <p:sp>
        <p:nvSpPr>
          <p:cNvPr id="6" name="Text 4"/>
          <p:cNvSpPr/>
          <p:nvPr/>
        </p:nvSpPr>
        <p:spPr>
          <a:xfrm>
            <a:off x="1020233" y="2489597"/>
            <a:ext cx="2973747"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전력_평균_실수</a:t>
            </a:r>
            <a:endParaRPr lang="en-US" sz="1200" dirty="0"/>
          </a:p>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설비 부하의 연속성</a:t>
            </a:r>
            <a:endParaRPr lang="en-US" sz="1200" dirty="0"/>
          </a:p>
        </p:txBody>
      </p:sp>
      <p:sp>
        <p:nvSpPr>
          <p:cNvPr id="7" name="Shape 5"/>
          <p:cNvSpPr/>
          <p:nvPr/>
        </p:nvSpPr>
        <p:spPr>
          <a:xfrm>
            <a:off x="4270375" y="1993240"/>
            <a:ext cx="3295650" cy="1243211"/>
          </a:xfrm>
          <a:prstGeom prst="roundRect">
            <a:avLst>
              <a:gd name="adj" fmla="val 7917"/>
            </a:avLst>
          </a:prstGeom>
          <a:solidFill>
            <a:srgbClr val="FFFFFF"/>
          </a:solidFill>
          <a:ln w="6350">
            <a:solidFill>
              <a:srgbClr val="DDE2E7"/>
            </a:solidFill>
            <a:prstDash val="solid"/>
          </a:ln>
        </p:spPr>
      </p:sp>
      <p:sp>
        <p:nvSpPr>
          <p:cNvPr id="8" name="Text 6"/>
          <p:cNvSpPr/>
          <p:nvPr/>
        </p:nvSpPr>
        <p:spPr>
          <a:xfrm>
            <a:off x="4474633" y="2197497"/>
            <a:ext cx="297374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KR" pitchFamily="34" charset="0"/>
                <a:ea typeface="IBM Plex Sans KR" pitchFamily="34" charset="-122"/>
                <a:cs typeface="IBM Plex Sans KR" pitchFamily="34" charset="-120"/>
              </a:rPr>
              <a:t>생산량</a:t>
            </a:r>
            <a:endParaRPr lang="en-US" sz="1500" dirty="0"/>
          </a:p>
        </p:txBody>
      </p:sp>
      <p:sp>
        <p:nvSpPr>
          <p:cNvPr id="9" name="Text 7"/>
          <p:cNvSpPr/>
          <p:nvPr/>
        </p:nvSpPr>
        <p:spPr>
          <a:xfrm>
            <a:off x="4474633" y="2489597"/>
            <a:ext cx="2973747"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생산량</a:t>
            </a:r>
            <a:endParaRPr lang="en-US" sz="1200" dirty="0"/>
          </a:p>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작업 강도</a:t>
            </a:r>
            <a:endParaRPr lang="en-US" sz="1200" dirty="0"/>
          </a:p>
        </p:txBody>
      </p:sp>
      <p:sp>
        <p:nvSpPr>
          <p:cNvPr id="10" name="Shape 8"/>
          <p:cNvSpPr/>
          <p:nvPr/>
        </p:nvSpPr>
        <p:spPr>
          <a:xfrm>
            <a:off x="815975" y="3395201"/>
            <a:ext cx="3295650" cy="1243277"/>
          </a:xfrm>
          <a:prstGeom prst="roundRect">
            <a:avLst>
              <a:gd name="adj" fmla="val 7917"/>
            </a:avLst>
          </a:prstGeom>
          <a:solidFill>
            <a:srgbClr val="FFFFFF"/>
          </a:solidFill>
          <a:ln w="6350">
            <a:solidFill>
              <a:srgbClr val="DDE2E7"/>
            </a:solidFill>
            <a:prstDash val="solid"/>
          </a:ln>
        </p:spPr>
      </p:sp>
      <p:sp>
        <p:nvSpPr>
          <p:cNvPr id="11" name="Text 9"/>
          <p:cNvSpPr/>
          <p:nvPr/>
        </p:nvSpPr>
        <p:spPr>
          <a:xfrm>
            <a:off x="1020233" y="3599458"/>
            <a:ext cx="297374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KR" pitchFamily="34" charset="0"/>
                <a:ea typeface="IBM Plex Sans KR" pitchFamily="34" charset="-122"/>
                <a:cs typeface="IBM Plex Sans KR" pitchFamily="34" charset="-120"/>
              </a:rPr>
              <a:t>기상 4종</a:t>
            </a:r>
            <a:endParaRPr lang="en-US" sz="1500" dirty="0"/>
          </a:p>
        </p:txBody>
      </p:sp>
      <p:sp>
        <p:nvSpPr>
          <p:cNvPr id="12" name="Text 10"/>
          <p:cNvSpPr/>
          <p:nvPr/>
        </p:nvSpPr>
        <p:spPr>
          <a:xfrm>
            <a:off x="1020233" y="3891558"/>
            <a:ext cx="2973747"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기온 · 풍속 · 습도 · 강수량</a:t>
            </a:r>
            <a:endParaRPr lang="en-US" sz="1200" dirty="0"/>
          </a:p>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외부 조건</a:t>
            </a:r>
            <a:endParaRPr lang="en-US" sz="1200" dirty="0"/>
          </a:p>
        </p:txBody>
      </p:sp>
      <p:sp>
        <p:nvSpPr>
          <p:cNvPr id="13" name="Shape 11"/>
          <p:cNvSpPr/>
          <p:nvPr/>
        </p:nvSpPr>
        <p:spPr>
          <a:xfrm>
            <a:off x="4270375" y="3395201"/>
            <a:ext cx="3295650" cy="1243277"/>
          </a:xfrm>
          <a:prstGeom prst="roundRect">
            <a:avLst>
              <a:gd name="adj" fmla="val 7917"/>
            </a:avLst>
          </a:prstGeom>
          <a:solidFill>
            <a:srgbClr val="FFFFFF"/>
          </a:solidFill>
          <a:ln w="6350">
            <a:solidFill>
              <a:srgbClr val="DDE2E7"/>
            </a:solidFill>
            <a:prstDash val="solid"/>
          </a:ln>
        </p:spPr>
      </p:sp>
      <p:sp>
        <p:nvSpPr>
          <p:cNvPr id="14" name="Text 12"/>
          <p:cNvSpPr/>
          <p:nvPr/>
        </p:nvSpPr>
        <p:spPr>
          <a:xfrm>
            <a:off x="4474633" y="3599458"/>
            <a:ext cx="297374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KR" pitchFamily="34" charset="0"/>
                <a:ea typeface="IBM Plex Sans KR" pitchFamily="34" charset="-122"/>
                <a:cs typeface="IBM Plex Sans KR" pitchFamily="34" charset="-120"/>
              </a:rPr>
              <a:t>조업 일정 3종</a:t>
            </a:r>
            <a:endParaRPr lang="en-US" sz="1500" dirty="0"/>
          </a:p>
        </p:txBody>
      </p:sp>
      <p:sp>
        <p:nvSpPr>
          <p:cNvPr id="15" name="Text 13"/>
          <p:cNvSpPr/>
          <p:nvPr/>
        </p:nvSpPr>
        <p:spPr>
          <a:xfrm>
            <a:off x="4474633" y="3891558"/>
            <a:ext cx="2973747"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시간_sin · 시간_cos · 주말여부</a:t>
            </a:r>
            <a:endParaRPr lang="en-US" sz="1200" dirty="0"/>
          </a:p>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날짜·시간에서 같은 규칙으로 생성</a:t>
            </a:r>
            <a:endParaRPr lang="en-US" sz="1200" dirty="0"/>
          </a:p>
        </p:txBody>
      </p:sp>
      <p:sp>
        <p:nvSpPr>
          <p:cNvPr id="16" name="Shape 14"/>
          <p:cNvSpPr/>
          <p:nvPr/>
        </p:nvSpPr>
        <p:spPr>
          <a:xfrm>
            <a:off x="7823200" y="1990065"/>
            <a:ext cx="3556000" cy="2651588"/>
          </a:xfrm>
          <a:prstGeom prst="roundRect">
            <a:avLst>
              <a:gd name="adj" fmla="val 3832"/>
            </a:avLst>
          </a:prstGeom>
          <a:solidFill>
            <a:srgbClr val="13202E"/>
          </a:solidFill>
          <a:ln/>
        </p:spPr>
      </p:sp>
      <p:sp>
        <p:nvSpPr>
          <p:cNvPr id="17" name="Text 15"/>
          <p:cNvSpPr/>
          <p:nvPr/>
        </p:nvSpPr>
        <p:spPr>
          <a:xfrm>
            <a:off x="8077200" y="2244065"/>
            <a:ext cx="313944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CDA"/>
                </a:solidFill>
                <a:latin typeface="IBM Plex Sans KR" pitchFamily="34" charset="0"/>
                <a:ea typeface="IBM Plex Sans KR" pitchFamily="34" charset="-122"/>
                <a:cs typeface="IBM Plex Sans KR" pitchFamily="34" charset="-120"/>
              </a:rPr>
              <a:t>피크 기준</a:t>
            </a:r>
            <a:endParaRPr lang="en-US" sz="1300" dirty="0"/>
          </a:p>
        </p:txBody>
      </p:sp>
      <p:sp>
        <p:nvSpPr>
          <p:cNvPr id="18" name="Text 16"/>
          <p:cNvSpPr/>
          <p:nvPr/>
        </p:nvSpPr>
        <p:spPr>
          <a:xfrm>
            <a:off x="8077200" y="2576779"/>
            <a:ext cx="3139440"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F6F7F4"/>
                </a:solidFill>
                <a:latin typeface="IBM Plex Mono" pitchFamily="49" charset="0"/>
                <a:ea typeface="IBM Plex Mono" pitchFamily="49" charset="-122"/>
                <a:cs typeface="IBM Plex Mono" pitchFamily="49" charset="-120"/>
              </a:rPr>
              <a:t>177 kW</a:t>
            </a:r>
            <a:endParaRPr lang="en-US" sz="4000" dirty="0"/>
          </a:p>
        </p:txBody>
      </p:sp>
      <p:sp>
        <p:nvSpPr>
          <p:cNvPr id="19" name="Text 17"/>
          <p:cNvSpPr/>
          <p:nvPr/>
        </p:nvSpPr>
        <p:spPr>
          <a:xfrm>
            <a:off x="8077200" y="3237179"/>
            <a:ext cx="3139440" cy="24632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FCCDA"/>
                </a:solidFill>
                <a:latin typeface="IBM Plex Sans KR" pitchFamily="34" charset="0"/>
                <a:ea typeface="IBM Plex Sans KR" pitchFamily="34" charset="-122"/>
                <a:cs typeface="IBM Plex Sans KR" pitchFamily="34" charset="-120"/>
              </a:rPr>
              <a:t>Test 이전 기간 전력의 상위 5%로 고정</a:t>
            </a:r>
            <a:endParaRPr lang="en-US" sz="1200" dirty="0"/>
          </a:p>
        </p:txBody>
      </p:sp>
      <p:sp>
        <p:nvSpPr>
          <p:cNvPr id="20" name="Shape 18"/>
          <p:cNvSpPr/>
          <p:nvPr/>
        </p:nvSpPr>
        <p:spPr>
          <a:xfrm>
            <a:off x="8077200" y="3559705"/>
            <a:ext cx="3048000" cy="12700"/>
          </a:xfrm>
          <a:prstGeom prst="rect">
            <a:avLst/>
          </a:prstGeom>
          <a:solidFill>
            <a:srgbClr val="2E4157"/>
          </a:solidFill>
          <a:ln/>
        </p:spPr>
      </p:sp>
      <p:sp>
        <p:nvSpPr>
          <p:cNvPr id="21" name="Text 19"/>
          <p:cNvSpPr/>
          <p:nvPr/>
        </p:nvSpPr>
        <p:spPr>
          <a:xfrm>
            <a:off x="8077200" y="3674005"/>
            <a:ext cx="313944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0A07A"/>
                </a:solidFill>
                <a:latin typeface="IBM Plex Mono" pitchFamily="49" charset="0"/>
                <a:ea typeface="IBM Plex Mono" pitchFamily="49" charset="-122"/>
                <a:cs typeface="IBM Plex Mono" pitchFamily="49" charset="-120"/>
              </a:rPr>
              <a:t>49 / 703</a:t>
            </a:r>
            <a:endParaRPr lang="en-US" sz="2800" dirty="0"/>
          </a:p>
        </p:txBody>
      </p:sp>
      <p:sp>
        <p:nvSpPr>
          <p:cNvPr id="22" name="Text 20"/>
          <p:cNvSpPr/>
          <p:nvPr/>
        </p:nvSpPr>
        <p:spPr>
          <a:xfrm>
            <a:off x="8077200" y="4166729"/>
            <a:ext cx="3139440" cy="24632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FCCDA"/>
                </a:solidFill>
                <a:latin typeface="IBM Plex Sans KR" pitchFamily="34" charset="0"/>
                <a:ea typeface="IBM Plex Sans KR" pitchFamily="34" charset="-122"/>
                <a:cs typeface="IBM Plex Sans KR" pitchFamily="34" charset="-120"/>
              </a:rPr>
              <a:t>Test 피크 7.0%, 드문 사례</a:t>
            </a:r>
            <a:endParaRPr lang="en-US" sz="1200" dirty="0"/>
          </a:p>
        </p:txBody>
      </p:sp>
      <p:sp>
        <p:nvSpPr>
          <p:cNvPr id="23" name="Text 21"/>
          <p:cNvSpPr/>
          <p:nvPr/>
        </p:nvSpPr>
        <p:spPr>
          <a:xfrm>
            <a:off x="812800" y="4895652"/>
            <a:ext cx="10883392"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피크가 드물어서 전체 전력 오차(RMSE)와 함께 피크 F1 · 재현율 · 오경보를 따로 평가했습니다.</a:t>
            </a:r>
            <a:endParaRPr lang="en-US" sz="1300" dirty="0"/>
          </a:p>
        </p:txBody>
      </p:sp>
      <p:sp>
        <p:nvSpPr>
          <p:cNvPr id="24"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다섯 모델 모두 같은 변수 정의와 같은 시각 경계를 사용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1. 데이터 이해 및 진단 · 검증 설계</a:t>
            </a:r>
            <a:endParaRPr lang="en-US" sz="1300" dirty="0"/>
          </a:p>
        </p:txBody>
      </p:sp>
      <p:sp>
        <p:nvSpPr>
          <p:cNvPr id="3" name="Text 1"/>
          <p:cNvSpPr/>
          <p:nvPr>
            <p:ph type="title"/>
          </p:nvPr>
        </p:nvSpPr>
        <p:spPr>
          <a:xfrm>
            <a:off x="812800" y="1297918"/>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시간 순서를 지킨 확장형 3-fold와 고정 Test</a:t>
            </a:r>
            <a:endParaRPr lang="en-US" sz="3000" dirty="0"/>
          </a:p>
        </p:txBody>
      </p:sp>
      <p:sp>
        <p:nvSpPr>
          <p:cNvPr id="4" name="Text 2"/>
          <p:cNvSpPr/>
          <p:nvPr/>
        </p:nvSpPr>
        <p:spPr>
          <a:xfrm>
            <a:off x="812800" y="2052309"/>
            <a:ext cx="11938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E"/>
                </a:solidFill>
                <a:latin typeface="IBM Plex Sans KR" pitchFamily="34" charset="0"/>
                <a:ea typeface="IBM Plex Sans KR" pitchFamily="34" charset="-122"/>
                <a:cs typeface="IBM Plex Sans KR" pitchFamily="34" charset="-120"/>
              </a:rPr>
              <a:t>fold 1</a:t>
            </a:r>
            <a:endParaRPr lang="en-US" sz="1300" dirty="0"/>
          </a:p>
        </p:txBody>
      </p:sp>
      <p:sp>
        <p:nvSpPr>
          <p:cNvPr id="5" name="Text 3"/>
          <p:cNvSpPr/>
          <p:nvPr/>
        </p:nvSpPr>
        <p:spPr>
          <a:xfrm>
            <a:off x="2082800" y="1990068"/>
            <a:ext cx="4056261" cy="355600"/>
          </a:xfrm>
          <a:prstGeom prst="rect">
            <a:avLst/>
          </a:prstGeom>
          <a:solidFill>
            <a:srgbClr val="CFE0F5"/>
          </a:solidFill>
          <a:ln/>
        </p:spPr>
        <p:txBody>
          <a:bodyPr wrap="square" lIns="101600" tIns="0" rIns="101600" bIns="0" rtlCol="0" anchor="ctr">
            <a:normAutofit/>
          </a:bodyPr>
          <a:lstStyle/>
          <a:p>
            <a:pPr algn="l" indent="0" marL="0">
              <a:lnSpc>
                <a:spcPts val="1680"/>
              </a:lnSpc>
              <a:buNone/>
            </a:pPr>
            <a:r>
              <a:rPr lang="en-US" sz="1200" dirty="0">
                <a:solidFill>
                  <a:srgbClr val="1F4E86"/>
                </a:solidFill>
                <a:latin typeface="IBM Plex Sans KR" pitchFamily="34" charset="0"/>
                <a:ea typeface="IBM Plex Sans KR" pitchFamily="34" charset="-122"/>
                <a:cs typeface="IBM Plex Sans KR" pitchFamily="34" charset="-120"/>
              </a:rPr>
              <a:t>학습 1/1~5/1</a:t>
            </a:r>
            <a:endParaRPr lang="en-US" sz="1200" dirty="0"/>
          </a:p>
        </p:txBody>
      </p:sp>
      <p:sp>
        <p:nvSpPr>
          <p:cNvPr id="6" name="Shape 4"/>
          <p:cNvSpPr/>
          <p:nvPr/>
        </p:nvSpPr>
        <p:spPr>
          <a:xfrm>
            <a:off x="6139061" y="1990068"/>
            <a:ext cx="539419" cy="355600"/>
          </a:xfrm>
          <a:prstGeom prst="rect">
            <a:avLst/>
          </a:prstGeom>
          <a:solidFill>
            <a:srgbClr val="A9B3BE"/>
          </a:solidFill>
          <a:ln/>
        </p:spPr>
      </p:sp>
      <p:sp>
        <p:nvSpPr>
          <p:cNvPr id="7" name="Shape 5"/>
          <p:cNvSpPr/>
          <p:nvPr/>
        </p:nvSpPr>
        <p:spPr>
          <a:xfrm>
            <a:off x="6678481" y="1990068"/>
            <a:ext cx="1194461" cy="355600"/>
          </a:xfrm>
          <a:prstGeom prst="rect">
            <a:avLst/>
          </a:prstGeom>
          <a:solidFill>
            <a:srgbClr val="2A78D6"/>
          </a:solidFill>
          <a:ln/>
        </p:spPr>
      </p:sp>
      <p:sp>
        <p:nvSpPr>
          <p:cNvPr id="8" name="Text 6"/>
          <p:cNvSpPr/>
          <p:nvPr/>
        </p:nvSpPr>
        <p:spPr>
          <a:xfrm>
            <a:off x="812800" y="2522209"/>
            <a:ext cx="11938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E"/>
                </a:solidFill>
                <a:latin typeface="IBM Plex Sans KR" pitchFamily="34" charset="0"/>
                <a:ea typeface="IBM Plex Sans KR" pitchFamily="34" charset="-122"/>
                <a:cs typeface="IBM Plex Sans KR" pitchFamily="34" charset="-120"/>
              </a:rPr>
              <a:t>fold 2</a:t>
            </a:r>
            <a:endParaRPr lang="en-US" sz="1300" dirty="0"/>
          </a:p>
        </p:txBody>
      </p:sp>
      <p:sp>
        <p:nvSpPr>
          <p:cNvPr id="9" name="Text 7"/>
          <p:cNvSpPr/>
          <p:nvPr/>
        </p:nvSpPr>
        <p:spPr>
          <a:xfrm>
            <a:off x="2082800" y="2459968"/>
            <a:ext cx="4638940" cy="355600"/>
          </a:xfrm>
          <a:prstGeom prst="rect">
            <a:avLst/>
          </a:prstGeom>
          <a:solidFill>
            <a:srgbClr val="CFE0F5"/>
          </a:solidFill>
          <a:ln/>
        </p:spPr>
        <p:txBody>
          <a:bodyPr wrap="square" lIns="101600" tIns="0" rIns="101600" bIns="0" rtlCol="0" anchor="ctr">
            <a:normAutofit/>
          </a:bodyPr>
          <a:lstStyle/>
          <a:p>
            <a:pPr algn="l" indent="0" marL="0">
              <a:lnSpc>
                <a:spcPts val="1680"/>
              </a:lnSpc>
              <a:buNone/>
            </a:pPr>
            <a:r>
              <a:rPr lang="en-US" sz="1200" dirty="0">
                <a:solidFill>
                  <a:srgbClr val="1F4E86"/>
                </a:solidFill>
                <a:latin typeface="IBM Plex Sans KR" pitchFamily="34" charset="0"/>
                <a:ea typeface="IBM Plex Sans KR" pitchFamily="34" charset="-122"/>
                <a:cs typeface="IBM Plex Sans KR" pitchFamily="34" charset="-120"/>
              </a:rPr>
              <a:t>학습 1/1~6/1</a:t>
            </a:r>
            <a:endParaRPr lang="en-US" sz="1200" dirty="0"/>
          </a:p>
        </p:txBody>
      </p:sp>
      <p:sp>
        <p:nvSpPr>
          <p:cNvPr id="10" name="Shape 8"/>
          <p:cNvSpPr/>
          <p:nvPr/>
        </p:nvSpPr>
        <p:spPr>
          <a:xfrm>
            <a:off x="6721740" y="2459968"/>
            <a:ext cx="620977" cy="355600"/>
          </a:xfrm>
          <a:prstGeom prst="rect">
            <a:avLst/>
          </a:prstGeom>
          <a:solidFill>
            <a:srgbClr val="A9B3BE"/>
          </a:solidFill>
          <a:ln/>
        </p:spPr>
      </p:sp>
      <p:sp>
        <p:nvSpPr>
          <p:cNvPr id="11" name="Shape 9"/>
          <p:cNvSpPr/>
          <p:nvPr/>
        </p:nvSpPr>
        <p:spPr>
          <a:xfrm>
            <a:off x="7342717" y="2459968"/>
            <a:ext cx="1330722" cy="355600"/>
          </a:xfrm>
          <a:prstGeom prst="rect">
            <a:avLst/>
          </a:prstGeom>
          <a:solidFill>
            <a:srgbClr val="2A78D6"/>
          </a:solidFill>
          <a:ln/>
        </p:spPr>
      </p:sp>
      <p:sp>
        <p:nvSpPr>
          <p:cNvPr id="12" name="Text 10"/>
          <p:cNvSpPr/>
          <p:nvPr/>
        </p:nvSpPr>
        <p:spPr>
          <a:xfrm>
            <a:off x="812800" y="2992109"/>
            <a:ext cx="11938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E"/>
                </a:solidFill>
                <a:latin typeface="IBM Plex Sans KR" pitchFamily="34" charset="0"/>
                <a:ea typeface="IBM Plex Sans KR" pitchFamily="34" charset="-122"/>
                <a:cs typeface="IBM Plex Sans KR" pitchFamily="34" charset="-120"/>
              </a:rPr>
              <a:t>fold 3</a:t>
            </a:r>
            <a:endParaRPr lang="en-US" sz="1300" dirty="0"/>
          </a:p>
        </p:txBody>
      </p:sp>
      <p:sp>
        <p:nvSpPr>
          <p:cNvPr id="13" name="Text 11"/>
          <p:cNvSpPr/>
          <p:nvPr/>
        </p:nvSpPr>
        <p:spPr>
          <a:xfrm>
            <a:off x="2082800" y="2929868"/>
            <a:ext cx="5399286" cy="355600"/>
          </a:xfrm>
          <a:prstGeom prst="rect">
            <a:avLst/>
          </a:prstGeom>
          <a:solidFill>
            <a:srgbClr val="CFE0F5"/>
          </a:solidFill>
          <a:ln/>
        </p:spPr>
        <p:txBody>
          <a:bodyPr wrap="square" lIns="101600" tIns="0" rIns="101600" bIns="0" rtlCol="0" anchor="ctr">
            <a:normAutofit/>
          </a:bodyPr>
          <a:lstStyle/>
          <a:p>
            <a:pPr algn="l" indent="0" marL="0">
              <a:lnSpc>
                <a:spcPts val="1680"/>
              </a:lnSpc>
              <a:buNone/>
            </a:pPr>
            <a:r>
              <a:rPr lang="en-US" sz="1200" dirty="0">
                <a:solidFill>
                  <a:srgbClr val="1F4E86"/>
                </a:solidFill>
                <a:latin typeface="IBM Plex Sans KR" pitchFamily="34" charset="0"/>
                <a:ea typeface="IBM Plex Sans KR" pitchFamily="34" charset="-122"/>
                <a:cs typeface="IBM Plex Sans KR" pitchFamily="34" charset="-120"/>
              </a:rPr>
              <a:t>학습 1/1~7/1</a:t>
            </a:r>
            <a:endParaRPr lang="en-US" sz="1200" dirty="0"/>
          </a:p>
        </p:txBody>
      </p:sp>
      <p:sp>
        <p:nvSpPr>
          <p:cNvPr id="14" name="Shape 12"/>
          <p:cNvSpPr/>
          <p:nvPr/>
        </p:nvSpPr>
        <p:spPr>
          <a:xfrm>
            <a:off x="7482086" y="2929868"/>
            <a:ext cx="727472" cy="355600"/>
          </a:xfrm>
          <a:prstGeom prst="rect">
            <a:avLst/>
          </a:prstGeom>
          <a:solidFill>
            <a:srgbClr val="A9B3BE"/>
          </a:solidFill>
          <a:ln/>
        </p:spPr>
      </p:sp>
      <p:sp>
        <p:nvSpPr>
          <p:cNvPr id="15" name="Shape 13"/>
          <p:cNvSpPr/>
          <p:nvPr/>
        </p:nvSpPr>
        <p:spPr>
          <a:xfrm>
            <a:off x="8209558" y="2929868"/>
            <a:ext cx="1610783" cy="355600"/>
          </a:xfrm>
          <a:prstGeom prst="rect">
            <a:avLst/>
          </a:prstGeom>
          <a:solidFill>
            <a:srgbClr val="2A78D6"/>
          </a:solidFill>
          <a:ln/>
        </p:spPr>
      </p:sp>
      <p:sp>
        <p:nvSpPr>
          <p:cNvPr id="16" name="Text 14"/>
          <p:cNvSpPr/>
          <p:nvPr/>
        </p:nvSpPr>
        <p:spPr>
          <a:xfrm>
            <a:off x="812800" y="3462009"/>
            <a:ext cx="11938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2571A"/>
                </a:solidFill>
                <a:latin typeface="IBM Plex Sans KR" pitchFamily="34" charset="0"/>
                <a:ea typeface="IBM Plex Sans KR" pitchFamily="34" charset="-122"/>
                <a:cs typeface="IBM Plex Sans KR" pitchFamily="34" charset="-120"/>
              </a:rPr>
              <a:t>최종 Test</a:t>
            </a:r>
            <a:endParaRPr lang="en-US" sz="1300" dirty="0"/>
          </a:p>
        </p:txBody>
      </p:sp>
      <p:sp>
        <p:nvSpPr>
          <p:cNvPr id="17" name="Text 15"/>
          <p:cNvSpPr/>
          <p:nvPr/>
        </p:nvSpPr>
        <p:spPr>
          <a:xfrm>
            <a:off x="2082800" y="3399768"/>
            <a:ext cx="6517945" cy="355600"/>
          </a:xfrm>
          <a:prstGeom prst="rect">
            <a:avLst/>
          </a:prstGeom>
          <a:solidFill>
            <a:srgbClr val="CFE0F5"/>
          </a:solidFill>
          <a:ln/>
        </p:spPr>
        <p:txBody>
          <a:bodyPr wrap="square" lIns="101600" tIns="0" rIns="101600" bIns="0" rtlCol="0" anchor="ctr">
            <a:normAutofit/>
          </a:bodyPr>
          <a:lstStyle/>
          <a:p>
            <a:pPr algn="l" indent="0" marL="0">
              <a:lnSpc>
                <a:spcPts val="1680"/>
              </a:lnSpc>
              <a:buNone/>
            </a:pPr>
            <a:r>
              <a:rPr lang="en-US" sz="1200" dirty="0">
                <a:solidFill>
                  <a:srgbClr val="1F4E86"/>
                </a:solidFill>
                <a:latin typeface="IBM Plex Sans KR" pitchFamily="34" charset="0"/>
                <a:ea typeface="IBM Plex Sans KR" pitchFamily="34" charset="-122"/>
                <a:cs typeface="IBM Plex Sans KR" pitchFamily="34" charset="-120"/>
              </a:rPr>
              <a:t>학습 1/1~8/1</a:t>
            </a:r>
            <a:endParaRPr lang="en-US" sz="1200" dirty="0"/>
          </a:p>
        </p:txBody>
      </p:sp>
      <p:sp>
        <p:nvSpPr>
          <p:cNvPr id="18" name="Shape 16"/>
          <p:cNvSpPr/>
          <p:nvPr/>
        </p:nvSpPr>
        <p:spPr>
          <a:xfrm>
            <a:off x="8600745" y="3399768"/>
            <a:ext cx="884039" cy="355600"/>
          </a:xfrm>
          <a:prstGeom prst="rect">
            <a:avLst/>
          </a:prstGeom>
          <a:solidFill>
            <a:srgbClr val="A9B3BE"/>
          </a:solidFill>
          <a:ln/>
        </p:spPr>
      </p:sp>
      <p:sp>
        <p:nvSpPr>
          <p:cNvPr id="19" name="Shape 17"/>
          <p:cNvSpPr/>
          <p:nvPr/>
        </p:nvSpPr>
        <p:spPr>
          <a:xfrm>
            <a:off x="9484784" y="3399768"/>
            <a:ext cx="1894417" cy="355600"/>
          </a:xfrm>
          <a:prstGeom prst="rect">
            <a:avLst/>
          </a:prstGeom>
          <a:solidFill>
            <a:srgbClr val="E2672F"/>
          </a:solidFill>
          <a:ln/>
        </p:spPr>
      </p:sp>
      <p:sp>
        <p:nvSpPr>
          <p:cNvPr id="20" name="Text 18"/>
          <p:cNvSpPr/>
          <p:nvPr/>
        </p:nvSpPr>
        <p:spPr>
          <a:xfrm>
            <a:off x="812800" y="3869668"/>
            <a:ext cx="16593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BE"/>
                </a:solidFill>
                <a:latin typeface="IBM Plex Sans KR" pitchFamily="34" charset="0"/>
                <a:ea typeface="IBM Plex Sans KR" pitchFamily="34" charset="-122"/>
                <a:cs typeface="IBM Plex Sans KR" pitchFamily="34" charset="-120"/>
              </a:rPr>
              <a:t>■</a:t>
            </a:r>
            <a:r>
              <a:rPr lang="en-US" sz="1200" dirty="0">
                <a:solidFill>
                  <a:srgbClr val="4A5568"/>
                </a:solidFill>
                <a:latin typeface="IBM Plex Sans KR" pitchFamily="34" charset="0"/>
                <a:ea typeface="IBM Plex Sans KR" pitchFamily="34" charset="-122"/>
                <a:cs typeface="IBM Plex Sans KR" pitchFamily="34" charset="-120"/>
              </a:rPr>
              <a:t> 조기 종료 판단 14일</a:t>
            </a:r>
            <a:endParaRPr lang="en-US" sz="1200" dirty="0"/>
          </a:p>
        </p:txBody>
      </p:sp>
      <p:sp>
        <p:nvSpPr>
          <p:cNvPr id="21" name="Text 19"/>
          <p:cNvSpPr/>
          <p:nvPr/>
        </p:nvSpPr>
        <p:spPr>
          <a:xfrm>
            <a:off x="2472134" y="3869668"/>
            <a:ext cx="3238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78D6"/>
                </a:solidFill>
                <a:latin typeface="IBM Plex Sans KR" pitchFamily="34" charset="0"/>
                <a:ea typeface="IBM Plex Sans KR" pitchFamily="34" charset="-122"/>
                <a:cs typeface="IBM Plex Sans KR" pitchFamily="34" charset="-120"/>
              </a:rPr>
              <a:t>■</a:t>
            </a:r>
            <a:r>
              <a:rPr lang="en-US" sz="1200" dirty="0">
                <a:solidFill>
                  <a:srgbClr val="4A5568"/>
                </a:solidFill>
                <a:latin typeface="IBM Plex Sans KR" pitchFamily="34" charset="0"/>
                <a:ea typeface="IBM Plex Sans KR" pitchFamily="34" charset="-122"/>
                <a:cs typeface="IBM Plex Sans KR" pitchFamily="34" charset="-120"/>
              </a:rPr>
              <a:t> 검증 5/16~6/15 · 6/16~7/15 · 7/16~8/15</a:t>
            </a:r>
            <a:endParaRPr lang="en-US" sz="1200" dirty="0"/>
          </a:p>
        </p:txBody>
      </p:sp>
      <p:sp>
        <p:nvSpPr>
          <p:cNvPr id="22" name="Text 20"/>
          <p:cNvSpPr/>
          <p:nvPr/>
        </p:nvSpPr>
        <p:spPr>
          <a:xfrm>
            <a:off x="5710634" y="3869668"/>
            <a:ext cx="15224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2672F"/>
                </a:solidFill>
                <a:latin typeface="IBM Plex Sans KR" pitchFamily="34" charset="0"/>
                <a:ea typeface="IBM Plex Sans KR" pitchFamily="34" charset="-122"/>
                <a:cs typeface="IBM Plex Sans KR" pitchFamily="34" charset="-120"/>
              </a:rPr>
              <a:t>■</a:t>
            </a:r>
            <a:r>
              <a:rPr lang="en-US" sz="1200" dirty="0">
                <a:solidFill>
                  <a:srgbClr val="4A5568"/>
                </a:solidFill>
                <a:latin typeface="IBM Plex Sans KR" pitchFamily="34" charset="0"/>
                <a:ea typeface="IBM Plex Sans KR" pitchFamily="34" charset="-122"/>
                <a:cs typeface="IBM Plex Sans KR" pitchFamily="34" charset="-120"/>
              </a:rPr>
              <a:t> Test 8/16~9/14</a:t>
            </a:r>
            <a:endParaRPr lang="en-US" sz="1200" dirty="0"/>
          </a:p>
        </p:txBody>
      </p:sp>
      <p:sp>
        <p:nvSpPr>
          <p:cNvPr id="23" name="Shape 21"/>
          <p:cNvSpPr/>
          <p:nvPr/>
        </p:nvSpPr>
        <p:spPr>
          <a:xfrm>
            <a:off x="825500" y="4336988"/>
            <a:ext cx="0" cy="290182"/>
          </a:xfrm>
          <a:prstGeom prst="line">
            <a:avLst/>
          </a:prstGeom>
          <a:noFill/>
          <a:ln w="25400">
            <a:solidFill>
              <a:srgbClr val="2A78D6"/>
            </a:solidFill>
            <a:prstDash val="solid"/>
          </a:ln>
        </p:spPr>
      </p:sp>
      <p:sp>
        <p:nvSpPr>
          <p:cNvPr id="24" name="Text 22"/>
          <p:cNvSpPr/>
          <p:nvPr/>
        </p:nvSpPr>
        <p:spPr>
          <a:xfrm>
            <a:off x="952500" y="4362388"/>
            <a:ext cx="3361817"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B2433"/>
                </a:solidFill>
                <a:latin typeface="IBM Plex Sans KR" pitchFamily="34" charset="0"/>
                <a:ea typeface="IBM Plex Sans KR" pitchFamily="34" charset="-122"/>
                <a:cs typeface="IBM Plex Sans KR" pitchFamily="34" charset="-120"/>
              </a:rPr>
              <a:t>설정 선택은 검증 3개 fold의 평균으로</a:t>
            </a:r>
            <a:endParaRPr lang="en-US" sz="1300" dirty="0"/>
          </a:p>
        </p:txBody>
      </p:sp>
      <p:sp>
        <p:nvSpPr>
          <p:cNvPr id="25" name="Shape 23"/>
          <p:cNvSpPr/>
          <p:nvPr/>
        </p:nvSpPr>
        <p:spPr>
          <a:xfrm>
            <a:off x="4406900" y="4336988"/>
            <a:ext cx="0" cy="290182"/>
          </a:xfrm>
          <a:prstGeom prst="line">
            <a:avLst/>
          </a:prstGeom>
          <a:noFill/>
          <a:ln w="25400">
            <a:solidFill>
              <a:srgbClr val="2A78D6"/>
            </a:solidFill>
            <a:prstDash val="solid"/>
          </a:ln>
        </p:spPr>
      </p:sp>
      <p:sp>
        <p:nvSpPr>
          <p:cNvPr id="26" name="Text 24"/>
          <p:cNvSpPr/>
          <p:nvPr/>
        </p:nvSpPr>
        <p:spPr>
          <a:xfrm>
            <a:off x="4533900" y="4362388"/>
            <a:ext cx="3361817"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B2433"/>
                </a:solidFill>
                <a:latin typeface="IBM Plex Sans KR" pitchFamily="34" charset="0"/>
                <a:ea typeface="IBM Plex Sans KR" pitchFamily="34" charset="-122"/>
                <a:cs typeface="IBM Plex Sans KR" pitchFamily="34" charset="-120"/>
              </a:rPr>
              <a:t>Test는 탐색과 분리해 마지막에 한 번 평가</a:t>
            </a:r>
            <a:endParaRPr lang="en-US" sz="1300" dirty="0"/>
          </a:p>
        </p:txBody>
      </p:sp>
      <p:sp>
        <p:nvSpPr>
          <p:cNvPr id="27" name="Shape 25"/>
          <p:cNvSpPr/>
          <p:nvPr/>
        </p:nvSpPr>
        <p:spPr>
          <a:xfrm>
            <a:off x="7988300" y="4336988"/>
            <a:ext cx="0" cy="290182"/>
          </a:xfrm>
          <a:prstGeom prst="line">
            <a:avLst/>
          </a:prstGeom>
          <a:noFill/>
          <a:ln w="25400">
            <a:solidFill>
              <a:srgbClr val="2A78D6"/>
            </a:solidFill>
            <a:prstDash val="solid"/>
          </a:ln>
        </p:spPr>
      </p:sp>
      <p:sp>
        <p:nvSpPr>
          <p:cNvPr id="28" name="Text 26"/>
          <p:cNvSpPr/>
          <p:nvPr/>
        </p:nvSpPr>
        <p:spPr>
          <a:xfrm>
            <a:off x="8115300" y="4362388"/>
            <a:ext cx="3361817"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B2433"/>
                </a:solidFill>
                <a:latin typeface="IBM Plex Sans KR" pitchFamily="34" charset="0"/>
                <a:ea typeface="IBM Plex Sans KR" pitchFamily="34" charset="-122"/>
                <a:cs typeface="IBM Plex Sans KR" pitchFamily="34" charset="-120"/>
              </a:rPr>
              <a:t>셧다운 17시간은 평가에서 빼서 Test 703시간</a:t>
            </a:r>
            <a:endParaRPr lang="en-US" sz="13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셧다운 2021-08-28 18시 ~ 08-29 10시 · seed 42 공통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2. AI 예측모델 개발 및 성능평가 · 40점</a:t>
            </a:r>
            <a:endParaRPr lang="en-US" sz="1300" dirty="0"/>
          </a:p>
        </p:txBody>
      </p:sp>
      <p:sp>
        <p:nvSpPr>
          <p:cNvPr id="3" name="Text 1"/>
          <p:cNvSpPr/>
          <p:nvPr>
            <p:ph type="title"/>
          </p:nvPr>
        </p:nvSpPr>
        <p:spPr>
          <a:xfrm>
            <a:off x="812800" y="1297918"/>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기준선을 세우고 같은 규칙으로 골랐다</a:t>
            </a:r>
            <a:endParaRPr lang="en-US" sz="3000" dirty="0"/>
          </a:p>
        </p:txBody>
      </p:sp>
      <p:sp>
        <p:nvSpPr>
          <p:cNvPr id="4" name="Text 2"/>
          <p:cNvSpPr/>
          <p:nvPr/>
        </p:nvSpPr>
        <p:spPr>
          <a:xfrm>
            <a:off x="812800" y="1990068"/>
            <a:ext cx="559866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E"/>
                </a:solidFill>
                <a:latin typeface="IBM Plex Sans KR" pitchFamily="34" charset="0"/>
                <a:ea typeface="IBM Plex Sans KR" pitchFamily="34" charset="-122"/>
                <a:cs typeface="IBM Plex Sans KR" pitchFamily="34" charset="-120"/>
              </a:rPr>
              <a:t>학습 없는 기준선 (Test 703시간)</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373579"/>
          <a:ext cx="5422900" cy="1157883"/>
        </p:xfrm>
        <a:graphic>
          <a:graphicData uri="http://schemas.openxmlformats.org/drawingml/2006/table">
            <a:tbl>
              <a:tblPr/>
              <a:tblGrid>
                <a:gridCol w="2494534"/>
                <a:gridCol w="976122"/>
                <a:gridCol w="976122"/>
                <a:gridCol w="976122"/>
              </a:tblGrid>
              <a:tr h="385961">
                <a:tc>
                  <a:txBody>
                    <a:bodyPr/>
                    <a:lstStyle/>
                    <a:p>
                      <a:pPr indent="0" marL="0">
                        <a:lnSpc>
                          <a:spcPts val="1960"/>
                        </a:lnSpc>
                        <a:buNone/>
                      </a:pPr>
                      <a:r>
                        <a:rPr lang="en-US" sz="1400" b="1" dirty="0">
                          <a:solidFill>
                            <a:srgbClr val="1B2433"/>
                          </a:solidFill>
                          <a:latin typeface="IBM Plex Sans KR" pitchFamily="34" charset="0"/>
                          <a:ea typeface="IBM Plex Sans KR" pitchFamily="34" charset="-122"/>
                          <a:cs typeface="IBM Plex Sans KR" pitchFamily="34" charset="-120"/>
                        </a:rPr>
                        <a:t>기준선</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algn="r" indent="0" marL="0">
                        <a:lnSpc>
                          <a:spcPts val="1960"/>
                        </a:lnSpc>
                        <a:buNone/>
                      </a:pPr>
                      <a:r>
                        <a:rPr lang="en-US" sz="1400" b="1" dirty="0">
                          <a:solidFill>
                            <a:srgbClr val="1B2433"/>
                          </a:solidFill>
                          <a:latin typeface="IBM Plex Sans KR" pitchFamily="34" charset="0"/>
                          <a:ea typeface="IBM Plex Sans KR" pitchFamily="34" charset="-122"/>
                          <a:cs typeface="IBM Plex Sans KR" pitchFamily="34" charset="-120"/>
                        </a:rPr>
                        <a:t>RMSE</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algn="r" indent="0" marL="0">
                        <a:lnSpc>
                          <a:spcPts val="1960"/>
                        </a:lnSpc>
                        <a:buNone/>
                      </a:pPr>
                      <a:r>
                        <a:rPr lang="en-US" sz="1400" b="1" dirty="0">
                          <a:solidFill>
                            <a:srgbClr val="1B2433"/>
                          </a:solidFill>
                          <a:latin typeface="IBM Plex Sans KR" pitchFamily="34" charset="0"/>
                          <a:ea typeface="IBM Plex Sans KR" pitchFamily="34" charset="-122"/>
                          <a:cs typeface="IBM Plex Sans KR" pitchFamily="34" charset="-120"/>
                        </a:rPr>
                        <a:t>MAE</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algn="r" indent="0" marL="0">
                        <a:lnSpc>
                          <a:spcPts val="1960"/>
                        </a:lnSpc>
                        <a:buNone/>
                      </a:pPr>
                      <a:r>
                        <a:rPr lang="en-US" sz="1400" b="1" dirty="0">
                          <a:solidFill>
                            <a:srgbClr val="1B2433"/>
                          </a:solidFill>
                          <a:latin typeface="IBM Plex Sans KR" pitchFamily="34" charset="0"/>
                          <a:ea typeface="IBM Plex Sans KR" pitchFamily="34" charset="-122"/>
                          <a:cs typeface="IBM Plex Sans KR" pitchFamily="34" charset="-120"/>
                        </a:rPr>
                        <a:t>F1</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r>
              <a:tr h="385961">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전주 같은 시각</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12.40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8.26</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0.366</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직전 시간</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25.74</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16.00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0.412</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bl>
          </a:graphicData>
        </a:graphic>
      </p:graphicFrame>
      <p:sp>
        <p:nvSpPr>
          <p:cNvPr id="6" name="Text 3"/>
          <p:cNvSpPr/>
          <p:nvPr/>
        </p:nvSpPr>
        <p:spPr>
          <a:xfrm>
            <a:off x="812800" y="3658462"/>
            <a:ext cx="5598668"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기준선도 검증 잔차로 피크 확률을 만들고, 검증에서 고른 경보 기준으로 같은 방식으로 평가했습니다.</a:t>
            </a:r>
            <a:endParaRPr lang="en-US" sz="1200" dirty="0"/>
          </a:p>
        </p:txBody>
      </p:sp>
      <p:sp>
        <p:nvSpPr>
          <p:cNvPr id="7" name="Text 4"/>
          <p:cNvSpPr/>
          <p:nvPr/>
        </p:nvSpPr>
        <p:spPr>
          <a:xfrm>
            <a:off x="6553200" y="1990068"/>
            <a:ext cx="497078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E"/>
                </a:solidFill>
                <a:latin typeface="IBM Plex Sans KR" pitchFamily="34" charset="0"/>
                <a:ea typeface="IBM Plex Sans KR" pitchFamily="34" charset="-122"/>
                <a:cs typeface="IBM Plex Sans KR" pitchFamily="34" charset="-120"/>
              </a:rPr>
              <a:t>공통 선택 규칙</a:t>
            </a:r>
            <a:endParaRPr lang="en-US" sz="1600" dirty="0"/>
          </a:p>
        </p:txBody>
      </p:sp>
      <p:sp>
        <p:nvSpPr>
          <p:cNvPr id="8" name="Shape 5"/>
          <p:cNvSpPr/>
          <p:nvPr/>
        </p:nvSpPr>
        <p:spPr>
          <a:xfrm>
            <a:off x="6556375" y="2338654"/>
            <a:ext cx="4819650" cy="540544"/>
          </a:xfrm>
          <a:prstGeom prst="roundRect">
            <a:avLst>
              <a:gd name="adj" fmla="val 13510"/>
            </a:avLst>
          </a:prstGeom>
          <a:solidFill>
            <a:srgbClr val="FFFFFF"/>
          </a:solidFill>
          <a:ln w="6350">
            <a:solidFill>
              <a:srgbClr val="DDE2E7"/>
            </a:solidFill>
            <a:prstDash val="solid"/>
          </a:ln>
        </p:spPr>
      </p:sp>
      <p:sp>
        <p:nvSpPr>
          <p:cNvPr id="9" name="Text 6"/>
          <p:cNvSpPr/>
          <p:nvPr/>
        </p:nvSpPr>
        <p:spPr>
          <a:xfrm>
            <a:off x="6709834" y="2466715"/>
            <a:ext cx="17277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A78D6"/>
                </a:solidFill>
                <a:latin typeface="IBM Plex Mono" pitchFamily="49" charset="0"/>
                <a:ea typeface="IBM Plex Mono" pitchFamily="49" charset="-122"/>
                <a:cs typeface="IBM Plex Mono" pitchFamily="49" charset="-120"/>
              </a:rPr>
              <a:t>1</a:t>
            </a:r>
            <a:endParaRPr lang="en-US" sz="1600" dirty="0"/>
          </a:p>
        </p:txBody>
      </p:sp>
      <p:sp>
        <p:nvSpPr>
          <p:cNvPr id="10" name="Text 7"/>
          <p:cNvSpPr/>
          <p:nvPr/>
        </p:nvSpPr>
        <p:spPr>
          <a:xfrm>
            <a:off x="6958806" y="2493367"/>
            <a:ext cx="287694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seed 42, 시간순 fold 3개 공통 적용</a:t>
            </a:r>
            <a:endParaRPr lang="en-US" sz="1300" dirty="0"/>
          </a:p>
        </p:txBody>
      </p:sp>
      <p:sp>
        <p:nvSpPr>
          <p:cNvPr id="11" name="Shape 8"/>
          <p:cNvSpPr/>
          <p:nvPr/>
        </p:nvSpPr>
        <p:spPr>
          <a:xfrm>
            <a:off x="6556375" y="2987148"/>
            <a:ext cx="4819650" cy="540544"/>
          </a:xfrm>
          <a:prstGeom prst="roundRect">
            <a:avLst>
              <a:gd name="adj" fmla="val 13510"/>
            </a:avLst>
          </a:prstGeom>
          <a:solidFill>
            <a:srgbClr val="FFFFFF"/>
          </a:solidFill>
          <a:ln w="6350">
            <a:solidFill>
              <a:srgbClr val="DDE2E7"/>
            </a:solidFill>
            <a:prstDash val="solid"/>
          </a:ln>
        </p:spPr>
      </p:sp>
      <p:sp>
        <p:nvSpPr>
          <p:cNvPr id="12" name="Text 9"/>
          <p:cNvSpPr/>
          <p:nvPr/>
        </p:nvSpPr>
        <p:spPr>
          <a:xfrm>
            <a:off x="6709834" y="3115208"/>
            <a:ext cx="17277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A78D6"/>
                </a:solidFill>
                <a:latin typeface="IBM Plex Mono" pitchFamily="49" charset="0"/>
                <a:ea typeface="IBM Plex Mono" pitchFamily="49" charset="-122"/>
                <a:cs typeface="IBM Plex Mono" pitchFamily="49" charset="-120"/>
              </a:rPr>
              <a:t>2</a:t>
            </a:r>
            <a:endParaRPr lang="en-US" sz="1600" dirty="0"/>
          </a:p>
        </p:txBody>
      </p:sp>
      <p:sp>
        <p:nvSpPr>
          <p:cNvPr id="13" name="Text 10"/>
          <p:cNvSpPr/>
          <p:nvPr/>
        </p:nvSpPr>
        <p:spPr>
          <a:xfrm>
            <a:off x="6958806" y="3141861"/>
            <a:ext cx="379896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검증 RMSE 평균 최솟값의 2% 이내 후보만 남김</a:t>
            </a:r>
            <a:endParaRPr lang="en-US" sz="1300" dirty="0"/>
          </a:p>
        </p:txBody>
      </p:sp>
      <p:sp>
        <p:nvSpPr>
          <p:cNvPr id="14" name="Shape 11"/>
          <p:cNvSpPr/>
          <p:nvPr/>
        </p:nvSpPr>
        <p:spPr>
          <a:xfrm>
            <a:off x="6556375" y="3635642"/>
            <a:ext cx="4819650" cy="540544"/>
          </a:xfrm>
          <a:prstGeom prst="roundRect">
            <a:avLst>
              <a:gd name="adj" fmla="val 13510"/>
            </a:avLst>
          </a:prstGeom>
          <a:solidFill>
            <a:srgbClr val="FFFFFF"/>
          </a:solidFill>
          <a:ln w="6350">
            <a:solidFill>
              <a:srgbClr val="DDE2E7"/>
            </a:solidFill>
            <a:prstDash val="solid"/>
          </a:ln>
        </p:spPr>
      </p:sp>
      <p:sp>
        <p:nvSpPr>
          <p:cNvPr id="15" name="Text 12"/>
          <p:cNvSpPr/>
          <p:nvPr/>
        </p:nvSpPr>
        <p:spPr>
          <a:xfrm>
            <a:off x="6709834" y="3763702"/>
            <a:ext cx="17277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A78D6"/>
                </a:solidFill>
                <a:latin typeface="IBM Plex Mono" pitchFamily="49" charset="0"/>
                <a:ea typeface="IBM Plex Mono" pitchFamily="49" charset="-122"/>
                <a:cs typeface="IBM Plex Mono" pitchFamily="49" charset="-120"/>
              </a:rPr>
              <a:t>3</a:t>
            </a:r>
            <a:endParaRPr lang="en-US" sz="1600" dirty="0"/>
          </a:p>
        </p:txBody>
      </p:sp>
      <p:sp>
        <p:nvSpPr>
          <p:cNvPr id="16" name="Text 13"/>
          <p:cNvSpPr/>
          <p:nvPr/>
        </p:nvSpPr>
        <p:spPr>
          <a:xfrm>
            <a:off x="6958806" y="3790355"/>
            <a:ext cx="403256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그중 피크 시각 MAE 최저를 채택 (동률이면 RMSE)</a:t>
            </a:r>
            <a:endParaRPr lang="en-US" sz="1300" dirty="0"/>
          </a:p>
        </p:txBody>
      </p:sp>
      <p:sp>
        <p:nvSpPr>
          <p:cNvPr id="17" name="Shape 14"/>
          <p:cNvSpPr/>
          <p:nvPr/>
        </p:nvSpPr>
        <p:spPr>
          <a:xfrm>
            <a:off x="6553200" y="4280960"/>
            <a:ext cx="4826000" cy="538427"/>
          </a:xfrm>
          <a:prstGeom prst="roundRect">
            <a:avLst>
              <a:gd name="adj" fmla="val 14152"/>
            </a:avLst>
          </a:prstGeom>
          <a:solidFill>
            <a:srgbClr val="13202E"/>
          </a:solidFill>
          <a:ln/>
        </p:spPr>
      </p:sp>
      <p:sp>
        <p:nvSpPr>
          <p:cNvPr id="18" name="Text 15"/>
          <p:cNvSpPr/>
          <p:nvPr/>
        </p:nvSpPr>
        <p:spPr>
          <a:xfrm>
            <a:off x="6705600" y="4407960"/>
            <a:ext cx="17277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FB6EC"/>
                </a:solidFill>
                <a:latin typeface="IBM Plex Mono" pitchFamily="49" charset="0"/>
                <a:ea typeface="IBM Plex Mono" pitchFamily="49" charset="-122"/>
                <a:cs typeface="IBM Plex Mono" pitchFamily="49" charset="-120"/>
              </a:rPr>
              <a:t>4</a:t>
            </a:r>
            <a:endParaRPr lang="en-US" sz="1600" dirty="0"/>
          </a:p>
        </p:txBody>
      </p:sp>
      <p:sp>
        <p:nvSpPr>
          <p:cNvPr id="19" name="Text 16"/>
          <p:cNvSpPr/>
          <p:nvPr/>
        </p:nvSpPr>
        <p:spPr>
          <a:xfrm>
            <a:off x="6954573" y="4434619"/>
            <a:ext cx="31610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7F4"/>
                </a:solidFill>
                <a:latin typeface="IBM Plex Sans KR" pitchFamily="34" charset="0"/>
                <a:ea typeface="IBM Plex Sans KR" pitchFamily="34" charset="-122"/>
                <a:cs typeface="IBM Plex Sans KR" pitchFamily="34" charset="-120"/>
              </a:rPr>
              <a:t>경보 확률 기준값도 검증 F1 최대로 결정</a:t>
            </a:r>
            <a:endParaRPr lang="en-US" sz="1300" dirty="0"/>
          </a:p>
        </p:txBody>
      </p:sp>
      <p:sp>
        <p:nvSpPr>
          <p:cNvPr id="20"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F1: 177 kW 피크 경보 기준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2. AI 예측모델 · LSTM·TCN 탐색</a:t>
            </a:r>
            <a:endParaRPr lang="en-US" sz="1300" dirty="0"/>
          </a:p>
        </p:txBody>
      </p:sp>
      <p:sp>
        <p:nvSpPr>
          <p:cNvPr id="3" name="Text 1"/>
          <p:cNvSpPr/>
          <p:nvPr>
            <p:ph type="title"/>
          </p:nvPr>
        </p:nvSpPr>
        <p:spPr>
          <a:xfrm>
            <a:off x="812800" y="1297918"/>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LSTM·TCN은 4단계 순차 탐색으로 좁혔다</a:t>
            </a:r>
            <a:endParaRPr lang="en-US" sz="3000" dirty="0"/>
          </a:p>
        </p:txBody>
      </p:sp>
      <p:sp>
        <p:nvSpPr>
          <p:cNvPr id="4" name="Text 2"/>
          <p:cNvSpPr/>
          <p:nvPr/>
        </p:nvSpPr>
        <p:spPr>
          <a:xfrm>
            <a:off x="812800" y="1990068"/>
            <a:ext cx="2498064" cy="358114"/>
          </a:xfrm>
          <a:prstGeom prst="roundRect">
            <a:avLst>
              <a:gd name="adj" fmla="val 50000"/>
            </a:avLst>
          </a:prstGeom>
          <a:solidFill>
            <a:srgbClr val="CFE0F5"/>
          </a:solidFill>
          <a:ln/>
        </p:spPr>
        <p:txBody>
          <a:bodyPr wrap="none" lIns="0" tIns="0" rIns="0" bIns="0" rtlCol="0" anchor="ctr">
            <a:normAutofit/>
          </a:bodyPr>
          <a:lstStyle/>
          <a:p>
            <a:pPr algn="ctr" indent="0" marL="0">
              <a:lnSpc>
                <a:spcPts val="1820"/>
              </a:lnSpc>
              <a:buNone/>
            </a:pPr>
            <a:r>
              <a:rPr lang="en-US" sz="1300" dirty="0">
                <a:solidFill>
                  <a:srgbClr val="1F4E86"/>
                </a:solidFill>
                <a:latin typeface="IBM Plex Sans KR" pitchFamily="34" charset="0"/>
                <a:ea typeface="IBM Plex Sans KR" pitchFamily="34" charset="-122"/>
                <a:cs typeface="IBM Plex Sans KR" pitchFamily="34" charset="-120"/>
              </a:rPr>
              <a:t>① 입력 길이 24·48·72·168시간</a:t>
            </a:r>
            <a:endParaRPr lang="en-US" sz="1300" dirty="0"/>
          </a:p>
        </p:txBody>
      </p:sp>
      <p:pic>
        <p:nvPicPr>
          <p:cNvPr id="5" name="Image 0" descr="Play">    </p:cNvPr>
          <p:cNvPicPr>
            <a:picLocks noChangeAspect="1"/>
          </p:cNvPicPr>
          <p:nvPr/>
        </p:nvPicPr>
        <p:blipFill>
          <a:blip r:embed="rId1"/>
          <a:srcRect l="0" r="0" t="0" b="0"/>
          <a:stretch/>
        </p:blipFill>
        <p:spPr>
          <a:xfrm>
            <a:off x="3387064" y="2092920"/>
            <a:ext cx="152400" cy="152400"/>
          </a:xfrm>
          <a:prstGeom prst="rect">
            <a:avLst/>
          </a:prstGeom>
        </p:spPr>
      </p:pic>
      <p:sp>
        <p:nvSpPr>
          <p:cNvPr id="6" name="Text 3"/>
          <p:cNvSpPr/>
          <p:nvPr/>
        </p:nvSpPr>
        <p:spPr>
          <a:xfrm>
            <a:off x="3615664" y="1990068"/>
            <a:ext cx="778007" cy="358114"/>
          </a:xfrm>
          <a:prstGeom prst="roundRect">
            <a:avLst>
              <a:gd name="adj" fmla="val 50000"/>
            </a:avLst>
          </a:prstGeom>
          <a:solidFill>
            <a:srgbClr val="CFE0F5"/>
          </a:solidFill>
          <a:ln/>
        </p:spPr>
        <p:txBody>
          <a:bodyPr wrap="none" lIns="0" tIns="0" rIns="0" bIns="0" rtlCol="0" anchor="ctr">
            <a:normAutofit/>
          </a:bodyPr>
          <a:lstStyle/>
          <a:p>
            <a:pPr algn="ctr" indent="0" marL="0">
              <a:lnSpc>
                <a:spcPts val="1820"/>
              </a:lnSpc>
              <a:buNone/>
            </a:pPr>
            <a:r>
              <a:rPr lang="en-US" sz="1300" dirty="0">
                <a:solidFill>
                  <a:srgbClr val="1F4E86"/>
                </a:solidFill>
                <a:latin typeface="IBM Plex Sans KR" pitchFamily="34" charset="0"/>
                <a:ea typeface="IBM Plex Sans KR" pitchFamily="34" charset="-122"/>
                <a:cs typeface="IBM Plex Sans KR" pitchFamily="34" charset="-120"/>
              </a:rPr>
              <a:t>② 구조</a:t>
            </a:r>
            <a:endParaRPr lang="en-US" sz="1300" dirty="0"/>
          </a:p>
        </p:txBody>
      </p:sp>
      <p:pic>
        <p:nvPicPr>
          <p:cNvPr id="7" name="Image 1" descr="Play">    </p:cNvPr>
          <p:cNvPicPr>
            <a:picLocks noChangeAspect="1"/>
          </p:cNvPicPr>
          <p:nvPr/>
        </p:nvPicPr>
        <p:blipFill>
          <a:blip r:embed="rId2"/>
          <a:srcRect l="0" r="0" t="0" b="0"/>
          <a:stretch/>
        </p:blipFill>
        <p:spPr>
          <a:xfrm>
            <a:off x="4469871" y="2092920"/>
            <a:ext cx="152400" cy="152400"/>
          </a:xfrm>
          <a:prstGeom prst="rect">
            <a:avLst/>
          </a:prstGeom>
        </p:spPr>
      </p:pic>
      <p:sp>
        <p:nvSpPr>
          <p:cNvPr id="8" name="Text 4"/>
          <p:cNvSpPr/>
          <p:nvPr/>
        </p:nvSpPr>
        <p:spPr>
          <a:xfrm>
            <a:off x="4698471" y="1990068"/>
            <a:ext cx="1567061" cy="358114"/>
          </a:xfrm>
          <a:prstGeom prst="roundRect">
            <a:avLst>
              <a:gd name="adj" fmla="val 50000"/>
            </a:avLst>
          </a:prstGeom>
          <a:solidFill>
            <a:srgbClr val="CFE0F5"/>
          </a:solidFill>
          <a:ln/>
        </p:spPr>
        <p:txBody>
          <a:bodyPr wrap="none" lIns="0" tIns="0" rIns="0" bIns="0" rtlCol="0" anchor="ctr">
            <a:normAutofit/>
          </a:bodyPr>
          <a:lstStyle/>
          <a:p>
            <a:pPr algn="ctr" indent="0" marL="0">
              <a:lnSpc>
                <a:spcPts val="1820"/>
              </a:lnSpc>
              <a:buNone/>
            </a:pPr>
            <a:r>
              <a:rPr lang="en-US" sz="1300" dirty="0">
                <a:solidFill>
                  <a:srgbClr val="1F4E86"/>
                </a:solidFill>
                <a:latin typeface="IBM Plex Sans KR" pitchFamily="34" charset="0"/>
                <a:ea typeface="IBM Plex Sans KR" pitchFamily="34" charset="-122"/>
                <a:cs typeface="IBM Plex Sans KR" pitchFamily="34" charset="-120"/>
              </a:rPr>
              <a:t>③ 학습률·dropout</a:t>
            </a:r>
            <a:endParaRPr lang="en-US" sz="1300" dirty="0"/>
          </a:p>
        </p:txBody>
      </p:sp>
      <p:pic>
        <p:nvPicPr>
          <p:cNvPr id="9" name="Image 2" descr="Play">    </p:cNvPr>
          <p:cNvPicPr>
            <a:picLocks noChangeAspect="1"/>
          </p:cNvPicPr>
          <p:nvPr/>
        </p:nvPicPr>
        <p:blipFill>
          <a:blip r:embed="rId3"/>
          <a:srcRect l="0" r="0" t="0" b="0"/>
          <a:stretch/>
        </p:blipFill>
        <p:spPr>
          <a:xfrm>
            <a:off x="6341732" y="2092920"/>
            <a:ext cx="152400" cy="152400"/>
          </a:xfrm>
          <a:prstGeom prst="rect">
            <a:avLst/>
          </a:prstGeom>
        </p:spPr>
      </p:pic>
      <p:sp>
        <p:nvSpPr>
          <p:cNvPr id="10" name="Text 5"/>
          <p:cNvSpPr/>
          <p:nvPr/>
        </p:nvSpPr>
        <p:spPr>
          <a:xfrm>
            <a:off x="6570332" y="1990068"/>
            <a:ext cx="1518973" cy="358114"/>
          </a:xfrm>
          <a:prstGeom prst="roundRect">
            <a:avLst>
              <a:gd name="adj" fmla="val 50000"/>
            </a:avLst>
          </a:prstGeom>
          <a:solidFill>
            <a:srgbClr val="CFE0F5"/>
          </a:solidFill>
          <a:ln/>
        </p:spPr>
        <p:txBody>
          <a:bodyPr wrap="none" lIns="0" tIns="0" rIns="0" bIns="0" rtlCol="0" anchor="ctr">
            <a:normAutofit/>
          </a:bodyPr>
          <a:lstStyle/>
          <a:p>
            <a:pPr algn="ctr" indent="0" marL="0">
              <a:lnSpc>
                <a:spcPts val="1820"/>
              </a:lnSpc>
              <a:buNone/>
            </a:pPr>
            <a:r>
              <a:rPr lang="en-US" sz="1300" dirty="0">
                <a:solidFill>
                  <a:srgbClr val="1F4E86"/>
                </a:solidFill>
                <a:latin typeface="IBM Plex Sans KR" pitchFamily="34" charset="0"/>
                <a:ea typeface="IBM Plex Sans KR" pitchFamily="34" charset="-122"/>
                <a:cs typeface="IBM Plex Sans KR" pitchFamily="34" charset="-120"/>
              </a:rPr>
              <a:t>④ 배치 16·32·64</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2614879"/>
          <a:ext cx="10553700" cy="2386939"/>
        </p:xfrm>
        <a:graphic>
          <a:graphicData uri="http://schemas.openxmlformats.org/drawingml/2006/table">
            <a:tbl>
              <a:tblPr/>
              <a:tblGrid>
                <a:gridCol w="2110740"/>
                <a:gridCol w="4221480"/>
                <a:gridCol w="4221480"/>
              </a:tblGrid>
              <a:tr h="359304">
                <a:tc>
                  <a:txBody>
                    <a:bodyPr/>
                    <a:lstStyle/>
                    <a:p>
                      <a:pPr indent="0" marL="0">
                        <a:lnSpc>
                          <a:spcPts val="1820"/>
                        </a:lnSpc>
                        <a:buNone/>
                      </a:pPr>
                      <a:r>
                        <a:rPr lang="en-US" sz="1300" b="1" dirty="0">
                          <a:solidFill>
                            <a:srgbClr val="1B2433"/>
                          </a:solidFill>
                          <a:latin typeface="IBM Plex Sans KR" pitchFamily="34" charset="0"/>
                          <a:ea typeface="IBM Plex Sans KR" pitchFamily="34" charset="-122"/>
                          <a:cs typeface="IBM Plex Sans KR" pitchFamily="34" charset="-120"/>
                        </a:rPr>
                        <a:t>항목</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indent="0" marL="0">
                        <a:lnSpc>
                          <a:spcPts val="1820"/>
                        </a:lnSpc>
                        <a:buNone/>
                      </a:pPr>
                      <a:r>
                        <a:rPr lang="en-US" sz="1300" b="1" dirty="0">
                          <a:solidFill>
                            <a:srgbClr val="1B2433"/>
                          </a:solidFill>
                          <a:latin typeface="IBM Plex Sans KR" pitchFamily="34" charset="0"/>
                          <a:ea typeface="IBM Plex Sans KR" pitchFamily="34" charset="-122"/>
                          <a:cs typeface="IBM Plex Sans KR" pitchFamily="34" charset="-120"/>
                        </a:rPr>
                        <a:t>LSTM</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indent="0" marL="0">
                        <a:lnSpc>
                          <a:spcPts val="1820"/>
                        </a:lnSpc>
                        <a:buNone/>
                      </a:pPr>
                      <a:r>
                        <a:rPr lang="en-US" sz="1300" b="1" dirty="0">
                          <a:solidFill>
                            <a:srgbClr val="1B2433"/>
                          </a:solidFill>
                          <a:latin typeface="IBM Plex Sans KR" pitchFamily="34" charset="0"/>
                          <a:ea typeface="IBM Plex Sans KR" pitchFamily="34" charset="-122"/>
                          <a:cs typeface="IBM Plex Sans KR" pitchFamily="34" charset="-120"/>
                        </a:rPr>
                        <a:t>TCN</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r>
              <a:tr h="359304">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구조 후보</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유닛 32·64·128 / 층 1·2</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필터 32·64·128 / 커널 2·3·5 / 팽창 auto·auto+1</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탐색 규모</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22개 고유 후보 · 66개 fold</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34개 고유 후보 · 102개 fold</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단계별 RMSE</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12.90 → 12.33 → 12.19 → 12.20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11.27 → 10.93 → 10.58 → 10.58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590418">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최종 선택</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168시간 · 128유닛 · 2층 · lr 0.001 · dropout 0.3 · batch 16</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24시간 · 128필터 · 커널 2 · auto+1 · lr 0.001 · dropout 0.3 · batch 32</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검증 성능</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RMSE 12.20 · 피크 MAE 15.64</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RMSE 10.58 · 피크 MAE 13.75</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r>
            </a:tbl>
          </a:graphicData>
        </a:graphic>
      </p:graphicFrame>
      <p:sp>
        <p:nvSpPr>
          <p:cNvPr id="12"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학습률 0.0001·0.0003·0.001 · dropout 0·0.1·0.2·0.3 · 단위 kW · 표 1·표 2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2. AI 예측모델 · 트리 모델 탐색</a:t>
            </a:r>
            <a:endParaRPr lang="en-US" sz="1300" dirty="0"/>
          </a:p>
        </p:txBody>
      </p:sp>
      <p:sp>
        <p:nvSpPr>
          <p:cNvPr id="3" name="Text 1"/>
          <p:cNvSpPr/>
          <p:nvPr>
            <p:ph type="title"/>
          </p:nvPr>
        </p:nvSpPr>
        <p:spPr>
          <a:xfrm>
            <a:off x="812800" y="1297918"/>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XGBoost·LightGBM은 108개 조합을 모두 평가했다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02768"/>
          <a:ext cx="10553700" cy="2977356"/>
        </p:xfrm>
        <a:graphic>
          <a:graphicData uri="http://schemas.openxmlformats.org/drawingml/2006/table">
            <a:tbl>
              <a:tblPr/>
              <a:tblGrid>
                <a:gridCol w="2110740"/>
                <a:gridCol w="4221480"/>
                <a:gridCol w="4221480"/>
              </a:tblGrid>
              <a:tr h="359304">
                <a:tc>
                  <a:txBody>
                    <a:bodyPr/>
                    <a:lstStyle/>
                    <a:p>
                      <a:pPr indent="0" marL="0">
                        <a:lnSpc>
                          <a:spcPts val="1820"/>
                        </a:lnSpc>
                        <a:buNone/>
                      </a:pPr>
                      <a:r>
                        <a:rPr lang="en-US" sz="1300" b="1" dirty="0">
                          <a:solidFill>
                            <a:srgbClr val="1B2433"/>
                          </a:solidFill>
                          <a:latin typeface="IBM Plex Sans KR" pitchFamily="34" charset="0"/>
                          <a:ea typeface="IBM Plex Sans KR" pitchFamily="34" charset="-122"/>
                          <a:cs typeface="IBM Plex Sans KR" pitchFamily="34" charset="-120"/>
                        </a:rPr>
                        <a:t>항목</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indent="0" marL="0">
                        <a:lnSpc>
                          <a:spcPts val="1820"/>
                        </a:lnSpc>
                        <a:buNone/>
                      </a:pPr>
                      <a:r>
                        <a:rPr lang="en-US" sz="1300" b="1" dirty="0">
                          <a:solidFill>
                            <a:srgbClr val="1B2433"/>
                          </a:solidFill>
                          <a:latin typeface="IBM Plex Sans KR" pitchFamily="34" charset="0"/>
                          <a:ea typeface="IBM Plex Sans KR" pitchFamily="34" charset="-122"/>
                          <a:cs typeface="IBM Plex Sans KR" pitchFamily="34" charset="-120"/>
                        </a:rPr>
                        <a:t>XGBoost</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indent="0" marL="0">
                        <a:lnSpc>
                          <a:spcPts val="1820"/>
                        </a:lnSpc>
                        <a:buNone/>
                      </a:pPr>
                      <a:r>
                        <a:rPr lang="en-US" sz="1300" b="1" dirty="0">
                          <a:solidFill>
                            <a:srgbClr val="1B2433"/>
                          </a:solidFill>
                          <a:latin typeface="IBM Plex Sans KR" pitchFamily="34" charset="0"/>
                          <a:ea typeface="IBM Plex Sans KR" pitchFamily="34" charset="-122"/>
                          <a:cs typeface="IBM Plex Sans KR" pitchFamily="34" charset="-120"/>
                        </a:rPr>
                        <a:t>LightGBM</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r>
              <a:tr h="359304">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탐색 범위</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max_depth 3·5·7 / min_child_weight 1·5</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num_leaves 7·15·31 / min_child_samples 20·50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590418">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공통 범위</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학습률 0.01·0.05·0.1 / 트리 200·500·1000 / colsample 0.8·1.0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학습률 0.01·0.05·0.1 / 트리 200·500·1000 / colsample 0.8·1.0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탐색 규모</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108개 조합 × 3 fold = 324개 결과</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108개 조합 × 3 fold = 324개 결과</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최저 검증 RMSE</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13.89 → 2% 이내 8개 후보</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12.83 → 2% 이내 13개 후보</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590418">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최종 선택</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28번: depth 3 · lr 0.1 · 트리 200 · min_child 5 · colsample 1.0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55번: leaves 15 · lr 0.05 · 트리 500 · min_child 50 · colsample 0.8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검증 성능</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RMSE 14.10 · 피크 MAE 16.81</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RMSE 13.04 · 피크 MAE 18.49</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r>
            </a:tbl>
          </a:graphicData>
        </a:graphic>
      </p:graphicFrame>
      <p:sp>
        <p:nvSpPr>
          <p:cNvPr id="5" name="Shape 2"/>
          <p:cNvSpPr/>
          <p:nvPr/>
        </p:nvSpPr>
        <p:spPr>
          <a:xfrm>
            <a:off x="825500" y="5234124"/>
            <a:ext cx="0" cy="290182"/>
          </a:xfrm>
          <a:prstGeom prst="line">
            <a:avLst/>
          </a:prstGeom>
          <a:noFill/>
          <a:ln w="25400">
            <a:solidFill>
              <a:srgbClr val="2A78D6"/>
            </a:solidFill>
            <a:prstDash val="solid"/>
          </a:ln>
        </p:spPr>
      </p:sp>
      <p:sp>
        <p:nvSpPr>
          <p:cNvPr id="6" name="Text 3"/>
          <p:cNvSpPr/>
          <p:nvPr/>
        </p:nvSpPr>
        <p:spPr>
          <a:xfrm>
            <a:off x="952500" y="5259524"/>
            <a:ext cx="10739501"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최저 RMSE 후보가 아니라 2% 범위 안에서 피크 MAE가 가장 낮은 후보를 골랐습니다. 신경망과 같은 규칙입니다.</a:t>
            </a:r>
            <a:endParaRPr lang="en-US" sz="13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단위 kW · 표 3·표 4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2. AI 예측모델 · 탐색 결과 한눈에</a:t>
            </a:r>
            <a:endParaRPr lang="en-US" sz="1300" dirty="0"/>
          </a:p>
        </p:txBody>
      </p:sp>
      <p:sp>
        <p:nvSpPr>
          <p:cNvPr id="3" name="Text 1"/>
          <p:cNvSpPr/>
          <p:nvPr>
            <p:ph type="title"/>
          </p:nvPr>
        </p:nvSpPr>
        <p:spPr>
          <a:xfrm>
            <a:off x="812800" y="1297918"/>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단계별로 오차를 줄이고 피크 오차도 함께 봤다</a:t>
            </a:r>
            <a:endParaRPr lang="en-US" sz="3000" dirty="0"/>
          </a:p>
        </p:txBody>
      </p:sp>
      <p:sp>
        <p:nvSpPr>
          <p:cNvPr id="4" name="Shape 2"/>
          <p:cNvSpPr/>
          <p:nvPr/>
        </p:nvSpPr>
        <p:spPr>
          <a:xfrm>
            <a:off x="812800" y="1990068"/>
            <a:ext cx="10566400" cy="3238500"/>
          </a:xfrm>
          <a:prstGeom prst="roundRect">
            <a:avLst>
              <a:gd name="adj" fmla="val 2353"/>
            </a:avLst>
          </a:prstGeom>
          <a:solidFill>
            <a:srgbClr val="FFFFFF"/>
          </a:solidFill>
          <a:ln/>
        </p:spPr>
      </p:sp>
      <p:pic>
        <p:nvPicPr>
          <p:cNvPr id="5" name="Image 0" descr="왼쪽: LSTM·TCN 단계별 선택 후보의 검증 RMSE(LSTM 12.90→12.20, TCN 11.27→10.58). 오른쪽: XGBoost·LightGBM 108개 조합의 검증 RMSE와 피크 구간 MAE 산점도, 최종 선택은 별표">    </p:cNvPr>
          <p:cNvPicPr>
            <a:picLocks noChangeAspect="1"/>
          </p:cNvPicPr>
          <p:nvPr/>
        </p:nvPicPr>
        <p:blipFill>
          <a:blip r:embed="rId1"/>
          <a:stretch>
            <a:fillRect/>
          </a:stretch>
        </p:blipFill>
        <p:spPr>
          <a:xfrm>
            <a:off x="1746669" y="1990068"/>
            <a:ext cx="8698662" cy="3238500"/>
          </a:xfrm>
          <a:prstGeom prst="rect">
            <a:avLst/>
          </a:prstGeom>
        </p:spPr>
      </p:pic>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그림 6. 신경망 단계별 탐색과 트리 전체 조합의 검증 결과 · 3개 시간순 fold 평균 · seed 42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2. AI 예측모델 · 앙상블과 확률 경보</a:t>
            </a:r>
            <a:endParaRPr lang="en-US" sz="1300" dirty="0"/>
          </a:p>
        </p:txBody>
      </p:sp>
      <p:sp>
        <p:nvSpPr>
          <p:cNvPr id="3" name="Text 1"/>
          <p:cNvSpPr/>
          <p:nvPr>
            <p:ph type="title"/>
          </p:nvPr>
        </p:nvSpPr>
        <p:spPr>
          <a:xfrm>
            <a:off x="812800" y="1297918"/>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장·단기 모델을 섞고 피크 확률로 경보</a:t>
            </a:r>
            <a:endParaRPr lang="en-US" sz="3000" dirty="0"/>
          </a:p>
        </p:txBody>
      </p:sp>
      <p:sp>
        <p:nvSpPr>
          <p:cNvPr id="4" name="Shape 2"/>
          <p:cNvSpPr/>
          <p:nvPr/>
        </p:nvSpPr>
        <p:spPr>
          <a:xfrm>
            <a:off x="815975" y="1993243"/>
            <a:ext cx="2406650" cy="786937"/>
          </a:xfrm>
          <a:prstGeom prst="roundRect">
            <a:avLst>
              <a:gd name="adj" fmla="val 12507"/>
            </a:avLst>
          </a:prstGeom>
          <a:solidFill>
            <a:srgbClr val="FFFFFF"/>
          </a:solidFill>
          <a:ln w="6350">
            <a:solidFill>
              <a:srgbClr val="DDE2E7"/>
            </a:solidFill>
            <a:prstDash val="solid"/>
          </a:ln>
        </p:spPr>
      </p:sp>
      <p:sp>
        <p:nvSpPr>
          <p:cNvPr id="5" name="Text 3"/>
          <p:cNvSpPr/>
          <p:nvPr/>
        </p:nvSpPr>
        <p:spPr>
          <a:xfrm>
            <a:off x="994833" y="2146697"/>
            <a:ext cx="211040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KR" pitchFamily="34" charset="0"/>
                <a:ea typeface="IBM Plex Sans KR" pitchFamily="34" charset="-122"/>
                <a:cs typeface="IBM Plex Sans KR" pitchFamily="34" charset="-120"/>
              </a:rPr>
              <a:t>LSTM · 168시간</a:t>
            </a:r>
            <a:endParaRPr lang="en-US" sz="1500" dirty="0"/>
          </a:p>
        </p:txBody>
      </p:sp>
      <p:sp>
        <p:nvSpPr>
          <p:cNvPr id="6" name="Text 4"/>
          <p:cNvSpPr/>
          <p:nvPr/>
        </p:nvSpPr>
        <p:spPr>
          <a:xfrm>
            <a:off x="994833" y="2413397"/>
            <a:ext cx="21104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장기 패턴 · 가중치 0.444</a:t>
            </a:r>
            <a:endParaRPr lang="en-US" sz="1200" dirty="0"/>
          </a:p>
        </p:txBody>
      </p:sp>
      <p:sp>
        <p:nvSpPr>
          <p:cNvPr id="7" name="Shape 5"/>
          <p:cNvSpPr/>
          <p:nvPr/>
        </p:nvSpPr>
        <p:spPr>
          <a:xfrm>
            <a:off x="815975" y="2888128"/>
            <a:ext cx="2406650" cy="786937"/>
          </a:xfrm>
          <a:prstGeom prst="roundRect">
            <a:avLst>
              <a:gd name="adj" fmla="val 12507"/>
            </a:avLst>
          </a:prstGeom>
          <a:solidFill>
            <a:srgbClr val="FFFFFF"/>
          </a:solidFill>
          <a:ln w="6350">
            <a:solidFill>
              <a:srgbClr val="DDE2E7"/>
            </a:solidFill>
            <a:prstDash val="solid"/>
          </a:ln>
        </p:spPr>
      </p:sp>
      <p:sp>
        <p:nvSpPr>
          <p:cNvPr id="8" name="Text 6"/>
          <p:cNvSpPr/>
          <p:nvPr/>
        </p:nvSpPr>
        <p:spPr>
          <a:xfrm>
            <a:off x="994833" y="3041588"/>
            <a:ext cx="211040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KR" pitchFamily="34" charset="0"/>
                <a:ea typeface="IBM Plex Sans KR" pitchFamily="34" charset="-122"/>
                <a:cs typeface="IBM Plex Sans KR" pitchFamily="34" charset="-120"/>
              </a:rPr>
              <a:t>TCN · 24시간</a:t>
            </a:r>
            <a:endParaRPr lang="en-US" sz="1500" dirty="0"/>
          </a:p>
        </p:txBody>
      </p:sp>
      <p:sp>
        <p:nvSpPr>
          <p:cNvPr id="9" name="Text 7"/>
          <p:cNvSpPr/>
          <p:nvPr/>
        </p:nvSpPr>
        <p:spPr>
          <a:xfrm>
            <a:off x="994833" y="3308288"/>
            <a:ext cx="21104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단기 변화 · 가중치 0.556</a:t>
            </a:r>
            <a:endParaRPr lang="en-US" sz="1200" dirty="0"/>
          </a:p>
        </p:txBody>
      </p:sp>
      <p:pic>
        <p:nvPicPr>
          <p:cNvPr id="10" name="Image 0" descr="arrow-right">    </p:cNvPr>
          <p:cNvPicPr>
            <a:picLocks noChangeAspect="1"/>
          </p:cNvPicPr>
          <p:nvPr/>
        </p:nvPicPr>
        <p:blipFill>
          <a:blip r:embed="rId1"/>
          <a:srcRect l="0" r="0" t="0" b="0"/>
          <a:stretch/>
        </p:blipFill>
        <p:spPr>
          <a:xfrm>
            <a:off x="3352800" y="2707153"/>
            <a:ext cx="406400" cy="254000"/>
          </a:xfrm>
          <a:prstGeom prst="rect">
            <a:avLst/>
          </a:prstGeom>
        </p:spPr>
      </p:pic>
      <p:sp>
        <p:nvSpPr>
          <p:cNvPr id="11" name="Shape 8"/>
          <p:cNvSpPr/>
          <p:nvPr/>
        </p:nvSpPr>
        <p:spPr>
          <a:xfrm>
            <a:off x="3886200" y="2303332"/>
            <a:ext cx="2032000" cy="1061641"/>
          </a:xfrm>
          <a:prstGeom prst="roundRect">
            <a:avLst>
              <a:gd name="adj" fmla="val 9570"/>
            </a:avLst>
          </a:prstGeom>
          <a:solidFill>
            <a:srgbClr val="2A78D6"/>
          </a:solidFill>
          <a:ln/>
        </p:spPr>
      </p:sp>
      <p:sp>
        <p:nvSpPr>
          <p:cNvPr id="12" name="Text 9"/>
          <p:cNvSpPr/>
          <p:nvPr/>
        </p:nvSpPr>
        <p:spPr>
          <a:xfrm>
            <a:off x="4064000" y="2481132"/>
            <a:ext cx="17272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IBM Plex Sans KR" pitchFamily="34" charset="0"/>
                <a:ea typeface="IBM Plex Sans KR" pitchFamily="34" charset="-122"/>
                <a:cs typeface="IBM Plex Sans KR" pitchFamily="34" charset="-120"/>
              </a:rPr>
              <a:t>가중 앙상블</a:t>
            </a:r>
            <a:endParaRPr lang="en-US" sz="1500" dirty="0"/>
          </a:p>
        </p:txBody>
      </p:sp>
      <p:sp>
        <p:nvSpPr>
          <p:cNvPr id="13" name="Text 10"/>
          <p:cNvSpPr/>
          <p:nvPr/>
        </p:nvSpPr>
        <p:spPr>
          <a:xfrm>
            <a:off x="4064000" y="2760532"/>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BM Plex Sans KR" pitchFamily="34" charset="0"/>
                <a:ea typeface="IBM Plex Sans KR" pitchFamily="34" charset="-122"/>
                <a:cs typeface="IBM Plex Sans KR" pitchFamily="34" charset="-120"/>
              </a:rPr>
              <a:t>다음 1시간 예측 ŷ (kW)</a:t>
            </a:r>
            <a:endParaRPr lang="en-US" sz="1200" dirty="0"/>
          </a:p>
          <a:p>
            <a:pPr algn="l" indent="0" marL="0">
              <a:lnSpc>
                <a:spcPts val="1680"/>
              </a:lnSpc>
              <a:buNone/>
            </a:pPr>
            <a:r>
              <a:rPr lang="en-US" sz="1200" dirty="0">
                <a:solidFill>
                  <a:srgbClr val="FFFFFF"/>
                </a:solidFill>
                <a:latin typeface="IBM Plex Sans KR" pitchFamily="34" charset="0"/>
                <a:ea typeface="IBM Plex Sans KR" pitchFamily="34" charset="-122"/>
                <a:cs typeface="IBM Plex Sans KR" pitchFamily="34" charset="-120"/>
              </a:rPr>
              <a:t>가중치 = 1 / 검증 MSE</a:t>
            </a:r>
            <a:endParaRPr lang="en-US" sz="1200" dirty="0"/>
          </a:p>
        </p:txBody>
      </p:sp>
      <p:pic>
        <p:nvPicPr>
          <p:cNvPr id="14" name="Image 1" descr="arrow-right">    </p:cNvPr>
          <p:cNvPicPr>
            <a:picLocks noChangeAspect="1"/>
          </p:cNvPicPr>
          <p:nvPr/>
        </p:nvPicPr>
        <p:blipFill>
          <a:blip r:embed="rId2"/>
          <a:srcRect l="0" r="0" t="0" b="0"/>
          <a:stretch/>
        </p:blipFill>
        <p:spPr>
          <a:xfrm>
            <a:off x="6045200" y="2707153"/>
            <a:ext cx="406400" cy="254000"/>
          </a:xfrm>
          <a:prstGeom prst="rect">
            <a:avLst/>
          </a:prstGeom>
        </p:spPr>
      </p:pic>
      <p:sp>
        <p:nvSpPr>
          <p:cNvPr id="15" name="Shape 11"/>
          <p:cNvSpPr/>
          <p:nvPr/>
        </p:nvSpPr>
        <p:spPr>
          <a:xfrm>
            <a:off x="6578600" y="2162373"/>
            <a:ext cx="4800600" cy="1343554"/>
          </a:xfrm>
          <a:prstGeom prst="roundRect">
            <a:avLst>
              <a:gd name="adj" fmla="val 7562"/>
            </a:avLst>
          </a:prstGeom>
          <a:solidFill>
            <a:srgbClr val="13202E"/>
          </a:solidFill>
          <a:ln/>
        </p:spPr>
      </p:sp>
      <p:sp>
        <p:nvSpPr>
          <p:cNvPr id="16" name="Text 12"/>
          <p:cNvSpPr/>
          <p:nvPr/>
        </p:nvSpPr>
        <p:spPr>
          <a:xfrm>
            <a:off x="6756400" y="2340173"/>
            <a:ext cx="457835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7F4"/>
                </a:solidFill>
                <a:latin typeface="IBM Plex Sans KR" pitchFamily="34" charset="0"/>
                <a:ea typeface="IBM Plex Sans KR" pitchFamily="34" charset="-122"/>
                <a:cs typeface="IBM Plex Sans KR" pitchFamily="34" charset="-120"/>
              </a:rPr>
              <a:t>피크 확률 → 경보</a:t>
            </a:r>
            <a:endParaRPr lang="en-US" sz="1500" dirty="0"/>
          </a:p>
        </p:txBody>
      </p:sp>
      <p:sp>
        <p:nvSpPr>
          <p:cNvPr id="17" name="Text 13"/>
          <p:cNvSpPr/>
          <p:nvPr/>
        </p:nvSpPr>
        <p:spPr>
          <a:xfrm>
            <a:off x="6756400" y="2619573"/>
            <a:ext cx="457835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7F4"/>
                </a:solidFill>
                <a:latin typeface="IBM Plex Mono" pitchFamily="49" charset="0"/>
                <a:ea typeface="IBM Plex Mono" pitchFamily="49" charset="-122"/>
                <a:cs typeface="IBM Plex Mono" pitchFamily="49" charset="-120"/>
              </a:rPr>
              <a:t>P = 1 − Φ((177 − ŷ) / σ)</a:t>
            </a:r>
            <a:endParaRPr lang="en-US" sz="1300" dirty="0"/>
          </a:p>
        </p:txBody>
      </p:sp>
      <p:sp>
        <p:nvSpPr>
          <p:cNvPr id="18" name="Text 14"/>
          <p:cNvSpPr/>
          <p:nvPr/>
        </p:nvSpPr>
        <p:spPr>
          <a:xfrm>
            <a:off x="6756400" y="2901491"/>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A"/>
                </a:solidFill>
                <a:latin typeface="IBM Plex Sans KR" pitchFamily="34" charset="0"/>
                <a:ea typeface="IBM Plex Sans KR" pitchFamily="34" charset="-122"/>
                <a:cs typeface="IBM Plex Sans KR" pitchFamily="34" charset="-120"/>
              </a:rPr>
              <a:t>σ = 10.43 kW (검증 잔차)</a:t>
            </a:r>
            <a:endParaRPr lang="en-US" sz="1200" dirty="0"/>
          </a:p>
          <a:p>
            <a:pPr algn="l" indent="0" marL="0">
              <a:lnSpc>
                <a:spcPts val="1680"/>
              </a:lnSpc>
              <a:buNone/>
            </a:pPr>
            <a:r>
              <a:rPr lang="en-US" sz="1200" dirty="0">
                <a:solidFill>
                  <a:srgbClr val="BFCCDA"/>
                </a:solidFill>
                <a:latin typeface="IBM Plex Sans KR" pitchFamily="34" charset="0"/>
                <a:ea typeface="IBM Plex Sans KR" pitchFamily="34" charset="-122"/>
                <a:cs typeface="IBM Plex Sans KR" pitchFamily="34" charset="-120"/>
              </a:rPr>
              <a:t>P ≥ 0.20 이면 경보</a:t>
            </a:r>
            <a:endParaRPr lang="en-US" sz="1200" dirty="0"/>
          </a:p>
        </p:txBody>
      </p:sp>
      <p:sp>
        <p:nvSpPr>
          <p:cNvPr id="19" name="Shape 15"/>
          <p:cNvSpPr/>
          <p:nvPr/>
        </p:nvSpPr>
        <p:spPr>
          <a:xfrm>
            <a:off x="812800" y="3944937"/>
            <a:ext cx="3403600" cy="0"/>
          </a:xfrm>
          <a:prstGeom prst="line">
            <a:avLst/>
          </a:prstGeom>
          <a:noFill/>
          <a:ln w="25400">
            <a:solidFill>
              <a:srgbClr val="2A78D6"/>
            </a:solidFill>
            <a:prstDash val="solid"/>
          </a:ln>
        </p:spPr>
      </p:sp>
      <p:sp>
        <p:nvSpPr>
          <p:cNvPr id="20" name="Text 16"/>
          <p:cNvSpPr/>
          <p:nvPr/>
        </p:nvSpPr>
        <p:spPr>
          <a:xfrm>
            <a:off x="812800" y="4071938"/>
            <a:ext cx="3505708"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3202E"/>
                </a:solidFill>
                <a:latin typeface="IBM Plex Mono" pitchFamily="49" charset="0"/>
                <a:ea typeface="IBM Plex Mono" pitchFamily="49" charset="-122"/>
                <a:cs typeface="IBM Plex Mono" pitchFamily="49" charset="-120"/>
              </a:rPr>
              <a:t>10.50 kW</a:t>
            </a:r>
            <a:endParaRPr lang="en-US" sz="2800" dirty="0"/>
          </a:p>
        </p:txBody>
      </p:sp>
      <p:sp>
        <p:nvSpPr>
          <p:cNvPr id="21" name="Text 17"/>
          <p:cNvSpPr/>
          <p:nvPr/>
        </p:nvSpPr>
        <p:spPr>
          <a:xfrm>
            <a:off x="812800" y="4607855"/>
            <a:ext cx="35057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앙상블 검증 RMSE</a:t>
            </a:r>
            <a:endParaRPr lang="en-US" sz="1200" dirty="0"/>
          </a:p>
        </p:txBody>
      </p:sp>
      <p:sp>
        <p:nvSpPr>
          <p:cNvPr id="22" name="Shape 18"/>
          <p:cNvSpPr/>
          <p:nvPr/>
        </p:nvSpPr>
        <p:spPr>
          <a:xfrm>
            <a:off x="4394200" y="3944937"/>
            <a:ext cx="3403600" cy="0"/>
          </a:xfrm>
          <a:prstGeom prst="line">
            <a:avLst/>
          </a:prstGeom>
          <a:noFill/>
          <a:ln w="25400">
            <a:solidFill>
              <a:srgbClr val="2A78D6"/>
            </a:solidFill>
            <a:prstDash val="solid"/>
          </a:ln>
        </p:spPr>
      </p:sp>
      <p:sp>
        <p:nvSpPr>
          <p:cNvPr id="23" name="Text 19"/>
          <p:cNvSpPr/>
          <p:nvPr/>
        </p:nvSpPr>
        <p:spPr>
          <a:xfrm>
            <a:off x="4394200" y="4071938"/>
            <a:ext cx="3505708"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3202E"/>
                </a:solidFill>
                <a:latin typeface="IBM Plex Mono" pitchFamily="49" charset="0"/>
                <a:ea typeface="IBM Plex Mono" pitchFamily="49" charset="-122"/>
                <a:cs typeface="IBM Plex Mono" pitchFamily="49" charset="-120"/>
              </a:rPr>
              <a:t>0.663</a:t>
            </a:r>
            <a:endParaRPr lang="en-US" sz="2800" dirty="0"/>
          </a:p>
        </p:txBody>
      </p:sp>
      <p:sp>
        <p:nvSpPr>
          <p:cNvPr id="24" name="Text 20"/>
          <p:cNvSpPr/>
          <p:nvPr/>
        </p:nvSpPr>
        <p:spPr>
          <a:xfrm>
            <a:off x="4394200" y="4607855"/>
            <a:ext cx="35057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검증 경보 F1</a:t>
            </a:r>
            <a:endParaRPr lang="en-US" sz="1200" dirty="0"/>
          </a:p>
        </p:txBody>
      </p:sp>
      <p:sp>
        <p:nvSpPr>
          <p:cNvPr id="25" name="Shape 21"/>
          <p:cNvSpPr/>
          <p:nvPr/>
        </p:nvSpPr>
        <p:spPr>
          <a:xfrm>
            <a:off x="7975600" y="3944937"/>
            <a:ext cx="3403600" cy="0"/>
          </a:xfrm>
          <a:prstGeom prst="line">
            <a:avLst/>
          </a:prstGeom>
          <a:noFill/>
          <a:ln w="25400">
            <a:solidFill>
              <a:srgbClr val="C2571A"/>
            </a:solidFill>
            <a:prstDash val="solid"/>
          </a:ln>
        </p:spPr>
      </p:sp>
      <p:sp>
        <p:nvSpPr>
          <p:cNvPr id="26" name="Text 22"/>
          <p:cNvSpPr/>
          <p:nvPr/>
        </p:nvSpPr>
        <p:spPr>
          <a:xfrm>
            <a:off x="7975600" y="4071938"/>
            <a:ext cx="3505708"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3202E"/>
                </a:solidFill>
                <a:latin typeface="IBM Plex Mono" pitchFamily="49" charset="0"/>
                <a:ea typeface="IBM Plex Mono" pitchFamily="49" charset="-122"/>
                <a:cs typeface="IBM Plex Mono" pitchFamily="49" charset="-120"/>
              </a:rPr>
              <a:t>0.20</a:t>
            </a:r>
            <a:endParaRPr lang="en-US" sz="2800" dirty="0"/>
          </a:p>
        </p:txBody>
      </p:sp>
      <p:sp>
        <p:nvSpPr>
          <p:cNvPr id="27" name="Text 23"/>
          <p:cNvSpPr/>
          <p:nvPr/>
        </p:nvSpPr>
        <p:spPr>
          <a:xfrm>
            <a:off x="7975600" y="4607855"/>
            <a:ext cx="35057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경보 기준 (검증 F1 최대)</a:t>
            </a:r>
            <a:endParaRPr lang="en-US" sz="1200" dirty="0"/>
          </a:p>
        </p:txBody>
      </p:sp>
      <p:sp>
        <p:nvSpPr>
          <p:cNvPr id="28"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Φ: 표준정규 누적분포 · σ와 경보 기준은 검증 구간에서만 계산, Test 정보 미사용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2. AI 예측모델 · 최종 Test 비교</a:t>
            </a:r>
            <a:endParaRPr lang="en-US" sz="1300" dirty="0"/>
          </a:p>
        </p:txBody>
      </p:sp>
      <p:sp>
        <p:nvSpPr>
          <p:cNvPr id="3" name="Text 1"/>
          <p:cNvSpPr/>
          <p:nvPr>
            <p:ph type="title"/>
          </p:nvPr>
        </p:nvSpPr>
        <p:spPr>
          <a:xfrm>
            <a:off x="812800" y="1297918"/>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Test 703시간, 앙상블이 RMSE·F1 1위</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02768"/>
          <a:ext cx="10553700" cy="3087688"/>
        </p:xfrm>
        <a:graphic>
          <a:graphicData uri="http://schemas.openxmlformats.org/drawingml/2006/table">
            <a:tbl>
              <a:tblPr/>
              <a:tblGrid>
                <a:gridCol w="2955036"/>
                <a:gridCol w="1266444"/>
                <a:gridCol w="1266444"/>
                <a:gridCol w="1266444"/>
                <a:gridCol w="1266444"/>
                <a:gridCol w="1266444"/>
                <a:gridCol w="1266444"/>
              </a:tblGrid>
              <a:tr h="385961">
                <a:tc>
                  <a:txBody>
                    <a:bodyPr/>
                    <a:lstStyle/>
                    <a:p>
                      <a:pPr indent="0" marL="0">
                        <a:lnSpc>
                          <a:spcPts val="1960"/>
                        </a:lnSpc>
                        <a:buNone/>
                      </a:pPr>
                      <a:r>
                        <a:rPr lang="en-US" sz="1400" b="1" dirty="0">
                          <a:solidFill>
                            <a:srgbClr val="1B2433"/>
                          </a:solidFill>
                          <a:latin typeface="IBM Plex Sans KR" pitchFamily="34" charset="0"/>
                          <a:ea typeface="IBM Plex Sans KR" pitchFamily="34" charset="-122"/>
                          <a:cs typeface="IBM Plex Sans KR" pitchFamily="34" charset="-120"/>
                        </a:rPr>
                        <a:t>모델</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algn="r" indent="0" marL="0">
                        <a:lnSpc>
                          <a:spcPts val="1960"/>
                        </a:lnSpc>
                        <a:buNone/>
                      </a:pPr>
                      <a:r>
                        <a:rPr lang="en-US" sz="1400" b="1" dirty="0">
                          <a:solidFill>
                            <a:srgbClr val="1B2433"/>
                          </a:solidFill>
                          <a:latin typeface="IBM Plex Sans KR" pitchFamily="34" charset="0"/>
                          <a:ea typeface="IBM Plex Sans KR" pitchFamily="34" charset="-122"/>
                          <a:cs typeface="IBM Plex Sans KR" pitchFamily="34" charset="-120"/>
                        </a:rPr>
                        <a:t>RMSE</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algn="r" indent="0" marL="0">
                        <a:lnSpc>
                          <a:spcPts val="1960"/>
                        </a:lnSpc>
                        <a:buNone/>
                      </a:pPr>
                      <a:r>
                        <a:rPr lang="en-US" sz="1400" b="1" dirty="0">
                          <a:solidFill>
                            <a:srgbClr val="1B2433"/>
                          </a:solidFill>
                          <a:latin typeface="IBM Plex Sans KR" pitchFamily="34" charset="0"/>
                          <a:ea typeface="IBM Plex Sans KR" pitchFamily="34" charset="-122"/>
                          <a:cs typeface="IBM Plex Sans KR" pitchFamily="34" charset="-120"/>
                        </a:rPr>
                        <a:t>MAE</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algn="r" indent="0" marL="0">
                        <a:lnSpc>
                          <a:spcPts val="1960"/>
                        </a:lnSpc>
                        <a:buNone/>
                      </a:pPr>
                      <a:r>
                        <a:rPr lang="en-US" sz="1400" b="1" dirty="0">
                          <a:solidFill>
                            <a:srgbClr val="1B2433"/>
                          </a:solidFill>
                          <a:latin typeface="IBM Plex Sans KR" pitchFamily="34" charset="0"/>
                          <a:ea typeface="IBM Plex Sans KR" pitchFamily="34" charset="-122"/>
                          <a:cs typeface="IBM Plex Sans KR" pitchFamily="34" charset="-120"/>
                        </a:rPr>
                        <a:t>피크 F1</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algn="r" indent="0" marL="0">
                        <a:lnSpc>
                          <a:spcPts val="1960"/>
                        </a:lnSpc>
                        <a:buNone/>
                      </a:pPr>
                      <a:r>
                        <a:rPr lang="en-US" sz="1400" b="1" dirty="0">
                          <a:solidFill>
                            <a:srgbClr val="1B2433"/>
                          </a:solidFill>
                          <a:latin typeface="IBM Plex Sans KR" pitchFamily="34" charset="0"/>
                          <a:ea typeface="IBM Plex Sans KR" pitchFamily="34" charset="-122"/>
                          <a:cs typeface="IBM Plex Sans KR" pitchFamily="34" charset="-120"/>
                        </a:rPr>
                        <a:t>재현율</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algn="r" indent="0" marL="0">
                        <a:lnSpc>
                          <a:spcPts val="1960"/>
                        </a:lnSpc>
                        <a:buNone/>
                      </a:pPr>
                      <a:r>
                        <a:rPr lang="en-US" sz="1400" b="1" dirty="0">
                          <a:solidFill>
                            <a:srgbClr val="1B2433"/>
                          </a:solidFill>
                          <a:latin typeface="IBM Plex Sans KR" pitchFamily="34" charset="0"/>
                          <a:ea typeface="IBM Plex Sans KR" pitchFamily="34" charset="-122"/>
                          <a:cs typeface="IBM Plex Sans KR" pitchFamily="34" charset="-120"/>
                        </a:rPr>
                        <a:t>미탐지</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algn="r" indent="0" marL="0">
                        <a:lnSpc>
                          <a:spcPts val="1960"/>
                        </a:lnSpc>
                        <a:buNone/>
                      </a:pPr>
                      <a:r>
                        <a:rPr lang="en-US" sz="1400" b="1" dirty="0">
                          <a:solidFill>
                            <a:srgbClr val="1B2433"/>
                          </a:solidFill>
                          <a:latin typeface="IBM Plex Sans KR" pitchFamily="34" charset="0"/>
                          <a:ea typeface="IBM Plex Sans KR" pitchFamily="34" charset="-122"/>
                          <a:cs typeface="IBM Plex Sans KR" pitchFamily="34" charset="-120"/>
                        </a:rPr>
                        <a:t>오경보</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r>
              <a:tr h="385961">
                <a:tc>
                  <a:txBody>
                    <a:bodyPr/>
                    <a:lstStyle/>
                    <a:p>
                      <a:pPr indent="0" marL="0">
                        <a:lnSpc>
                          <a:spcPts val="1960"/>
                        </a:lnSpc>
                        <a:buNone/>
                      </a:pPr>
                      <a:r>
                        <a:rPr lang="en-US" sz="1400" dirty="0">
                          <a:solidFill>
                            <a:srgbClr val="7A8594"/>
                          </a:solidFill>
                          <a:latin typeface="IBM Plex Sans KR" pitchFamily="34" charset="0"/>
                          <a:ea typeface="IBM Plex Sans KR" pitchFamily="34" charset="-122"/>
                          <a:cs typeface="IBM Plex Sans KR" pitchFamily="34" charset="-120"/>
                        </a:rPr>
                        <a:t>기준선: 직전 시간</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7A8594"/>
                          </a:solidFill>
                          <a:latin typeface="IBM Plex Sans KR" pitchFamily="34" charset="0"/>
                          <a:ea typeface="IBM Plex Sans KR" pitchFamily="34" charset="-122"/>
                          <a:cs typeface="IBM Plex Sans KR" pitchFamily="34" charset="-120"/>
                        </a:rPr>
                        <a:t>25.74</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7A8594"/>
                          </a:solidFill>
                          <a:latin typeface="IBM Plex Sans KR" pitchFamily="34" charset="0"/>
                          <a:ea typeface="IBM Plex Sans KR" pitchFamily="34" charset="-122"/>
                          <a:cs typeface="IBM Plex Sans KR" pitchFamily="34" charset="-120"/>
                        </a:rPr>
                        <a:t>16.00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7A8594"/>
                          </a:solidFill>
                          <a:latin typeface="IBM Plex Sans KR" pitchFamily="34" charset="0"/>
                          <a:ea typeface="IBM Plex Sans KR" pitchFamily="34" charset="-122"/>
                          <a:cs typeface="IBM Plex Sans KR" pitchFamily="34" charset="-120"/>
                        </a:rPr>
                        <a:t>0.412</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7A8594"/>
                          </a:solidFill>
                          <a:latin typeface="IBM Plex Sans KR" pitchFamily="34" charset="0"/>
                          <a:ea typeface="IBM Plex Sans KR" pitchFamily="34" charset="-122"/>
                          <a:cs typeface="IBM Plex Sans KR" pitchFamily="34" charset="-120"/>
                        </a:rPr>
                        <a:t>57.1%</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7A8594"/>
                          </a:solidFill>
                          <a:latin typeface="IBM Plex Sans KR" pitchFamily="34" charset="0"/>
                          <a:ea typeface="IBM Plex Sans KR" pitchFamily="34" charset="-122"/>
                          <a:cs typeface="IBM Plex Sans KR" pitchFamily="34" charset="-120"/>
                        </a:rPr>
                        <a:t>21</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7A8594"/>
                          </a:solidFill>
                          <a:latin typeface="IBM Plex Sans KR" pitchFamily="34" charset="0"/>
                          <a:ea typeface="IBM Plex Sans KR" pitchFamily="34" charset="-122"/>
                          <a:cs typeface="IBM Plex Sans KR" pitchFamily="34" charset="-120"/>
                        </a:rPr>
                        <a:t>59</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7A8594"/>
                          </a:solidFill>
                          <a:latin typeface="IBM Plex Sans KR" pitchFamily="34" charset="0"/>
                          <a:ea typeface="IBM Plex Sans KR" pitchFamily="34" charset="-122"/>
                          <a:cs typeface="IBM Plex Sans KR" pitchFamily="34" charset="-120"/>
                        </a:rPr>
                        <a:t>기준선: 전주 같은 시각</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7A8594"/>
                          </a:solidFill>
                          <a:latin typeface="IBM Plex Sans KR" pitchFamily="34" charset="0"/>
                          <a:ea typeface="IBM Plex Sans KR" pitchFamily="34" charset="-122"/>
                          <a:cs typeface="IBM Plex Sans KR" pitchFamily="34" charset="-120"/>
                        </a:rPr>
                        <a:t>12.40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7A8594"/>
                          </a:solidFill>
                          <a:latin typeface="IBM Plex Sans KR" pitchFamily="34" charset="0"/>
                          <a:ea typeface="IBM Plex Sans KR" pitchFamily="34" charset="-122"/>
                          <a:cs typeface="IBM Plex Sans KR" pitchFamily="34" charset="-120"/>
                        </a:rPr>
                        <a:t>8.26</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7A8594"/>
                          </a:solidFill>
                          <a:latin typeface="IBM Plex Sans KR" pitchFamily="34" charset="0"/>
                          <a:ea typeface="IBM Plex Sans KR" pitchFamily="34" charset="-122"/>
                          <a:cs typeface="IBM Plex Sans KR" pitchFamily="34" charset="-120"/>
                        </a:rPr>
                        <a:t>0.366</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7A8594"/>
                          </a:solidFill>
                          <a:latin typeface="IBM Plex Sans KR" pitchFamily="34" charset="0"/>
                          <a:ea typeface="IBM Plex Sans KR" pitchFamily="34" charset="-122"/>
                          <a:cs typeface="IBM Plex Sans KR" pitchFamily="34" charset="-120"/>
                        </a:rPr>
                        <a:t>71.4%</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7A8594"/>
                          </a:solidFill>
                          <a:latin typeface="IBM Plex Sans KR" pitchFamily="34" charset="0"/>
                          <a:ea typeface="IBM Plex Sans KR" pitchFamily="34" charset="-122"/>
                          <a:cs typeface="IBM Plex Sans KR" pitchFamily="34" charset="-120"/>
                        </a:rPr>
                        <a:t>14</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7A8594"/>
                          </a:solidFill>
                          <a:latin typeface="IBM Plex Sans KR" pitchFamily="34" charset="0"/>
                          <a:ea typeface="IBM Plex Sans KR" pitchFamily="34" charset="-122"/>
                          <a:cs typeface="IBM Plex Sans KR" pitchFamily="34" charset="-120"/>
                        </a:rPr>
                        <a:t>107</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XGBoost</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11.53</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7.07</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0.481</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89.8%</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5</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90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LightGBM</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10.78</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6.39</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0.503</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95.9%</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2</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91</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LSTM</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9.17</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6.46</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0.454</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100.0%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118</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TCN</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10.07</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6.57</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0.506</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87.8%</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6</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78</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가중 앙상블 (최종)</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8.67</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5.90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0.527</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98.0%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1</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algn="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85</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r>
            </a:tbl>
          </a:graphicData>
        </a:graphic>
      </p:graphicFrame>
      <p:sp>
        <p:nvSpPr>
          <p:cNvPr id="5" name="Text 2"/>
          <p:cNvSpPr/>
          <p:nvPr/>
        </p:nvSpPr>
        <p:spPr>
          <a:xfrm>
            <a:off x="812800" y="5344455"/>
            <a:ext cx="10883392"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앙상블: R² 0.975 · 정밀도 36.1% · 전주 같은 시각 기준선 대비 RMSE −30.0%</a:t>
            </a:r>
            <a:endParaRPr lang="en-US" sz="13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Test 2021-08-16 ~ 09-14 · 피크 49시간 · RMSE·MAE 단위 kW · seed 42 · 표 5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3. 영향요인 및 오류분석 · 15점</a:t>
            </a:r>
            <a:endParaRPr lang="en-US" sz="1300" dirty="0"/>
          </a:p>
        </p:txBody>
      </p:sp>
      <p:sp>
        <p:nvSpPr>
          <p:cNvPr id="3" name="Text 1"/>
          <p:cNvSpPr/>
          <p:nvPr>
            <p:ph type="title"/>
          </p:nvPr>
        </p:nvSpPr>
        <p:spPr>
          <a:xfrm>
            <a:off x="812800" y="1297918"/>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과거 전력이 가장 강한 단서, 다음은 시간 주기</a:t>
            </a:r>
            <a:endParaRPr lang="en-US" sz="3000" dirty="0"/>
          </a:p>
        </p:txBody>
      </p:sp>
      <p:sp>
        <p:nvSpPr>
          <p:cNvPr id="4" name="Shape 2"/>
          <p:cNvSpPr/>
          <p:nvPr/>
        </p:nvSpPr>
        <p:spPr>
          <a:xfrm>
            <a:off x="812800" y="1990068"/>
            <a:ext cx="7137400" cy="2654300"/>
          </a:xfrm>
          <a:prstGeom prst="roundRect">
            <a:avLst>
              <a:gd name="adj" fmla="val 2871"/>
            </a:avLst>
          </a:prstGeom>
          <a:solidFill>
            <a:srgbClr val="FFFFFF"/>
          </a:solidFill>
          <a:ln/>
        </p:spPr>
      </p:sp>
      <p:pic>
        <p:nvPicPr>
          <p:cNvPr id="5" name="Image 0" descr="XGBoost 168시간 묶음 순열 중요도(전력_평균_실수가 가장 크고 시간_cos, 시간_sin, 생산량, 주말여부 순)와 직전 생산량×오전 07~11시 조건별 Test 피크 발생률">    </p:cNvPr>
          <p:cNvPicPr>
            <a:picLocks noChangeAspect="1"/>
          </p:cNvPicPr>
          <p:nvPr/>
        </p:nvPicPr>
        <p:blipFill>
          <a:blip r:embed="rId1"/>
          <a:srcRect l="-55" r="-55" t="0" b="0"/>
          <a:stretch/>
        </p:blipFill>
        <p:spPr>
          <a:xfrm>
            <a:off x="812800" y="1990068"/>
            <a:ext cx="7137400" cy="2654300"/>
          </a:xfrm>
          <a:prstGeom prst="roundRect">
            <a:avLst>
              <a:gd name="adj" fmla="val 2871"/>
            </a:avLst>
          </a:prstGeom>
        </p:spPr>
      </p:pic>
      <p:sp>
        <p:nvSpPr>
          <p:cNvPr id="6" name="Shape 3"/>
          <p:cNvSpPr/>
          <p:nvPr/>
        </p:nvSpPr>
        <p:spPr>
          <a:xfrm>
            <a:off x="8204200" y="2002768"/>
            <a:ext cx="3175000" cy="0"/>
          </a:xfrm>
          <a:prstGeom prst="line">
            <a:avLst/>
          </a:prstGeom>
          <a:noFill/>
          <a:ln w="25400">
            <a:solidFill>
              <a:srgbClr val="2A78D6"/>
            </a:solidFill>
            <a:prstDash val="solid"/>
          </a:ln>
        </p:spPr>
      </p:sp>
      <p:sp>
        <p:nvSpPr>
          <p:cNvPr id="7" name="Text 4"/>
          <p:cNvSpPr/>
          <p:nvPr/>
        </p:nvSpPr>
        <p:spPr>
          <a:xfrm>
            <a:off x="8204200" y="2117068"/>
            <a:ext cx="32702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과거 전력을 섞으면</a:t>
            </a:r>
            <a:endParaRPr lang="en-US" sz="1200" dirty="0"/>
          </a:p>
        </p:txBody>
      </p:sp>
      <p:sp>
        <p:nvSpPr>
          <p:cNvPr id="8" name="Text 5"/>
          <p:cNvSpPr/>
          <p:nvPr/>
        </p:nvSpPr>
        <p:spPr>
          <a:xfrm>
            <a:off x="8204200" y="2368488"/>
            <a:ext cx="327025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3202E"/>
                </a:solidFill>
                <a:latin typeface="IBM Plex Mono" pitchFamily="49" charset="0"/>
                <a:ea typeface="IBM Plex Mono" pitchFamily="49" charset="-122"/>
                <a:cs typeface="IBM Plex Mono" pitchFamily="49" charset="-120"/>
              </a:rPr>
              <a:t>+63.75 · +62.57</a:t>
            </a:r>
            <a:endParaRPr lang="en-US" sz="2000" dirty="0"/>
          </a:p>
        </p:txBody>
      </p:sp>
      <p:sp>
        <p:nvSpPr>
          <p:cNvPr id="9" name="Shape 6"/>
          <p:cNvSpPr/>
          <p:nvPr/>
        </p:nvSpPr>
        <p:spPr>
          <a:xfrm>
            <a:off x="8204200" y="2863788"/>
            <a:ext cx="3175000" cy="0"/>
          </a:xfrm>
          <a:prstGeom prst="line">
            <a:avLst/>
          </a:prstGeom>
          <a:noFill/>
          <a:ln w="25400">
            <a:solidFill>
              <a:srgbClr val="2A78D6"/>
            </a:solidFill>
            <a:prstDash val="solid"/>
          </a:ln>
        </p:spPr>
      </p:sp>
      <p:sp>
        <p:nvSpPr>
          <p:cNvPr id="10" name="Text 7"/>
          <p:cNvSpPr/>
          <p:nvPr/>
        </p:nvSpPr>
        <p:spPr>
          <a:xfrm>
            <a:off x="8204200" y="2978088"/>
            <a:ext cx="32702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시간_cos</a:t>
            </a:r>
            <a:endParaRPr lang="en-US" sz="1200" dirty="0"/>
          </a:p>
        </p:txBody>
      </p:sp>
      <p:sp>
        <p:nvSpPr>
          <p:cNvPr id="11" name="Text 8"/>
          <p:cNvSpPr/>
          <p:nvPr/>
        </p:nvSpPr>
        <p:spPr>
          <a:xfrm>
            <a:off x="8204200" y="3229508"/>
            <a:ext cx="327025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3202E"/>
                </a:solidFill>
                <a:latin typeface="IBM Plex Mono" pitchFamily="49" charset="0"/>
                <a:ea typeface="IBM Plex Mono" pitchFamily="49" charset="-122"/>
                <a:cs typeface="IBM Plex Mono" pitchFamily="49" charset="-120"/>
              </a:rPr>
              <a:t>+2.48 · +2.98</a:t>
            </a:r>
            <a:endParaRPr lang="en-US" sz="2000" dirty="0"/>
          </a:p>
        </p:txBody>
      </p:sp>
      <p:sp>
        <p:nvSpPr>
          <p:cNvPr id="12" name="Shape 9"/>
          <p:cNvSpPr/>
          <p:nvPr/>
        </p:nvSpPr>
        <p:spPr>
          <a:xfrm>
            <a:off x="8204200" y="3724808"/>
            <a:ext cx="3175000" cy="0"/>
          </a:xfrm>
          <a:prstGeom prst="line">
            <a:avLst/>
          </a:prstGeom>
          <a:noFill/>
          <a:ln w="25400">
            <a:solidFill>
              <a:srgbClr val="2A78D6"/>
            </a:solidFill>
            <a:prstDash val="solid"/>
          </a:ln>
        </p:spPr>
      </p:sp>
      <p:sp>
        <p:nvSpPr>
          <p:cNvPr id="13" name="Text 10"/>
          <p:cNvSpPr/>
          <p:nvPr/>
        </p:nvSpPr>
        <p:spPr>
          <a:xfrm>
            <a:off x="8204200" y="3839108"/>
            <a:ext cx="32702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생산량 (XGBoost)</a:t>
            </a:r>
            <a:endParaRPr lang="en-US" sz="1200" dirty="0"/>
          </a:p>
        </p:txBody>
      </p:sp>
      <p:sp>
        <p:nvSpPr>
          <p:cNvPr id="14" name="Text 11"/>
          <p:cNvSpPr/>
          <p:nvPr/>
        </p:nvSpPr>
        <p:spPr>
          <a:xfrm>
            <a:off x="8204200" y="4090529"/>
            <a:ext cx="327025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3202E"/>
                </a:solidFill>
                <a:latin typeface="IBM Plex Mono" pitchFamily="49" charset="0"/>
                <a:ea typeface="IBM Plex Mono" pitchFamily="49" charset="-122"/>
                <a:cs typeface="IBM Plex Mono" pitchFamily="49" charset="-120"/>
              </a:rPr>
              <a:t>+1.23</a:t>
            </a:r>
            <a:endParaRPr lang="en-US" sz="2000" dirty="0"/>
          </a:p>
        </p:txBody>
      </p:sp>
      <p:sp>
        <p:nvSpPr>
          <p:cNvPr id="15" name="Text 12"/>
          <p:cNvSpPr/>
          <p:nvPr/>
        </p:nvSpPr>
        <p:spPr>
          <a:xfrm>
            <a:off x="812800" y="4898368"/>
            <a:ext cx="10883392"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공정의 연속 부하가 가장 강한 예측 단서이고, 시간 주기와 생산 강도를 함께 봐야 피크 대응이 정교해집니다.</a:t>
            </a:r>
            <a:endParaRPr lang="en-US" sz="13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각 변수의 과거 168시간 묶음을 5번 섞었을 때 Test RMSE 증가(kW), XGBoost · LightGBM 순 · 그림 8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7FB6EC"/>
                </a:solidFill>
                <a:latin typeface="IBM Plex Sans KR" pitchFamily="34" charset="0"/>
                <a:ea typeface="IBM Plex Sans KR" pitchFamily="34" charset="-122"/>
                <a:cs typeface="IBM Plex Sans KR" pitchFamily="34" charset="-120"/>
              </a:rPr>
              <a:t>3. 영향요인 및 오류분석 · 생산 × 조업 시간</a:t>
            </a:r>
            <a:endParaRPr lang="en-US" sz="1300" dirty="0"/>
          </a:p>
        </p:txBody>
      </p:sp>
      <p:sp>
        <p:nvSpPr>
          <p:cNvPr id="3" name="Text 1"/>
          <p:cNvSpPr/>
          <p:nvPr>
            <p:ph type="title"/>
          </p:nvPr>
        </p:nvSpPr>
        <p:spPr>
          <a:xfrm>
            <a:off x="812800" y="1297918"/>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6F7F4"/>
                </a:solidFill>
                <a:latin typeface="IBM Plex Sans KR" pitchFamily="34" charset="0"/>
                <a:ea typeface="IBM Plex Sans KR" pitchFamily="34" charset="-122"/>
                <a:cs typeface="IBM Plex Sans KR" pitchFamily="34" charset="-120"/>
              </a:rPr>
              <a:t>오전 조업 + 높은 생산이면 피크율 28.6%</a:t>
            </a:r>
            <a:endParaRPr lang="en-US" sz="3000" dirty="0"/>
          </a:p>
        </p:txBody>
      </p:sp>
      <p:sp>
        <p:nvSpPr>
          <p:cNvPr id="4" name="Text 2"/>
          <p:cNvSpPr/>
          <p:nvPr/>
        </p:nvSpPr>
        <p:spPr>
          <a:xfrm>
            <a:off x="787400" y="1990068"/>
            <a:ext cx="1574800" cy="487627"/>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BFCCDA"/>
                </a:solidFill>
                <a:latin typeface="IBM Plex Sans KR" pitchFamily="34" charset="0"/>
                <a:ea typeface="IBM Plex Sans KR" pitchFamily="34" charset="-122"/>
                <a:cs typeface="IBM Plex Sans KR" pitchFamily="34" charset="-120"/>
              </a:rPr>
              <a:t>그 외 시간</a:t>
            </a:r>
            <a:endParaRPr lang="en-US" sz="1300" dirty="0"/>
          </a:p>
        </p:txBody>
      </p:sp>
      <p:sp>
        <p:nvSpPr>
          <p:cNvPr id="5" name="Text 3"/>
          <p:cNvSpPr/>
          <p:nvPr/>
        </p:nvSpPr>
        <p:spPr>
          <a:xfrm>
            <a:off x="2404110" y="1990068"/>
            <a:ext cx="2354580" cy="487627"/>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BFCCDA"/>
                </a:solidFill>
                <a:latin typeface="IBM Plex Sans KR" pitchFamily="34" charset="0"/>
                <a:ea typeface="IBM Plex Sans KR" pitchFamily="34" charset="-122"/>
                <a:cs typeface="IBM Plex Sans KR" pitchFamily="34" charset="-120"/>
              </a:rPr>
              <a:t>오전 07~11시</a:t>
            </a:r>
            <a:endParaRPr lang="en-US" sz="1300" dirty="0"/>
          </a:p>
        </p:txBody>
      </p:sp>
      <p:sp>
        <p:nvSpPr>
          <p:cNvPr id="6" name="Text 4"/>
          <p:cNvSpPr/>
          <p:nvPr/>
        </p:nvSpPr>
        <p:spPr>
          <a:xfrm>
            <a:off x="4826000" y="1990068"/>
            <a:ext cx="2354580" cy="48762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FCCDA"/>
                </a:solidFill>
                <a:latin typeface="IBM Plex Sans KR" pitchFamily="34" charset="0"/>
                <a:ea typeface="IBM Plex Sans KR" pitchFamily="34" charset="-122"/>
                <a:cs typeface="IBM Plex Sans KR" pitchFamily="34" charset="-120"/>
              </a:rPr>
              <a:t>직전 생산</a:t>
            </a:r>
            <a:endParaRPr lang="en-US" sz="1300" dirty="0"/>
          </a:p>
          <a:p>
            <a:pPr algn="l" indent="0" marL="0">
              <a:lnSpc>
                <a:spcPts val="1820"/>
              </a:lnSpc>
              <a:buNone/>
            </a:pPr>
            <a:r>
              <a:rPr lang="en-US" sz="1300" b="1" dirty="0">
                <a:solidFill>
                  <a:srgbClr val="BFCCDA"/>
                </a:solidFill>
                <a:latin typeface="IBM Plex Sans KR" pitchFamily="34" charset="0"/>
                <a:ea typeface="IBM Plex Sans KR" pitchFamily="34" charset="-122"/>
                <a:cs typeface="IBM Plex Sans KR" pitchFamily="34" charset="-120"/>
              </a:rPr>
              <a:t>1,000 이하</a:t>
            </a:r>
            <a:endParaRPr lang="en-US" sz="1300" dirty="0"/>
          </a:p>
        </p:txBody>
      </p:sp>
      <p:sp>
        <p:nvSpPr>
          <p:cNvPr id="7" name="Shape 5"/>
          <p:cNvSpPr/>
          <p:nvPr/>
        </p:nvSpPr>
        <p:spPr>
          <a:xfrm>
            <a:off x="812800" y="2553891"/>
            <a:ext cx="1524000" cy="1092134"/>
          </a:xfrm>
          <a:prstGeom prst="roundRect">
            <a:avLst>
              <a:gd name="adj" fmla="val 6977"/>
            </a:avLst>
          </a:prstGeom>
          <a:solidFill>
            <a:srgbClr val="22354A"/>
          </a:solidFill>
          <a:ln/>
        </p:spPr>
      </p:sp>
      <p:sp>
        <p:nvSpPr>
          <p:cNvPr id="8" name="Text 6"/>
          <p:cNvSpPr/>
          <p:nvPr/>
        </p:nvSpPr>
        <p:spPr>
          <a:xfrm>
            <a:off x="1062679" y="2731691"/>
            <a:ext cx="1024176" cy="523214"/>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F6F7F4"/>
                </a:solidFill>
                <a:latin typeface="IBM Plex Mono" pitchFamily="49" charset="0"/>
                <a:ea typeface="IBM Plex Mono" pitchFamily="49" charset="-122"/>
                <a:cs typeface="IBM Plex Mono" pitchFamily="49" charset="-120"/>
              </a:rPr>
              <a:t>2.1%</a:t>
            </a:r>
            <a:endParaRPr lang="en-US" sz="2800" dirty="0"/>
          </a:p>
        </p:txBody>
      </p:sp>
      <p:sp>
        <p:nvSpPr>
          <p:cNvPr id="9" name="Text 7"/>
          <p:cNvSpPr/>
          <p:nvPr/>
        </p:nvSpPr>
        <p:spPr>
          <a:xfrm>
            <a:off x="1114028" y="3254908"/>
            <a:ext cx="92154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FCCDA"/>
                </a:solidFill>
                <a:latin typeface="IBM Plex Sans KR" pitchFamily="34" charset="0"/>
                <a:ea typeface="IBM Plex Sans KR" pitchFamily="34" charset="-122"/>
                <a:cs typeface="IBM Plex Sans KR" pitchFamily="34" charset="-120"/>
              </a:rPr>
              <a:t>9 / 433시간</a:t>
            </a:r>
            <a:endParaRPr lang="en-US" sz="1200" dirty="0"/>
          </a:p>
        </p:txBody>
      </p:sp>
      <p:sp>
        <p:nvSpPr>
          <p:cNvPr id="10" name="Shape 8"/>
          <p:cNvSpPr/>
          <p:nvPr/>
        </p:nvSpPr>
        <p:spPr>
          <a:xfrm>
            <a:off x="2438400" y="2553891"/>
            <a:ext cx="2286000" cy="1092134"/>
          </a:xfrm>
          <a:prstGeom prst="roundRect">
            <a:avLst>
              <a:gd name="adj" fmla="val 6977"/>
            </a:avLst>
          </a:prstGeom>
          <a:solidFill>
            <a:srgbClr val="2E4F73"/>
          </a:solidFill>
          <a:ln/>
        </p:spPr>
      </p:sp>
      <p:sp>
        <p:nvSpPr>
          <p:cNvPr id="11" name="Text 9"/>
          <p:cNvSpPr/>
          <p:nvPr/>
        </p:nvSpPr>
        <p:spPr>
          <a:xfrm>
            <a:off x="2941320" y="2731691"/>
            <a:ext cx="1280160" cy="523214"/>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F6F7F4"/>
                </a:solidFill>
                <a:latin typeface="IBM Plex Mono" pitchFamily="49" charset="0"/>
                <a:ea typeface="IBM Plex Mono" pitchFamily="49" charset="-122"/>
                <a:cs typeface="IBM Plex Mono" pitchFamily="49" charset="-120"/>
              </a:rPr>
              <a:t>14.4%</a:t>
            </a:r>
            <a:endParaRPr lang="en-US" sz="2800" dirty="0"/>
          </a:p>
        </p:txBody>
      </p:sp>
      <p:sp>
        <p:nvSpPr>
          <p:cNvPr id="12" name="Text 10"/>
          <p:cNvSpPr/>
          <p:nvPr/>
        </p:nvSpPr>
        <p:spPr>
          <a:xfrm>
            <a:off x="3040618" y="3254908"/>
            <a:ext cx="108156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FCCDA"/>
                </a:solidFill>
                <a:latin typeface="IBM Plex Sans KR" pitchFamily="34" charset="0"/>
                <a:ea typeface="IBM Plex Sans KR" pitchFamily="34" charset="-122"/>
                <a:cs typeface="IBM Plex Sans KR" pitchFamily="34" charset="-120"/>
              </a:rPr>
              <a:t>오전·낮은 생산</a:t>
            </a:r>
            <a:endParaRPr lang="en-US" sz="1200" dirty="0"/>
          </a:p>
        </p:txBody>
      </p:sp>
      <p:sp>
        <p:nvSpPr>
          <p:cNvPr id="13" name="Text 11"/>
          <p:cNvSpPr/>
          <p:nvPr/>
        </p:nvSpPr>
        <p:spPr>
          <a:xfrm>
            <a:off x="4826000" y="2553891"/>
            <a:ext cx="2354580" cy="111753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FCCDA"/>
                </a:solidFill>
                <a:latin typeface="IBM Plex Sans KR" pitchFamily="34" charset="0"/>
                <a:ea typeface="IBM Plex Sans KR" pitchFamily="34" charset="-122"/>
                <a:cs typeface="IBM Plex Sans KR" pitchFamily="34" charset="-120"/>
              </a:rPr>
              <a:t>직전 생산</a:t>
            </a:r>
            <a:endParaRPr lang="en-US" sz="1300" dirty="0"/>
          </a:p>
          <a:p>
            <a:pPr algn="l" indent="0" marL="0">
              <a:lnSpc>
                <a:spcPts val="1820"/>
              </a:lnSpc>
              <a:buNone/>
            </a:pPr>
            <a:r>
              <a:rPr lang="en-US" sz="1300" b="1" dirty="0">
                <a:solidFill>
                  <a:srgbClr val="BFCCDA"/>
                </a:solidFill>
                <a:latin typeface="IBM Plex Sans KR" pitchFamily="34" charset="0"/>
                <a:ea typeface="IBM Plex Sans KR" pitchFamily="34" charset="-122"/>
                <a:cs typeface="IBM Plex Sans KR" pitchFamily="34" charset="-120"/>
              </a:rPr>
              <a:t>1,000 초과</a:t>
            </a:r>
            <a:endParaRPr lang="en-US" sz="1300" dirty="0"/>
          </a:p>
        </p:txBody>
      </p:sp>
      <p:sp>
        <p:nvSpPr>
          <p:cNvPr id="14" name="Shape 12"/>
          <p:cNvSpPr/>
          <p:nvPr/>
        </p:nvSpPr>
        <p:spPr>
          <a:xfrm>
            <a:off x="812800" y="3747629"/>
            <a:ext cx="1524000" cy="1092134"/>
          </a:xfrm>
          <a:prstGeom prst="roundRect">
            <a:avLst>
              <a:gd name="adj" fmla="val 6977"/>
            </a:avLst>
          </a:prstGeom>
          <a:solidFill>
            <a:srgbClr val="2E4F73"/>
          </a:solidFill>
          <a:ln/>
        </p:spPr>
      </p:sp>
      <p:sp>
        <p:nvSpPr>
          <p:cNvPr id="15" name="Text 13"/>
          <p:cNvSpPr/>
          <p:nvPr/>
        </p:nvSpPr>
        <p:spPr>
          <a:xfrm>
            <a:off x="934720" y="3925429"/>
            <a:ext cx="1280160" cy="523214"/>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F6F7F4"/>
                </a:solidFill>
                <a:latin typeface="IBM Plex Mono" pitchFamily="49" charset="0"/>
                <a:ea typeface="IBM Plex Mono" pitchFamily="49" charset="-122"/>
                <a:cs typeface="IBM Plex Mono" pitchFamily="49" charset="-120"/>
              </a:rPr>
              <a:t>10.5%</a:t>
            </a:r>
            <a:endParaRPr lang="en-US" sz="2800" dirty="0"/>
          </a:p>
        </p:txBody>
      </p:sp>
      <p:sp>
        <p:nvSpPr>
          <p:cNvPr id="16" name="Text 14"/>
          <p:cNvSpPr/>
          <p:nvPr/>
        </p:nvSpPr>
        <p:spPr>
          <a:xfrm>
            <a:off x="1012428" y="4448646"/>
            <a:ext cx="112474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FCCDA"/>
                </a:solidFill>
                <a:latin typeface="IBM Plex Sans KR" pitchFamily="34" charset="0"/>
                <a:ea typeface="IBM Plex Sans KR" pitchFamily="34" charset="-122"/>
                <a:cs typeface="IBM Plex Sans KR" pitchFamily="34" charset="-120"/>
              </a:rPr>
              <a:t>그 외·높은 생산</a:t>
            </a:r>
            <a:endParaRPr lang="en-US" sz="1200" dirty="0"/>
          </a:p>
        </p:txBody>
      </p:sp>
      <p:sp>
        <p:nvSpPr>
          <p:cNvPr id="17" name="Shape 15"/>
          <p:cNvSpPr/>
          <p:nvPr/>
        </p:nvSpPr>
        <p:spPr>
          <a:xfrm>
            <a:off x="2438400" y="3747629"/>
            <a:ext cx="2286000" cy="1092134"/>
          </a:xfrm>
          <a:prstGeom prst="roundRect">
            <a:avLst>
              <a:gd name="adj" fmla="val 6977"/>
            </a:avLst>
          </a:prstGeom>
          <a:solidFill>
            <a:srgbClr val="2A78D6"/>
          </a:solidFill>
          <a:ln/>
        </p:spPr>
      </p:sp>
      <p:sp>
        <p:nvSpPr>
          <p:cNvPr id="18" name="Text 16"/>
          <p:cNvSpPr/>
          <p:nvPr/>
        </p:nvSpPr>
        <p:spPr>
          <a:xfrm>
            <a:off x="2941320" y="3925429"/>
            <a:ext cx="1280160" cy="523214"/>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FFFFFF"/>
                </a:solidFill>
                <a:latin typeface="IBM Plex Mono" pitchFamily="49" charset="0"/>
                <a:ea typeface="IBM Plex Mono" pitchFamily="49" charset="-122"/>
                <a:cs typeface="IBM Plex Mono" pitchFamily="49" charset="-120"/>
              </a:rPr>
              <a:t>28.6%</a:t>
            </a:r>
            <a:endParaRPr lang="en-US" sz="2800" dirty="0"/>
          </a:p>
        </p:txBody>
      </p:sp>
      <p:sp>
        <p:nvSpPr>
          <p:cNvPr id="19" name="Text 17"/>
          <p:cNvSpPr/>
          <p:nvPr/>
        </p:nvSpPr>
        <p:spPr>
          <a:xfrm>
            <a:off x="3120628" y="4448646"/>
            <a:ext cx="92154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FFFF"/>
                </a:solidFill>
                <a:latin typeface="IBM Plex Sans KR" pitchFamily="34" charset="0"/>
                <a:ea typeface="IBM Plex Sans KR" pitchFamily="34" charset="-122"/>
                <a:cs typeface="IBM Plex Sans KR" pitchFamily="34" charset="-120"/>
              </a:rPr>
              <a:t>12 / 42시간</a:t>
            </a:r>
            <a:endParaRPr lang="en-US" sz="1200" dirty="0"/>
          </a:p>
        </p:txBody>
      </p:sp>
      <p:sp>
        <p:nvSpPr>
          <p:cNvPr id="20" name="Text 18"/>
          <p:cNvSpPr/>
          <p:nvPr/>
        </p:nvSpPr>
        <p:spPr>
          <a:xfrm>
            <a:off x="7467600" y="2824361"/>
            <a:ext cx="469392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6F7F4"/>
                </a:solidFill>
                <a:latin typeface="IBM Plex Sans KR" pitchFamily="34" charset="0"/>
                <a:ea typeface="IBM Plex Sans KR" pitchFamily="34" charset="-122"/>
                <a:cs typeface="IBM Plex Sans KR" pitchFamily="34" charset="-120"/>
              </a:rPr>
              <a:t>두 조건이 겹치면 피크 발생률이 약 14배로 뜁니다.</a:t>
            </a:r>
            <a:endParaRPr lang="en-US" sz="1500" dirty="0"/>
          </a:p>
        </p:txBody>
      </p:sp>
      <p:sp>
        <p:nvSpPr>
          <p:cNvPr id="21" name="Text 19"/>
          <p:cNvSpPr/>
          <p:nvPr/>
        </p:nvSpPr>
        <p:spPr>
          <a:xfrm>
            <a:off x="7467600" y="3262511"/>
            <a:ext cx="4028948"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CCDA"/>
                </a:solidFill>
                <a:latin typeface="IBM Plex Sans KR" pitchFamily="34" charset="0"/>
                <a:ea typeface="IBM Plex Sans KR" pitchFamily="34" charset="-122"/>
                <a:cs typeface="IBM Plex Sans KR" pitchFamily="34" charset="-120"/>
              </a:rPr>
              <a:t>이 조합을 조업 계획 확인의 우선순위로 삼습니다. 교차 집계는 연관성이므로, 실제 조치는 작업 계획과 설비 상태를 확인한 뒤 정합니다.</a:t>
            </a:r>
            <a:endParaRPr lang="en-US" sz="13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B3"/>
                </a:solidFill>
                <a:latin typeface="IBM Plex Sans KR" pitchFamily="34" charset="0"/>
                <a:ea typeface="IBM Plex Sans KR" pitchFamily="34" charset="-122"/>
                <a:cs typeface="IBM Plex Sans KR" pitchFamily="34" charset="-120"/>
              </a:rPr>
              <a:t>Test 703시간 피크 발생률 · 그림 8 오른쪽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3. 영향요인 및 오류분석 · 미탐지</a:t>
            </a:r>
            <a:endParaRPr lang="en-US" sz="1300" dirty="0"/>
          </a:p>
        </p:txBody>
      </p:sp>
      <p:sp>
        <p:nvSpPr>
          <p:cNvPr id="3" name="Text 1"/>
          <p:cNvSpPr/>
          <p:nvPr>
            <p:ph type="title"/>
          </p:nvPr>
        </p:nvSpPr>
        <p:spPr>
          <a:xfrm>
            <a:off x="812800" y="1297918"/>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피크 49시간 중 48시간을 미리 경보</a:t>
            </a:r>
            <a:endParaRPr lang="en-US" sz="3000" dirty="0"/>
          </a:p>
        </p:txBody>
      </p:sp>
      <p:sp>
        <p:nvSpPr>
          <p:cNvPr id="4" name="Shape 2"/>
          <p:cNvSpPr/>
          <p:nvPr/>
        </p:nvSpPr>
        <p:spPr>
          <a:xfrm>
            <a:off x="812800" y="1990068"/>
            <a:ext cx="10566400" cy="2476500"/>
          </a:xfrm>
          <a:prstGeom prst="roundRect">
            <a:avLst>
              <a:gd name="adj" fmla="val 3077"/>
            </a:avLst>
          </a:prstGeom>
          <a:solidFill>
            <a:srgbClr val="FFFFFF"/>
          </a:solidFill>
          <a:ln/>
        </p:spPr>
      </p:sp>
      <p:pic>
        <p:nvPicPr>
          <p:cNvPr id="5" name="Image 0" descr="피크가 집중된 8월 20~27일의 실측 전력, 앙상블 예측, 경보 지점과 미탐지 1건. 177 kW 피크 기준 점선">    </p:cNvPr>
          <p:cNvPicPr>
            <a:picLocks noChangeAspect="1"/>
          </p:cNvPicPr>
          <p:nvPr/>
        </p:nvPicPr>
        <p:blipFill>
          <a:blip r:embed="rId1"/>
          <a:stretch>
            <a:fillRect/>
          </a:stretch>
        </p:blipFill>
        <p:spPr>
          <a:xfrm>
            <a:off x="2920840" y="1990068"/>
            <a:ext cx="6350320" cy="2476500"/>
          </a:xfrm>
          <a:prstGeom prst="rect">
            <a:avLst/>
          </a:prstGeom>
        </p:spPr>
      </p:pic>
      <p:sp>
        <p:nvSpPr>
          <p:cNvPr id="6" name="Shape 3"/>
          <p:cNvSpPr/>
          <p:nvPr/>
        </p:nvSpPr>
        <p:spPr>
          <a:xfrm>
            <a:off x="812800" y="4733268"/>
            <a:ext cx="2508250" cy="0"/>
          </a:xfrm>
          <a:prstGeom prst="line">
            <a:avLst/>
          </a:prstGeom>
          <a:noFill/>
          <a:ln w="25400">
            <a:solidFill>
              <a:srgbClr val="C2571A"/>
            </a:solidFill>
            <a:prstDash val="solid"/>
          </a:ln>
        </p:spPr>
      </p:sp>
      <p:sp>
        <p:nvSpPr>
          <p:cNvPr id="7" name="Text 4"/>
          <p:cNvSpPr/>
          <p:nvPr/>
        </p:nvSpPr>
        <p:spPr>
          <a:xfrm>
            <a:off x="812800" y="4834868"/>
            <a:ext cx="2583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미탐지 시각</a:t>
            </a:r>
            <a:endParaRPr lang="en-US" sz="1200" dirty="0"/>
          </a:p>
        </p:txBody>
      </p:sp>
      <p:sp>
        <p:nvSpPr>
          <p:cNvPr id="8" name="Text 5"/>
          <p:cNvSpPr/>
          <p:nvPr/>
        </p:nvSpPr>
        <p:spPr>
          <a:xfrm>
            <a:off x="812800" y="5073588"/>
            <a:ext cx="2583498"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3202E"/>
                </a:solidFill>
                <a:latin typeface="IBM Plex Sans KR" pitchFamily="34" charset="0"/>
                <a:ea typeface="IBM Plex Sans KR" pitchFamily="34" charset="-122"/>
                <a:cs typeface="IBM Plex Sans KR" pitchFamily="34" charset="-120"/>
              </a:rPr>
              <a:t>8/23 (월) 15시</a:t>
            </a:r>
            <a:endParaRPr lang="en-US" sz="1600" dirty="0"/>
          </a:p>
        </p:txBody>
      </p:sp>
      <p:sp>
        <p:nvSpPr>
          <p:cNvPr id="9" name="Shape 6"/>
          <p:cNvSpPr/>
          <p:nvPr/>
        </p:nvSpPr>
        <p:spPr>
          <a:xfrm>
            <a:off x="3498850" y="4733268"/>
            <a:ext cx="2508250" cy="0"/>
          </a:xfrm>
          <a:prstGeom prst="line">
            <a:avLst/>
          </a:prstGeom>
          <a:noFill/>
          <a:ln w="25400">
            <a:solidFill>
              <a:srgbClr val="C2571A"/>
            </a:solidFill>
            <a:prstDash val="solid"/>
          </a:ln>
        </p:spPr>
      </p:sp>
      <p:sp>
        <p:nvSpPr>
          <p:cNvPr id="10" name="Text 7"/>
          <p:cNvSpPr/>
          <p:nvPr/>
        </p:nvSpPr>
        <p:spPr>
          <a:xfrm>
            <a:off x="3498850" y="4834868"/>
            <a:ext cx="2583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실측 / 예측</a:t>
            </a:r>
            <a:endParaRPr lang="en-US" sz="1200" dirty="0"/>
          </a:p>
        </p:txBody>
      </p:sp>
      <p:sp>
        <p:nvSpPr>
          <p:cNvPr id="11" name="Text 8"/>
          <p:cNvSpPr/>
          <p:nvPr/>
        </p:nvSpPr>
        <p:spPr>
          <a:xfrm>
            <a:off x="3498850" y="5073588"/>
            <a:ext cx="2583498"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3202E"/>
                </a:solidFill>
                <a:latin typeface="IBM Plex Sans KR" pitchFamily="34" charset="0"/>
                <a:ea typeface="IBM Plex Sans KR" pitchFamily="34" charset="-122"/>
                <a:cs typeface="IBM Plex Sans KR" pitchFamily="34" charset="-120"/>
              </a:rPr>
              <a:t>179.5 / 167.9 kW</a:t>
            </a:r>
            <a:endParaRPr lang="en-US" sz="1600" dirty="0"/>
          </a:p>
        </p:txBody>
      </p:sp>
      <p:sp>
        <p:nvSpPr>
          <p:cNvPr id="12" name="Shape 9"/>
          <p:cNvSpPr/>
          <p:nvPr/>
        </p:nvSpPr>
        <p:spPr>
          <a:xfrm>
            <a:off x="6184900" y="4733268"/>
            <a:ext cx="2508250" cy="0"/>
          </a:xfrm>
          <a:prstGeom prst="line">
            <a:avLst/>
          </a:prstGeom>
          <a:noFill/>
          <a:ln w="25400">
            <a:solidFill>
              <a:srgbClr val="C2571A"/>
            </a:solidFill>
            <a:prstDash val="solid"/>
          </a:ln>
        </p:spPr>
      </p:sp>
      <p:sp>
        <p:nvSpPr>
          <p:cNvPr id="13" name="Text 10"/>
          <p:cNvSpPr/>
          <p:nvPr/>
        </p:nvSpPr>
        <p:spPr>
          <a:xfrm>
            <a:off x="6184900" y="4834868"/>
            <a:ext cx="2583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피크 확률</a:t>
            </a:r>
            <a:endParaRPr lang="en-US" sz="1200" dirty="0"/>
          </a:p>
        </p:txBody>
      </p:sp>
      <p:sp>
        <p:nvSpPr>
          <p:cNvPr id="14" name="Text 11"/>
          <p:cNvSpPr/>
          <p:nvPr/>
        </p:nvSpPr>
        <p:spPr>
          <a:xfrm>
            <a:off x="6184900" y="5073588"/>
            <a:ext cx="2583498"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3202E"/>
                </a:solidFill>
                <a:latin typeface="IBM Plex Sans KR" pitchFamily="34" charset="0"/>
                <a:ea typeface="IBM Plex Sans KR" pitchFamily="34" charset="-122"/>
                <a:cs typeface="IBM Plex Sans KR" pitchFamily="34" charset="-120"/>
              </a:rPr>
              <a:t>0.192 &lt; 기준 0.20</a:t>
            </a:r>
            <a:endParaRPr lang="en-US" sz="1600" dirty="0"/>
          </a:p>
        </p:txBody>
      </p:sp>
      <p:sp>
        <p:nvSpPr>
          <p:cNvPr id="15" name="Shape 12"/>
          <p:cNvSpPr/>
          <p:nvPr/>
        </p:nvSpPr>
        <p:spPr>
          <a:xfrm>
            <a:off x="8870950" y="4733268"/>
            <a:ext cx="2508250" cy="0"/>
          </a:xfrm>
          <a:prstGeom prst="line">
            <a:avLst/>
          </a:prstGeom>
          <a:noFill/>
          <a:ln w="25400">
            <a:solidFill>
              <a:srgbClr val="C2571A"/>
            </a:solidFill>
            <a:prstDash val="solid"/>
          </a:ln>
        </p:spPr>
      </p:sp>
      <p:sp>
        <p:nvSpPr>
          <p:cNvPr id="16" name="Text 13"/>
          <p:cNvSpPr/>
          <p:nvPr/>
        </p:nvSpPr>
        <p:spPr>
          <a:xfrm>
            <a:off x="8870950" y="4834868"/>
            <a:ext cx="2583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직전 생산량</a:t>
            </a:r>
            <a:endParaRPr lang="en-US" sz="1200" dirty="0"/>
          </a:p>
        </p:txBody>
      </p:sp>
      <p:sp>
        <p:nvSpPr>
          <p:cNvPr id="17" name="Text 14"/>
          <p:cNvSpPr/>
          <p:nvPr/>
        </p:nvSpPr>
        <p:spPr>
          <a:xfrm>
            <a:off x="8870950" y="5073588"/>
            <a:ext cx="2583498"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3202E"/>
                </a:solidFill>
                <a:latin typeface="IBM Plex Sans KR" pitchFamily="34" charset="0"/>
                <a:ea typeface="IBM Plex Sans KR" pitchFamily="34" charset="-122"/>
                <a:cs typeface="IBM Plex Sans KR" pitchFamily="34" charset="-120"/>
              </a:rPr>
              <a:t>4,563</a:t>
            </a:r>
            <a:endParaRPr lang="en-US" sz="1600" dirty="0"/>
          </a:p>
        </p:txBody>
      </p:sp>
      <p:sp>
        <p:nvSpPr>
          <p:cNvPr id="18"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그림 9. 피크 집중 기간의 실측·예측·경보 (2021-08-20 ~ 08-27)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3. 영향요인 및 오류분석 · 오경보와 미탐지 집중 시간</a:t>
            </a:r>
            <a:endParaRPr lang="en-US" sz="1300" dirty="0"/>
          </a:p>
        </p:txBody>
      </p:sp>
      <p:sp>
        <p:nvSpPr>
          <p:cNvPr id="3" name="Text 1"/>
          <p:cNvSpPr/>
          <p:nvPr>
            <p:ph type="title"/>
          </p:nvPr>
        </p:nvSpPr>
        <p:spPr>
          <a:xfrm>
            <a:off x="812800" y="1297918"/>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오경보·미탐지가 몰리는 시간대</a:t>
            </a:r>
            <a:endParaRPr lang="en-US" sz="3000" dirty="0"/>
          </a:p>
        </p:txBody>
      </p:sp>
      <p:sp>
        <p:nvSpPr>
          <p:cNvPr id="4" name="Shape 2"/>
          <p:cNvSpPr/>
          <p:nvPr/>
        </p:nvSpPr>
        <p:spPr>
          <a:xfrm>
            <a:off x="812800" y="1990068"/>
            <a:ext cx="10566400" cy="2032000"/>
          </a:xfrm>
          <a:prstGeom prst="roundRect">
            <a:avLst>
              <a:gd name="adj" fmla="val 3750"/>
            </a:avLst>
          </a:prstGeom>
          <a:solidFill>
            <a:srgbClr val="FFFFFF"/>
          </a:solidFill>
          <a:ln/>
        </p:spPr>
      </p:sp>
      <p:pic>
        <p:nvPicPr>
          <p:cNvPr id="5" name="Image 0" descr="왼쪽: 최종 Test 오경보 85건의 시간대 분포(08~18시, 09·11·13시 각 13건, 16시 12건). 오른쪽: 검증+Test 미탐지 집중 시간(08시 11건, 10시 10건, 16시 9건)">    </p:cNvPr>
          <p:cNvPicPr>
            <a:picLocks noChangeAspect="1"/>
          </p:cNvPicPr>
          <p:nvPr/>
        </p:nvPicPr>
        <p:blipFill>
          <a:blip r:embed="rId1"/>
          <a:stretch>
            <a:fillRect/>
          </a:stretch>
        </p:blipFill>
        <p:spPr>
          <a:xfrm>
            <a:off x="3230936" y="1990068"/>
            <a:ext cx="5730127" cy="2032000"/>
          </a:xfrm>
          <a:prstGeom prst="rect">
            <a:avLst/>
          </a:prstGeom>
        </p:spPr>
      </p:pic>
      <p:sp>
        <p:nvSpPr>
          <p:cNvPr id="6" name="Shape 3"/>
          <p:cNvSpPr/>
          <p:nvPr/>
        </p:nvSpPr>
        <p:spPr>
          <a:xfrm>
            <a:off x="815975" y="4279243"/>
            <a:ext cx="5187950" cy="1012891"/>
          </a:xfrm>
          <a:prstGeom prst="roundRect">
            <a:avLst>
              <a:gd name="adj" fmla="val 9717"/>
            </a:avLst>
          </a:prstGeom>
          <a:solidFill>
            <a:srgbClr val="FFFFFF"/>
          </a:solidFill>
          <a:ln w="6350">
            <a:solidFill>
              <a:srgbClr val="DDE2E7"/>
            </a:solidFill>
            <a:prstDash val="solid"/>
          </a:ln>
        </p:spPr>
      </p:sp>
      <p:sp>
        <p:nvSpPr>
          <p:cNvPr id="7" name="Text 4"/>
          <p:cNvSpPr/>
          <p:nvPr/>
        </p:nvSpPr>
        <p:spPr>
          <a:xfrm>
            <a:off x="994833" y="4432697"/>
            <a:ext cx="49751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E"/>
                </a:solidFill>
                <a:latin typeface="IBM Plex Sans KR" pitchFamily="34" charset="0"/>
                <a:ea typeface="IBM Plex Sans KR" pitchFamily="34" charset="-122"/>
                <a:cs typeface="IBM Plex Sans KR" pitchFamily="34" charset="-120"/>
              </a:rPr>
              <a:t>Test 오경보 85건</a:t>
            </a:r>
            <a:endParaRPr lang="en-US" sz="1400" dirty="0"/>
          </a:p>
        </p:txBody>
      </p:sp>
      <p:sp>
        <p:nvSpPr>
          <p:cNvPr id="8" name="Text 5"/>
          <p:cNvSpPr/>
          <p:nvPr/>
        </p:nvSpPr>
        <p:spPr>
          <a:xfrm>
            <a:off x="994833" y="4696817"/>
            <a:ext cx="4975140"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09·11·13시 각 13건, 16시 12건 → 경보 뒤 최근 계측값과 생산계획을 함께 확인</a:t>
            </a:r>
            <a:endParaRPr lang="en-US" sz="1200" dirty="0"/>
          </a:p>
        </p:txBody>
      </p:sp>
      <p:sp>
        <p:nvSpPr>
          <p:cNvPr id="9" name="Shape 6"/>
          <p:cNvSpPr/>
          <p:nvPr/>
        </p:nvSpPr>
        <p:spPr>
          <a:xfrm>
            <a:off x="6184900" y="4276068"/>
            <a:ext cx="5194300" cy="1019241"/>
          </a:xfrm>
          <a:prstGeom prst="roundRect">
            <a:avLst>
              <a:gd name="adj" fmla="val 9968"/>
            </a:avLst>
          </a:prstGeom>
          <a:solidFill>
            <a:srgbClr val="13202E"/>
          </a:solidFill>
          <a:ln/>
        </p:spPr>
      </p:sp>
      <p:sp>
        <p:nvSpPr>
          <p:cNvPr id="10" name="Text 7"/>
          <p:cNvSpPr/>
          <p:nvPr/>
        </p:nvSpPr>
        <p:spPr>
          <a:xfrm>
            <a:off x="6362700" y="4428468"/>
            <a:ext cx="49838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7F4"/>
                </a:solidFill>
                <a:latin typeface="IBM Plex Sans KR" pitchFamily="34" charset="0"/>
                <a:ea typeface="IBM Plex Sans KR" pitchFamily="34" charset="-122"/>
                <a:cs typeface="IBM Plex Sans KR" pitchFamily="34" charset="-120"/>
              </a:rPr>
              <a:t>검증+Test 2,911시간 · 피크 225시간</a:t>
            </a:r>
            <a:endParaRPr lang="en-US" sz="1400" dirty="0"/>
          </a:p>
        </p:txBody>
      </p:sp>
      <p:sp>
        <p:nvSpPr>
          <p:cNvPr id="11" name="Text 8"/>
          <p:cNvSpPr/>
          <p:nvPr/>
        </p:nvSpPr>
        <p:spPr>
          <a:xfrm>
            <a:off x="6362700" y="4692588"/>
            <a:ext cx="4983861"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FCCDA"/>
                </a:solidFill>
                <a:latin typeface="IBM Plex Sans KR" pitchFamily="34" charset="0"/>
                <a:ea typeface="IBM Plex Sans KR" pitchFamily="34" charset="-122"/>
                <a:cs typeface="IBM Plex Sans KR" pitchFamily="34" charset="-120"/>
              </a:rPr>
              <a:t>미탐지 57건(08시 11 · 10시 10 · 16시 9), 오경보 151건(13시 29 · 09시 25) → 우선 모니터링 시간대</a:t>
            </a:r>
            <a:endParaRPr lang="en-US" sz="12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그림 10. 시간대별 오경보 및 미탐지 집중 구간 · 가중 앙상블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4. 현장 활용방안 · 10점</a:t>
            </a:r>
            <a:endParaRPr lang="en-US" sz="1300" dirty="0"/>
          </a:p>
        </p:txBody>
      </p:sp>
      <p:sp>
        <p:nvSpPr>
          <p:cNvPr id="3" name="Text 1"/>
          <p:cNvSpPr/>
          <p:nvPr>
            <p:ph type="title"/>
          </p:nvPr>
        </p:nvSpPr>
        <p:spPr>
          <a:xfrm>
            <a:off x="812800" y="1297918"/>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3σ 관리한계와 피크 확률로 이중 감시</a:t>
            </a:r>
            <a:endParaRPr lang="en-US" sz="3000" dirty="0"/>
          </a:p>
        </p:txBody>
      </p:sp>
      <p:sp>
        <p:nvSpPr>
          <p:cNvPr id="4" name="Shape 2"/>
          <p:cNvSpPr/>
          <p:nvPr/>
        </p:nvSpPr>
        <p:spPr>
          <a:xfrm>
            <a:off x="812800" y="1990068"/>
            <a:ext cx="3937000" cy="1861675"/>
          </a:xfrm>
          <a:prstGeom prst="roundRect">
            <a:avLst>
              <a:gd name="adj" fmla="val 5457"/>
            </a:avLst>
          </a:prstGeom>
          <a:solidFill>
            <a:srgbClr val="13202E"/>
          </a:solidFill>
          <a:ln/>
        </p:spPr>
      </p:sp>
      <p:sp>
        <p:nvSpPr>
          <p:cNvPr id="5" name="Text 3"/>
          <p:cNvSpPr/>
          <p:nvPr/>
        </p:nvSpPr>
        <p:spPr>
          <a:xfrm>
            <a:off x="1041400" y="2218668"/>
            <a:ext cx="35841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CDA"/>
                </a:solidFill>
                <a:latin typeface="IBM Plex Sans KR" pitchFamily="34" charset="0"/>
                <a:ea typeface="IBM Plex Sans KR" pitchFamily="34" charset="-122"/>
                <a:cs typeface="IBM Plex Sans KR" pitchFamily="34" charset="-120"/>
              </a:rPr>
              <a:t>시각 t의 관리한계</a:t>
            </a:r>
            <a:endParaRPr lang="en-US" sz="1200" dirty="0"/>
          </a:p>
        </p:txBody>
      </p:sp>
      <p:sp>
        <p:nvSpPr>
          <p:cNvPr id="6" name="Text 4"/>
          <p:cNvSpPr/>
          <p:nvPr/>
        </p:nvSpPr>
        <p:spPr>
          <a:xfrm>
            <a:off x="1041400" y="2520888"/>
            <a:ext cx="3584194"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6F7F4"/>
                </a:solidFill>
                <a:latin typeface="IBM Plex Mono" pitchFamily="49" charset="0"/>
                <a:ea typeface="IBM Plex Mono" pitchFamily="49" charset="-122"/>
                <a:cs typeface="IBM Plex Mono" pitchFamily="49" charset="-120"/>
              </a:rPr>
              <a:t>UCL = 예측(t) + 3σ</a:t>
            </a:r>
            <a:endParaRPr lang="en-US" sz="1500" dirty="0"/>
          </a:p>
          <a:p>
            <a:pPr algn="l" indent="0" marL="0">
              <a:lnSpc>
                <a:spcPts val="2250"/>
              </a:lnSpc>
              <a:buNone/>
            </a:pPr>
            <a:r>
              <a:rPr lang="en-US" sz="1500" dirty="0">
                <a:solidFill>
                  <a:srgbClr val="F6F7F4"/>
                </a:solidFill>
                <a:latin typeface="IBM Plex Mono" pitchFamily="49" charset="0"/>
                <a:ea typeface="IBM Plex Mono" pitchFamily="49" charset="-122"/>
                <a:cs typeface="IBM Plex Mono" pitchFamily="49" charset="-120"/>
              </a:rPr>
              <a:t>LCL = max(0, 예측(t) − 3σ)</a:t>
            </a:r>
            <a:endParaRPr lang="en-US" sz="1500" dirty="0"/>
          </a:p>
        </p:txBody>
      </p:sp>
      <p:sp>
        <p:nvSpPr>
          <p:cNvPr id="7" name="Text 5"/>
          <p:cNvSpPr/>
          <p:nvPr/>
        </p:nvSpPr>
        <p:spPr>
          <a:xfrm>
            <a:off x="1041400" y="3181288"/>
            <a:ext cx="3584194"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FCCDA"/>
                </a:solidFill>
                <a:latin typeface="IBM Plex Sans KR" pitchFamily="34" charset="0"/>
                <a:ea typeface="IBM Plex Sans KR" pitchFamily="34" charset="-122"/>
                <a:cs typeface="IBM Plex Sans KR" pitchFamily="34" charset="-120"/>
              </a:rPr>
              <a:t>σ = 10.43 kW (검증 잔차, Test 미사용)</a:t>
            </a:r>
            <a:endParaRPr lang="en-US" sz="1200" dirty="0"/>
          </a:p>
          <a:p>
            <a:pPr algn="l" indent="0" marL="0">
              <a:lnSpc>
                <a:spcPts val="1740"/>
              </a:lnSpc>
              <a:buNone/>
            </a:pPr>
            <a:r>
              <a:rPr lang="en-US" sz="1200" dirty="0">
                <a:solidFill>
                  <a:srgbClr val="BFCCDA"/>
                </a:solidFill>
                <a:latin typeface="IBM Plex Sans KR" pitchFamily="34" charset="0"/>
                <a:ea typeface="IBM Plex Sans KR" pitchFamily="34" charset="-122"/>
                <a:cs typeface="IBM Plex Sans KR" pitchFamily="34" charset="-120"/>
              </a:rPr>
              <a:t>관리폭 ±31.28 kW · 정상 오차의 약 99.7%</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965700" y="2002768"/>
          <a:ext cx="6413500" cy="1796521"/>
        </p:xfrm>
        <a:graphic>
          <a:graphicData uri="http://schemas.openxmlformats.org/drawingml/2006/table">
            <a:tbl>
              <a:tblPr/>
              <a:tblGrid>
                <a:gridCol w="2180590"/>
                <a:gridCol w="4232910"/>
              </a:tblGrid>
              <a:tr h="359304">
                <a:tc>
                  <a:txBody>
                    <a:bodyPr/>
                    <a:lstStyle/>
                    <a:p>
                      <a:pPr indent="0" marL="0">
                        <a:lnSpc>
                          <a:spcPts val="1820"/>
                        </a:lnSpc>
                        <a:buNone/>
                      </a:pPr>
                      <a:r>
                        <a:rPr lang="en-US" sz="1300" b="1" dirty="0">
                          <a:solidFill>
                            <a:srgbClr val="1B2433"/>
                          </a:solidFill>
                          <a:latin typeface="IBM Plex Sans KR" pitchFamily="34" charset="0"/>
                          <a:ea typeface="IBM Plex Sans KR" pitchFamily="34" charset="-122"/>
                          <a:cs typeface="IBM Plex Sans KR" pitchFamily="34" charset="-120"/>
                        </a:rPr>
                        <a:t>신호</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indent="0" marL="0">
                        <a:lnSpc>
                          <a:spcPts val="1820"/>
                        </a:lnSpc>
                        <a:buNone/>
                      </a:pPr>
                      <a:r>
                        <a:rPr lang="en-US" sz="1300" b="1" dirty="0">
                          <a:solidFill>
                            <a:srgbClr val="1B2433"/>
                          </a:solidFill>
                          <a:latin typeface="IBM Plex Sans KR" pitchFamily="34" charset="0"/>
                          <a:ea typeface="IBM Plex Sans KR" pitchFamily="34" charset="-122"/>
                          <a:cs typeface="IBM Plex Sans KR" pitchFamily="34" charset="-120"/>
                        </a:rPr>
                        <a:t>판단</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r>
              <a:tr h="359304">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실측 &gt; UCL</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예상보다 큰 부하 급증</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실측 &lt; LCL</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설비 정지·계측 오류·생산계획 변경 점검</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P(&gt;177 kW) ≥ 0.20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한계 안이라도 수요 피크 경보 유지</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연속 2회 이탈</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단발 경보보다 높은 우선순위</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bl>
          </a:graphicData>
        </a:graphic>
      </p:graphicFrame>
      <p:sp>
        <p:nvSpPr>
          <p:cNvPr id="9" name="Shape 6"/>
          <p:cNvSpPr/>
          <p:nvPr/>
        </p:nvSpPr>
        <p:spPr>
          <a:xfrm>
            <a:off x="825500" y="4105746"/>
            <a:ext cx="0" cy="492654"/>
          </a:xfrm>
          <a:prstGeom prst="line">
            <a:avLst/>
          </a:prstGeom>
          <a:noFill/>
          <a:ln w="25400">
            <a:solidFill>
              <a:srgbClr val="2A78D6"/>
            </a:solidFill>
            <a:prstDash val="solid"/>
          </a:ln>
        </p:spPr>
      </p:sp>
      <p:sp>
        <p:nvSpPr>
          <p:cNvPr id="10" name="Text 7"/>
          <p:cNvSpPr/>
          <p:nvPr/>
        </p:nvSpPr>
        <p:spPr>
          <a:xfrm>
            <a:off x="939800" y="4131146"/>
            <a:ext cx="2491931"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B2433"/>
                </a:solidFill>
                <a:latin typeface="IBM Plex Sans KR" pitchFamily="34" charset="0"/>
                <a:ea typeface="IBM Plex Sans KR" pitchFamily="34" charset="-122"/>
                <a:cs typeface="IBM Plex Sans KR" pitchFamily="34" charset="-120"/>
              </a:rPr>
              <a:t>① 최근 계측값과 센서 상태 확인</a:t>
            </a:r>
            <a:endParaRPr lang="en-US" sz="1200" dirty="0"/>
          </a:p>
        </p:txBody>
      </p:sp>
      <p:sp>
        <p:nvSpPr>
          <p:cNvPr id="11" name="Shape 8"/>
          <p:cNvSpPr/>
          <p:nvPr/>
        </p:nvSpPr>
        <p:spPr>
          <a:xfrm>
            <a:off x="3498850" y="4105746"/>
            <a:ext cx="0" cy="492654"/>
          </a:xfrm>
          <a:prstGeom prst="line">
            <a:avLst/>
          </a:prstGeom>
          <a:noFill/>
          <a:ln w="25400">
            <a:solidFill>
              <a:srgbClr val="2A78D6"/>
            </a:solidFill>
            <a:prstDash val="solid"/>
          </a:ln>
        </p:spPr>
      </p:sp>
      <p:sp>
        <p:nvSpPr>
          <p:cNvPr id="12" name="Text 9"/>
          <p:cNvSpPr/>
          <p:nvPr/>
        </p:nvSpPr>
        <p:spPr>
          <a:xfrm>
            <a:off x="3613150" y="4131146"/>
            <a:ext cx="2491931"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B2433"/>
                </a:solidFill>
                <a:latin typeface="IBM Plex Sans KR" pitchFamily="34" charset="0"/>
                <a:ea typeface="IBM Plex Sans KR" pitchFamily="34" charset="-122"/>
                <a:cs typeface="IBM Plex Sans KR" pitchFamily="34" charset="-120"/>
              </a:rPr>
              <a:t>② 당시 생산량·작업 지시 대조</a:t>
            </a:r>
            <a:endParaRPr lang="en-US" sz="1200" dirty="0"/>
          </a:p>
        </p:txBody>
      </p:sp>
      <p:sp>
        <p:nvSpPr>
          <p:cNvPr id="13" name="Shape 10"/>
          <p:cNvSpPr/>
          <p:nvPr/>
        </p:nvSpPr>
        <p:spPr>
          <a:xfrm>
            <a:off x="6172200" y="4105746"/>
            <a:ext cx="0" cy="492654"/>
          </a:xfrm>
          <a:prstGeom prst="line">
            <a:avLst/>
          </a:prstGeom>
          <a:noFill/>
          <a:ln w="25400">
            <a:solidFill>
              <a:srgbClr val="2A78D6"/>
            </a:solidFill>
            <a:prstDash val="solid"/>
          </a:ln>
        </p:spPr>
      </p:sp>
      <p:sp>
        <p:nvSpPr>
          <p:cNvPr id="14" name="Text 11"/>
          <p:cNvSpPr/>
          <p:nvPr/>
        </p:nvSpPr>
        <p:spPr>
          <a:xfrm>
            <a:off x="6286500" y="4131146"/>
            <a:ext cx="2491931"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B2433"/>
                </a:solidFill>
                <a:latin typeface="IBM Plex Sans KR" pitchFamily="34" charset="0"/>
                <a:ea typeface="IBM Plex Sans KR" pitchFamily="34" charset="-122"/>
                <a:cs typeface="IBM Plex Sans KR" pitchFamily="34" charset="-120"/>
              </a:rPr>
              <a:t>③ 부하가 큰 작업의 시작 시점 분산</a:t>
            </a:r>
            <a:endParaRPr lang="en-US" sz="1200" dirty="0"/>
          </a:p>
        </p:txBody>
      </p:sp>
      <p:sp>
        <p:nvSpPr>
          <p:cNvPr id="15" name="Shape 12"/>
          <p:cNvSpPr/>
          <p:nvPr/>
        </p:nvSpPr>
        <p:spPr>
          <a:xfrm>
            <a:off x="8845550" y="4105746"/>
            <a:ext cx="0" cy="492654"/>
          </a:xfrm>
          <a:prstGeom prst="line">
            <a:avLst/>
          </a:prstGeom>
          <a:noFill/>
          <a:ln w="25400">
            <a:solidFill>
              <a:srgbClr val="2A78D6"/>
            </a:solidFill>
            <a:prstDash val="solid"/>
          </a:ln>
        </p:spPr>
      </p:sp>
      <p:sp>
        <p:nvSpPr>
          <p:cNvPr id="16" name="Text 13"/>
          <p:cNvSpPr/>
          <p:nvPr/>
        </p:nvSpPr>
        <p:spPr>
          <a:xfrm>
            <a:off x="8959850" y="4131146"/>
            <a:ext cx="2491931"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B2433"/>
                </a:solidFill>
                <a:latin typeface="IBM Plex Sans KR" pitchFamily="34" charset="0"/>
                <a:ea typeface="IBM Plex Sans KR" pitchFamily="34" charset="-122"/>
                <a:cs typeface="IBM Plex Sans KR" pitchFamily="34" charset="-120"/>
              </a:rPr>
              <a:t>④ 품질·안전 영향 없는 비필수 설비 가동 조정</a:t>
            </a:r>
            <a:endParaRPr lang="en-US" sz="12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UCL 이탈 시 대응 순서 ①→④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4. 현장 활용방안 · 관제 화면</a:t>
            </a:r>
            <a:endParaRPr lang="en-US" sz="1300" dirty="0"/>
          </a:p>
        </p:txBody>
      </p:sp>
      <p:sp>
        <p:nvSpPr>
          <p:cNvPr id="3" name="Text 1"/>
          <p:cNvSpPr/>
          <p:nvPr>
            <p:ph type="title"/>
          </p:nvPr>
        </p:nvSpPr>
        <p:spPr>
          <a:xfrm>
            <a:off x="812800" y="1297918"/>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관제 화면은 다음 1시간을 미리 보여준다</a:t>
            </a:r>
            <a:endParaRPr lang="en-US" sz="3000" dirty="0"/>
          </a:p>
        </p:txBody>
      </p:sp>
      <p:sp>
        <p:nvSpPr>
          <p:cNvPr id="4" name="Shape 2"/>
          <p:cNvSpPr/>
          <p:nvPr/>
        </p:nvSpPr>
        <p:spPr>
          <a:xfrm>
            <a:off x="812800" y="1990068"/>
            <a:ext cx="5207000" cy="3619500"/>
          </a:xfrm>
          <a:prstGeom prst="roundRect">
            <a:avLst>
              <a:gd name="adj" fmla="val 2105"/>
            </a:avLst>
          </a:prstGeom>
          <a:solidFill>
            <a:srgbClr val="13202E"/>
          </a:solidFill>
          <a:ln/>
        </p:spPr>
      </p:sp>
      <p:pic>
        <p:nvPicPr>
          <p:cNvPr id="5" name="Image 0" descr="AI 전력 피크 조기경보 시스템 관제 화면. 다음 1시간 예측, 3σ 관리상·하한, 실측 전력, 177 kW 피크 기준과 시점별 트리 모델 기여도">    </p:cNvPr>
          <p:cNvPicPr>
            <a:picLocks noChangeAspect="1"/>
          </p:cNvPicPr>
          <p:nvPr/>
        </p:nvPicPr>
        <p:blipFill>
          <a:blip r:embed="rId1"/>
          <a:srcRect l="0" r="0" t="-49" b="-49"/>
          <a:stretch/>
        </p:blipFill>
        <p:spPr>
          <a:xfrm>
            <a:off x="812800" y="1990068"/>
            <a:ext cx="5207000" cy="3619500"/>
          </a:xfrm>
          <a:prstGeom prst="roundRect">
            <a:avLst>
              <a:gd name="adj" fmla="val 2105"/>
            </a:avLst>
          </a:prstGeom>
        </p:spPr>
      </p:pic>
      <p:sp>
        <p:nvSpPr>
          <p:cNvPr id="6" name="Shape 3"/>
          <p:cNvSpPr/>
          <p:nvPr/>
        </p:nvSpPr>
        <p:spPr>
          <a:xfrm>
            <a:off x="6276975" y="1993243"/>
            <a:ext cx="5099050" cy="1115880"/>
          </a:xfrm>
          <a:prstGeom prst="roundRect">
            <a:avLst>
              <a:gd name="adj" fmla="val 8820"/>
            </a:avLst>
          </a:prstGeom>
          <a:solidFill>
            <a:srgbClr val="FFFFFF"/>
          </a:solidFill>
          <a:ln w="6350">
            <a:solidFill>
              <a:srgbClr val="DDE2E7"/>
            </a:solidFill>
            <a:prstDash val="solid"/>
          </a:ln>
        </p:spPr>
      </p:sp>
      <p:sp>
        <p:nvSpPr>
          <p:cNvPr id="7" name="Text 4"/>
          <p:cNvSpPr/>
          <p:nvPr/>
        </p:nvSpPr>
        <p:spPr>
          <a:xfrm>
            <a:off x="6455833" y="2172097"/>
            <a:ext cx="488357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KR" pitchFamily="34" charset="0"/>
                <a:ea typeface="IBM Plex Sans KR" pitchFamily="34" charset="-122"/>
                <a:cs typeface="IBM Plex Sans KR" pitchFamily="34" charset="-120"/>
              </a:rPr>
              <a:t>1시간씩 재생</a:t>
            </a:r>
            <a:endParaRPr lang="en-US" sz="1500" dirty="0"/>
          </a:p>
        </p:txBody>
      </p:sp>
      <p:sp>
        <p:nvSpPr>
          <p:cNvPr id="8" name="Text 5"/>
          <p:cNvSpPr/>
          <p:nvPr/>
        </p:nvSpPr>
        <p:spPr>
          <a:xfrm>
            <a:off x="6455833" y="2451497"/>
            <a:ext cx="4883573"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저장된 Test 703시간을 재생하며 시각 t까지 실측, t+1의 앙상블 예측을 먼저 표시</a:t>
            </a:r>
            <a:endParaRPr lang="en-US" sz="1300" dirty="0"/>
          </a:p>
        </p:txBody>
      </p:sp>
      <p:sp>
        <p:nvSpPr>
          <p:cNvPr id="9" name="Shape 6"/>
          <p:cNvSpPr/>
          <p:nvPr/>
        </p:nvSpPr>
        <p:spPr>
          <a:xfrm>
            <a:off x="6276975" y="3267869"/>
            <a:ext cx="5099050" cy="1115880"/>
          </a:xfrm>
          <a:prstGeom prst="roundRect">
            <a:avLst>
              <a:gd name="adj" fmla="val 8820"/>
            </a:avLst>
          </a:prstGeom>
          <a:solidFill>
            <a:srgbClr val="FFFFFF"/>
          </a:solidFill>
          <a:ln w="6350">
            <a:solidFill>
              <a:srgbClr val="DDE2E7"/>
            </a:solidFill>
            <a:prstDash val="solid"/>
          </a:ln>
        </p:spPr>
      </p:sp>
      <p:sp>
        <p:nvSpPr>
          <p:cNvPr id="10" name="Text 7"/>
          <p:cNvSpPr/>
          <p:nvPr/>
        </p:nvSpPr>
        <p:spPr>
          <a:xfrm>
            <a:off x="6455833" y="3446735"/>
            <a:ext cx="488357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KR" pitchFamily="34" charset="0"/>
                <a:ea typeface="IBM Plex Sans KR" pitchFamily="34" charset="-122"/>
                <a:cs typeface="IBM Plex Sans KR" pitchFamily="34" charset="-120"/>
              </a:rPr>
              <a:t>6·12·24시간 보기</a:t>
            </a:r>
            <a:endParaRPr lang="en-US" sz="1500" dirty="0"/>
          </a:p>
        </p:txBody>
      </p:sp>
      <p:sp>
        <p:nvSpPr>
          <p:cNvPr id="11" name="Text 8"/>
          <p:cNvSpPr/>
          <p:nvPr/>
        </p:nvSpPr>
        <p:spPr>
          <a:xfrm>
            <a:off x="6455833" y="3726135"/>
            <a:ext cx="4883573"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KR" pitchFamily="34" charset="0"/>
                <a:ea typeface="IBM Plex Sans KR" pitchFamily="34" charset="-122"/>
                <a:cs typeface="IBM Plex Sans KR" pitchFamily="34" charset="-120"/>
              </a:rPr>
              <a:t>예측선, 3σ 관리상·하한, 177 kW 기준을 함께 읽고 다음 시간 점검 여부 판단</a:t>
            </a:r>
            <a:endParaRPr lang="en-US" sz="1300" dirty="0"/>
          </a:p>
        </p:txBody>
      </p:sp>
      <p:sp>
        <p:nvSpPr>
          <p:cNvPr id="12" name="Shape 9"/>
          <p:cNvSpPr/>
          <p:nvPr/>
        </p:nvSpPr>
        <p:spPr>
          <a:xfrm>
            <a:off x="6273800" y="4539332"/>
            <a:ext cx="5105400" cy="874382"/>
          </a:xfrm>
          <a:prstGeom prst="roundRect">
            <a:avLst>
              <a:gd name="adj" fmla="val 11620"/>
            </a:avLst>
          </a:prstGeom>
          <a:solidFill>
            <a:srgbClr val="13202E"/>
          </a:solidFill>
          <a:ln/>
        </p:spPr>
      </p:sp>
      <p:sp>
        <p:nvSpPr>
          <p:cNvPr id="13" name="Text 10"/>
          <p:cNvSpPr/>
          <p:nvPr/>
        </p:nvSpPr>
        <p:spPr>
          <a:xfrm>
            <a:off x="6451600" y="4717132"/>
            <a:ext cx="48922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7F4"/>
                </a:solidFill>
                <a:latin typeface="IBM Plex Sans KR" pitchFamily="34" charset="0"/>
                <a:ea typeface="IBM Plex Sans KR" pitchFamily="34" charset="-122"/>
                <a:cs typeface="IBM Plex Sans KR" pitchFamily="34" charset="-120"/>
              </a:rPr>
              <a:t>조치 등록</a:t>
            </a:r>
            <a:endParaRPr lang="en-US" sz="1500" dirty="0"/>
          </a:p>
        </p:txBody>
      </p:sp>
      <p:sp>
        <p:nvSpPr>
          <p:cNvPr id="14" name="Text 11"/>
          <p:cNvSpPr/>
          <p:nvPr/>
        </p:nvSpPr>
        <p:spPr>
          <a:xfrm>
            <a:off x="6451600" y="4996532"/>
            <a:ext cx="4892294" cy="26478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FCCDA"/>
                </a:solidFill>
                <a:latin typeface="IBM Plex Sans KR" pitchFamily="34" charset="0"/>
                <a:ea typeface="IBM Plex Sans KR" pitchFamily="34" charset="-122"/>
                <a:cs typeface="IBM Plex Sans KR" pitchFamily="34" charset="-120"/>
              </a:rPr>
              <a:t>선택한 조치와 담당자를 목록에 남겨 사후 점검</a:t>
            </a:r>
            <a:endParaRPr lang="en-US" sz="13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그림 11. 1시간 선행 예측과 3σ 관리구간을 표시한 관제 화면 (Dash)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4. 현장 활용방안 · 점검 화면</a:t>
            </a:r>
            <a:endParaRPr lang="en-US" sz="1300" dirty="0"/>
          </a:p>
        </p:txBody>
      </p:sp>
      <p:sp>
        <p:nvSpPr>
          <p:cNvPr id="3" name="Text 1"/>
          <p:cNvSpPr/>
          <p:nvPr>
            <p:ph type="title"/>
          </p:nvPr>
        </p:nvSpPr>
        <p:spPr>
          <a:xfrm>
            <a:off x="812800" y="1297918"/>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성능·원인·오류 사례를 화면 세 개로 점검</a:t>
            </a:r>
            <a:endParaRPr lang="en-US" sz="3000" dirty="0"/>
          </a:p>
        </p:txBody>
      </p:sp>
      <p:sp>
        <p:nvSpPr>
          <p:cNvPr id="4" name="Shape 2"/>
          <p:cNvSpPr/>
          <p:nvPr/>
        </p:nvSpPr>
        <p:spPr>
          <a:xfrm>
            <a:off x="812800" y="1990068"/>
            <a:ext cx="3384550" cy="2540000"/>
          </a:xfrm>
          <a:prstGeom prst="roundRect">
            <a:avLst>
              <a:gd name="adj" fmla="val 3000"/>
            </a:avLst>
          </a:prstGeom>
          <a:solidFill>
            <a:srgbClr val="13202E"/>
          </a:solidFill>
          <a:ln/>
        </p:spPr>
      </p:sp>
      <p:pic>
        <p:nvPicPr>
          <p:cNvPr id="5" name="Image 0" descr="예측 모델 성능 및 오류 분석 화면. 다섯 후보 Test RMSE 막대, F1 0.527·정밀도 36.1%·재현율 98.0%·FN 1·FP 85, 시간대별 FN·FP 열지도">    </p:cNvPr>
          <p:cNvPicPr>
            <a:picLocks noChangeAspect="1"/>
          </p:cNvPicPr>
          <p:nvPr/>
        </p:nvPicPr>
        <p:blipFill>
          <a:blip r:embed="rId1"/>
          <a:stretch>
            <a:fillRect/>
          </a:stretch>
        </p:blipFill>
        <p:spPr>
          <a:xfrm>
            <a:off x="1042035" y="1990068"/>
            <a:ext cx="2926080" cy="2540000"/>
          </a:xfrm>
          <a:prstGeom prst="rect">
            <a:avLst/>
          </a:prstGeom>
        </p:spPr>
      </p:pic>
      <p:sp>
        <p:nvSpPr>
          <p:cNvPr id="6" name="Text 3"/>
          <p:cNvSpPr/>
          <p:nvPr/>
        </p:nvSpPr>
        <p:spPr>
          <a:xfrm>
            <a:off x="812800" y="4631668"/>
            <a:ext cx="348826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KR" pitchFamily="34" charset="0"/>
                <a:ea typeface="IBM Plex Sans KR" pitchFamily="34" charset="-122"/>
                <a:cs typeface="IBM Plex Sans KR" pitchFamily="34" charset="-120"/>
              </a:rPr>
              <a:t>모델 성능</a:t>
            </a:r>
            <a:endParaRPr lang="en-US" sz="1500" dirty="0"/>
          </a:p>
        </p:txBody>
      </p:sp>
      <p:sp>
        <p:nvSpPr>
          <p:cNvPr id="7" name="Text 4"/>
          <p:cNvSpPr/>
          <p:nvPr/>
        </p:nvSpPr>
        <p:spPr>
          <a:xfrm>
            <a:off x="812800" y="4961868"/>
            <a:ext cx="3488267"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같은 Test에서 다섯 후보 RMSE 비교, 앙상블의 F1·재현율·미탐지·오경보와 시간대별 오류</a:t>
            </a:r>
            <a:endParaRPr lang="en-US" sz="1200" dirty="0"/>
          </a:p>
        </p:txBody>
      </p:sp>
      <p:sp>
        <p:nvSpPr>
          <p:cNvPr id="8" name="Shape 5"/>
          <p:cNvSpPr/>
          <p:nvPr/>
        </p:nvSpPr>
        <p:spPr>
          <a:xfrm>
            <a:off x="4402667" y="1990068"/>
            <a:ext cx="3384550" cy="2540000"/>
          </a:xfrm>
          <a:prstGeom prst="roundRect">
            <a:avLst>
              <a:gd name="adj" fmla="val 3000"/>
            </a:avLst>
          </a:prstGeom>
          <a:solidFill>
            <a:srgbClr val="13202E"/>
          </a:solidFill>
          <a:ln/>
        </p:spPr>
      </p:sp>
      <p:pic>
        <p:nvPicPr>
          <p:cNvPr id="9" name="Image 1" descr="변수 중요도 및 오류 조건 점검 화면. XGBoost·LightGBM 시점별 TreeSHAP 기여도와 상위 3개 변수(시간_cos, 전력_평균_실수, 시간_sin)">    </p:cNvPr>
          <p:cNvPicPr>
            <a:picLocks noChangeAspect="1"/>
          </p:cNvPicPr>
          <p:nvPr/>
        </p:nvPicPr>
        <p:blipFill>
          <a:blip r:embed="rId2"/>
          <a:stretch>
            <a:fillRect/>
          </a:stretch>
        </p:blipFill>
        <p:spPr>
          <a:xfrm>
            <a:off x="4402667" y="2084877"/>
            <a:ext cx="3384550" cy="2350382"/>
          </a:xfrm>
          <a:prstGeom prst="rect">
            <a:avLst/>
          </a:prstGeom>
        </p:spPr>
      </p:pic>
      <p:sp>
        <p:nvSpPr>
          <p:cNvPr id="10" name="Text 6"/>
          <p:cNvSpPr/>
          <p:nvPr/>
        </p:nvSpPr>
        <p:spPr>
          <a:xfrm>
            <a:off x="4402667" y="4631668"/>
            <a:ext cx="348826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KR" pitchFamily="34" charset="0"/>
                <a:ea typeface="IBM Plex Sans KR" pitchFamily="34" charset="-122"/>
                <a:cs typeface="IBM Plex Sans KR" pitchFamily="34" charset="-120"/>
              </a:rPr>
              <a:t>변수 기여도</a:t>
            </a:r>
            <a:endParaRPr lang="en-US" sz="1500" dirty="0"/>
          </a:p>
        </p:txBody>
      </p:sp>
      <p:sp>
        <p:nvSpPr>
          <p:cNvPr id="11" name="Text 7"/>
          <p:cNvSpPr/>
          <p:nvPr/>
        </p:nvSpPr>
        <p:spPr>
          <a:xfrm>
            <a:off x="4402667" y="4961868"/>
            <a:ext cx="3488267"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트리 모델 168시간 입력의 TreeSHAP을 변수별로 합산, 예측을 올리고 내린 방향과 상위 3개 변수</a:t>
            </a:r>
            <a:endParaRPr lang="en-US" sz="1200" dirty="0"/>
          </a:p>
        </p:txBody>
      </p:sp>
      <p:sp>
        <p:nvSpPr>
          <p:cNvPr id="12" name="Shape 8"/>
          <p:cNvSpPr/>
          <p:nvPr/>
        </p:nvSpPr>
        <p:spPr>
          <a:xfrm>
            <a:off x="7992534" y="1990068"/>
            <a:ext cx="3384550" cy="2540000"/>
          </a:xfrm>
          <a:prstGeom prst="roundRect">
            <a:avLst>
              <a:gd name="adj" fmla="val 3000"/>
            </a:avLst>
          </a:prstGeom>
          <a:solidFill>
            <a:srgbClr val="13202E"/>
          </a:solidFill>
          <a:ln/>
        </p:spPr>
      </p:sp>
      <p:pic>
        <p:nvPicPr>
          <p:cNvPr id="13" name="Image 2" descr="피크 경보 오류 사례 검토 화면. 실제 피크 49, 정탐 48, 오경보 85, 미탐지 1과 사례 목록, 검토 체크리스트">    </p:cNvPr>
          <p:cNvPicPr>
            <a:picLocks noChangeAspect="1"/>
          </p:cNvPicPr>
          <p:nvPr/>
        </p:nvPicPr>
        <p:blipFill>
          <a:blip r:embed="rId3"/>
          <a:stretch>
            <a:fillRect/>
          </a:stretch>
        </p:blipFill>
        <p:spPr>
          <a:xfrm>
            <a:off x="7992534" y="2084877"/>
            <a:ext cx="3384550" cy="2350382"/>
          </a:xfrm>
          <a:prstGeom prst="rect">
            <a:avLst/>
          </a:prstGeom>
        </p:spPr>
      </p:pic>
      <p:sp>
        <p:nvSpPr>
          <p:cNvPr id="14" name="Text 9"/>
          <p:cNvSpPr/>
          <p:nvPr/>
        </p:nvSpPr>
        <p:spPr>
          <a:xfrm>
            <a:off x="7992534" y="4631668"/>
            <a:ext cx="348826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KR" pitchFamily="34" charset="0"/>
                <a:ea typeface="IBM Plex Sans KR" pitchFamily="34" charset="-122"/>
                <a:cs typeface="IBM Plex Sans KR" pitchFamily="34" charset="-120"/>
              </a:rPr>
              <a:t>오류 사례 검토</a:t>
            </a:r>
            <a:endParaRPr lang="en-US" sz="1500" dirty="0"/>
          </a:p>
        </p:txBody>
      </p:sp>
      <p:sp>
        <p:nvSpPr>
          <p:cNvPr id="15" name="Text 10"/>
          <p:cNvSpPr/>
          <p:nvPr/>
        </p:nvSpPr>
        <p:spPr>
          <a:xfrm>
            <a:off x="7992534" y="4961868"/>
            <a:ext cx="3488267"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피크 49 · 정탐 48 · 미탐지 1 · 오경보 85 목록과 입력값·경보 기준·직전 생산량 체크리스트</a:t>
            </a:r>
            <a:endParaRPr lang="en-US" sz="12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그림 12·13·14 · Dash 대시보드 실제 화면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4. 현장 활용방안 · 조치 우선순위</a:t>
            </a:r>
            <a:endParaRPr lang="en-US" sz="1300" dirty="0"/>
          </a:p>
        </p:txBody>
      </p:sp>
      <p:sp>
        <p:nvSpPr>
          <p:cNvPr id="3" name="Text 1"/>
          <p:cNvSpPr/>
          <p:nvPr>
            <p:ph type="title"/>
          </p:nvPr>
        </p:nvSpPr>
        <p:spPr>
          <a:xfrm>
            <a:off x="812800" y="1297918"/>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언제 먼저 보고, 무엇으로 효과를 잴 것인가</a:t>
            </a:r>
            <a:endParaRPr lang="en-US" sz="3000" dirty="0"/>
          </a:p>
        </p:txBody>
      </p:sp>
      <p:sp>
        <p:nvSpPr>
          <p:cNvPr id="4" name="Text 2"/>
          <p:cNvSpPr/>
          <p:nvPr/>
        </p:nvSpPr>
        <p:spPr>
          <a:xfrm>
            <a:off x="812800" y="1990068"/>
            <a:ext cx="531088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E"/>
                </a:solidFill>
                <a:latin typeface="IBM Plex Sans KR" pitchFamily="34" charset="0"/>
                <a:ea typeface="IBM Plex Sans KR" pitchFamily="34" charset="-122"/>
                <a:cs typeface="IBM Plex Sans KR" pitchFamily="34" charset="-120"/>
              </a:rPr>
              <a:t>조치 우선순위</a:t>
            </a:r>
            <a:endParaRPr lang="en-US" sz="1600" dirty="0"/>
          </a:p>
        </p:txBody>
      </p:sp>
      <p:sp>
        <p:nvSpPr>
          <p:cNvPr id="5" name="Text 3"/>
          <p:cNvSpPr/>
          <p:nvPr/>
        </p:nvSpPr>
        <p:spPr>
          <a:xfrm>
            <a:off x="815975" y="2364060"/>
            <a:ext cx="5149850" cy="520898"/>
          </a:xfrm>
          <a:prstGeom prst="roundRect">
            <a:avLst>
              <a:gd name="adj" fmla="val 14019"/>
            </a:avLst>
          </a:prstGeom>
          <a:solidFill>
            <a:srgbClr val="FFFFFF"/>
          </a:solidFill>
          <a:ln w="6350">
            <a:solidFill>
              <a:srgbClr val="DDE2E7"/>
            </a:solidFill>
            <a:prstDash val="solid"/>
          </a:ln>
        </p:spPr>
        <p:txBody>
          <a:bodyPr wrap="square" lIns="144770" tIns="119370" rIns="244" bIns="93970" rtlCol="0" anchor="t">
            <a:normAutofit/>
          </a:bodyPr>
          <a:lstStyle/>
          <a:p>
            <a:pPr algn="l" indent="0" marL="0">
              <a:lnSpc>
                <a:spcPts val="1885"/>
              </a:lnSpc>
              <a:buNone/>
            </a:pPr>
            <a:r>
              <a:rPr lang="en-US" sz="1300" dirty="0">
                <a:solidFill>
                  <a:srgbClr val="1B2433"/>
                </a:solidFill>
                <a:latin typeface="IBM Plex Sans KR" pitchFamily="34" charset="0"/>
                <a:ea typeface="IBM Plex Sans KR" pitchFamily="34" charset="-122"/>
                <a:cs typeface="IBM Plex Sans KR" pitchFamily="34" charset="-120"/>
              </a:rPr>
              <a:t>오전 조업 시작 + 직전 생산량 1,000 초과 시각을 먼저 확인</a:t>
            </a:r>
            <a:endParaRPr lang="en-US" sz="1300" dirty="0"/>
          </a:p>
        </p:txBody>
      </p:sp>
      <p:sp>
        <p:nvSpPr>
          <p:cNvPr id="6" name="Text 4"/>
          <p:cNvSpPr/>
          <p:nvPr/>
        </p:nvSpPr>
        <p:spPr>
          <a:xfrm>
            <a:off x="815975" y="3018309"/>
            <a:ext cx="5149850" cy="760280"/>
          </a:xfrm>
          <a:prstGeom prst="roundRect">
            <a:avLst>
              <a:gd name="adj" fmla="val 9605"/>
            </a:avLst>
          </a:prstGeom>
          <a:solidFill>
            <a:srgbClr val="FFFFFF"/>
          </a:solidFill>
          <a:ln w="6350">
            <a:solidFill>
              <a:srgbClr val="DDE2E7"/>
            </a:solidFill>
            <a:prstDash val="solid"/>
          </a:ln>
        </p:spPr>
        <p:txBody>
          <a:bodyPr wrap="square" lIns="144770" tIns="119370" rIns="244" bIns="93970" rtlCol="0" anchor="t">
            <a:normAutofit/>
          </a:bodyPr>
          <a:lstStyle/>
          <a:p>
            <a:pPr algn="l" indent="0" marL="0">
              <a:lnSpc>
                <a:spcPts val="1885"/>
              </a:lnSpc>
              <a:buNone/>
            </a:pPr>
            <a:r>
              <a:rPr lang="en-US" sz="1300" dirty="0">
                <a:solidFill>
                  <a:srgbClr val="1B2433"/>
                </a:solidFill>
                <a:latin typeface="IBM Plex Sans KR" pitchFamily="34" charset="0"/>
                <a:ea typeface="IBM Plex Sans KR" pitchFamily="34" charset="-122"/>
                <a:cs typeface="IBM Plex Sans KR" pitchFamily="34" charset="-120"/>
              </a:rPr>
              <a:t>오경보가 잦은 09·11·13시는 예측값만 보지 않고 작업 계획·현장 계측과 함께 판단</a:t>
            </a:r>
            <a:endParaRPr lang="en-US" sz="1300" dirty="0"/>
          </a:p>
        </p:txBody>
      </p:sp>
      <p:sp>
        <p:nvSpPr>
          <p:cNvPr id="7" name="Text 5"/>
          <p:cNvSpPr/>
          <p:nvPr/>
        </p:nvSpPr>
        <p:spPr>
          <a:xfrm>
            <a:off x="815975" y="3911935"/>
            <a:ext cx="5149850" cy="520898"/>
          </a:xfrm>
          <a:prstGeom prst="roundRect">
            <a:avLst>
              <a:gd name="adj" fmla="val 14019"/>
            </a:avLst>
          </a:prstGeom>
          <a:solidFill>
            <a:srgbClr val="FFFFFF"/>
          </a:solidFill>
          <a:ln w="6350">
            <a:solidFill>
              <a:srgbClr val="DDE2E7"/>
            </a:solidFill>
            <a:prstDash val="solid"/>
          </a:ln>
        </p:spPr>
        <p:txBody>
          <a:bodyPr wrap="square" lIns="144770" tIns="119370" rIns="244" bIns="93970" rtlCol="0" anchor="t">
            <a:normAutofit/>
          </a:bodyPr>
          <a:lstStyle/>
          <a:p>
            <a:pPr algn="l" indent="0" marL="0">
              <a:lnSpc>
                <a:spcPts val="1885"/>
              </a:lnSpc>
              <a:buNone/>
            </a:pPr>
            <a:r>
              <a:rPr lang="en-US" sz="1300" dirty="0">
                <a:solidFill>
                  <a:srgbClr val="1B2433"/>
                </a:solidFill>
                <a:latin typeface="IBM Plex Sans KR" pitchFamily="34" charset="0"/>
                <a:ea typeface="IBM Plex Sans KR" pitchFamily="34" charset="-122"/>
                <a:cs typeface="IBM Plex Sans KR" pitchFamily="34" charset="-120"/>
              </a:rPr>
              <a:t>생산 안전과 품질 조건을 만족하는 조정안만 작업자가 승인</a:t>
            </a:r>
            <a:endParaRPr lang="en-US" sz="1300" dirty="0"/>
          </a:p>
        </p:txBody>
      </p:sp>
      <p:sp>
        <p:nvSpPr>
          <p:cNvPr id="8" name="Text 6"/>
          <p:cNvSpPr/>
          <p:nvPr/>
        </p:nvSpPr>
        <p:spPr>
          <a:xfrm>
            <a:off x="6223000" y="1990068"/>
            <a:ext cx="531088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E"/>
                </a:solidFill>
                <a:latin typeface="IBM Plex Sans KR" pitchFamily="34" charset="0"/>
                <a:ea typeface="IBM Plex Sans KR" pitchFamily="34" charset="-122"/>
                <a:cs typeface="IBM Plex Sans KR" pitchFamily="34" charset="-120"/>
              </a:rPr>
              <a:t>현장 실증 지표</a:t>
            </a:r>
            <a:endParaRPr lang="en-US" sz="1600" dirty="0"/>
          </a:p>
        </p:txBody>
      </p:sp>
      <p:sp>
        <p:nvSpPr>
          <p:cNvPr id="9" name="Shape 7"/>
          <p:cNvSpPr/>
          <p:nvPr/>
        </p:nvSpPr>
        <p:spPr>
          <a:xfrm>
            <a:off x="6223000" y="2360885"/>
            <a:ext cx="2514600" cy="866114"/>
          </a:xfrm>
          <a:prstGeom prst="roundRect">
            <a:avLst>
              <a:gd name="adj" fmla="val 8798"/>
            </a:avLst>
          </a:prstGeom>
          <a:solidFill>
            <a:srgbClr val="13202E"/>
          </a:solidFill>
          <a:ln/>
        </p:spPr>
      </p:sp>
      <p:pic>
        <p:nvPicPr>
          <p:cNvPr id="10" name="Image 0" descr="CheckCircle">    </p:cNvPr>
          <p:cNvPicPr>
            <a:picLocks noChangeAspect="1"/>
          </p:cNvPicPr>
          <p:nvPr/>
        </p:nvPicPr>
        <p:blipFill>
          <a:blip r:embed="rId1"/>
          <a:srcRect l="0" r="0" t="0" b="0"/>
          <a:stretch/>
        </p:blipFill>
        <p:spPr>
          <a:xfrm>
            <a:off x="6388100" y="2525985"/>
            <a:ext cx="254000" cy="254000"/>
          </a:xfrm>
          <a:prstGeom prst="rect">
            <a:avLst/>
          </a:prstGeom>
        </p:spPr>
      </p:pic>
      <p:sp>
        <p:nvSpPr>
          <p:cNvPr id="11" name="Text 8"/>
          <p:cNvSpPr/>
          <p:nvPr/>
        </p:nvSpPr>
        <p:spPr>
          <a:xfrm>
            <a:off x="6388100" y="2830785"/>
            <a:ext cx="224993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6F7F4"/>
                </a:solidFill>
                <a:latin typeface="IBM Plex Sans KR" pitchFamily="34" charset="0"/>
                <a:ea typeface="IBM Plex Sans KR" pitchFamily="34" charset="-122"/>
                <a:cs typeface="IBM Plex Sans KR" pitchFamily="34" charset="-120"/>
              </a:rPr>
              <a:t>피크 재현율</a:t>
            </a:r>
            <a:endParaRPr lang="en-US" sz="1300" dirty="0"/>
          </a:p>
        </p:txBody>
      </p:sp>
      <p:sp>
        <p:nvSpPr>
          <p:cNvPr id="12" name="Shape 9"/>
          <p:cNvSpPr/>
          <p:nvPr/>
        </p:nvSpPr>
        <p:spPr>
          <a:xfrm>
            <a:off x="8864600" y="2360885"/>
            <a:ext cx="2514600" cy="866114"/>
          </a:xfrm>
          <a:prstGeom prst="roundRect">
            <a:avLst>
              <a:gd name="adj" fmla="val 8798"/>
            </a:avLst>
          </a:prstGeom>
          <a:solidFill>
            <a:srgbClr val="13202E"/>
          </a:solidFill>
          <a:ln/>
        </p:spPr>
      </p:sp>
      <p:pic>
        <p:nvPicPr>
          <p:cNvPr id="13" name="Image 1" descr="Search">    </p:cNvPr>
          <p:cNvPicPr>
            <a:picLocks noChangeAspect="1"/>
          </p:cNvPicPr>
          <p:nvPr/>
        </p:nvPicPr>
        <p:blipFill>
          <a:blip r:embed="rId2"/>
          <a:srcRect l="0" r="0" t="0" b="0"/>
          <a:stretch/>
        </p:blipFill>
        <p:spPr>
          <a:xfrm>
            <a:off x="9029700" y="2525985"/>
            <a:ext cx="254000" cy="254000"/>
          </a:xfrm>
          <a:prstGeom prst="rect">
            <a:avLst/>
          </a:prstGeom>
        </p:spPr>
      </p:pic>
      <p:sp>
        <p:nvSpPr>
          <p:cNvPr id="14" name="Text 10"/>
          <p:cNvSpPr/>
          <p:nvPr/>
        </p:nvSpPr>
        <p:spPr>
          <a:xfrm>
            <a:off x="9029700" y="2830785"/>
            <a:ext cx="224993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6F7F4"/>
                </a:solidFill>
                <a:latin typeface="IBM Plex Sans KR" pitchFamily="34" charset="0"/>
                <a:ea typeface="IBM Plex Sans KR" pitchFamily="34" charset="-122"/>
                <a:cs typeface="IBM Plex Sans KR" pitchFamily="34" charset="-120"/>
              </a:rPr>
              <a:t>불필요 확인 건수</a:t>
            </a:r>
            <a:endParaRPr lang="en-US" sz="1300" dirty="0"/>
          </a:p>
        </p:txBody>
      </p:sp>
      <p:sp>
        <p:nvSpPr>
          <p:cNvPr id="15" name="Shape 11"/>
          <p:cNvSpPr/>
          <p:nvPr/>
        </p:nvSpPr>
        <p:spPr>
          <a:xfrm>
            <a:off x="6223000" y="3353991"/>
            <a:ext cx="2514600" cy="866114"/>
          </a:xfrm>
          <a:prstGeom prst="roundRect">
            <a:avLst>
              <a:gd name="adj" fmla="val 8798"/>
            </a:avLst>
          </a:prstGeom>
          <a:solidFill>
            <a:srgbClr val="13202E"/>
          </a:solidFill>
          <a:ln/>
        </p:spPr>
      </p:sp>
      <p:pic>
        <p:nvPicPr>
          <p:cNvPr id="16" name="Image 2" descr="Wrench">    </p:cNvPr>
          <p:cNvPicPr>
            <a:picLocks noChangeAspect="1"/>
          </p:cNvPicPr>
          <p:nvPr/>
        </p:nvPicPr>
        <p:blipFill>
          <a:blip r:embed="rId3"/>
          <a:srcRect l="0" r="0" t="0" b="0"/>
          <a:stretch/>
        </p:blipFill>
        <p:spPr>
          <a:xfrm>
            <a:off x="6388100" y="3519091"/>
            <a:ext cx="254000" cy="254000"/>
          </a:xfrm>
          <a:prstGeom prst="rect">
            <a:avLst/>
          </a:prstGeom>
        </p:spPr>
      </p:pic>
      <p:sp>
        <p:nvSpPr>
          <p:cNvPr id="17" name="Text 12"/>
          <p:cNvSpPr/>
          <p:nvPr/>
        </p:nvSpPr>
        <p:spPr>
          <a:xfrm>
            <a:off x="6388100" y="3823891"/>
            <a:ext cx="224993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6F7F4"/>
                </a:solidFill>
                <a:latin typeface="IBM Plex Sans KR" pitchFamily="34" charset="0"/>
                <a:ea typeface="IBM Plex Sans KR" pitchFamily="34" charset="-122"/>
                <a:cs typeface="IBM Plex Sans KR" pitchFamily="34" charset="-120"/>
              </a:rPr>
              <a:t>작업 변경 횟수</a:t>
            </a:r>
            <a:endParaRPr lang="en-US" sz="1300" dirty="0"/>
          </a:p>
        </p:txBody>
      </p:sp>
      <p:sp>
        <p:nvSpPr>
          <p:cNvPr id="18" name="Shape 13"/>
          <p:cNvSpPr/>
          <p:nvPr/>
        </p:nvSpPr>
        <p:spPr>
          <a:xfrm>
            <a:off x="8864600" y="3353991"/>
            <a:ext cx="2514600" cy="866114"/>
          </a:xfrm>
          <a:prstGeom prst="roundRect">
            <a:avLst>
              <a:gd name="adj" fmla="val 8798"/>
            </a:avLst>
          </a:prstGeom>
          <a:solidFill>
            <a:srgbClr val="13202E"/>
          </a:solidFill>
          <a:ln/>
        </p:spPr>
      </p:sp>
      <p:pic>
        <p:nvPicPr>
          <p:cNvPr id="19" name="Image 3" descr="Lightning">    </p:cNvPr>
          <p:cNvPicPr>
            <a:picLocks noChangeAspect="1"/>
          </p:cNvPicPr>
          <p:nvPr/>
        </p:nvPicPr>
        <p:blipFill>
          <a:blip r:embed="rId4"/>
          <a:srcRect l="0" r="0" t="0" b="0"/>
          <a:stretch/>
        </p:blipFill>
        <p:spPr>
          <a:xfrm>
            <a:off x="9029700" y="3519091"/>
            <a:ext cx="254000" cy="254000"/>
          </a:xfrm>
          <a:prstGeom prst="rect">
            <a:avLst/>
          </a:prstGeom>
        </p:spPr>
      </p:pic>
      <p:sp>
        <p:nvSpPr>
          <p:cNvPr id="20" name="Text 14"/>
          <p:cNvSpPr/>
          <p:nvPr/>
        </p:nvSpPr>
        <p:spPr>
          <a:xfrm>
            <a:off x="9029700" y="3823891"/>
            <a:ext cx="224993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6F7F4"/>
                </a:solidFill>
                <a:latin typeface="IBM Plex Sans KR" pitchFamily="34" charset="0"/>
                <a:ea typeface="IBM Plex Sans KR" pitchFamily="34" charset="-122"/>
                <a:cs typeface="IBM Plex Sans KR" pitchFamily="34" charset="-120"/>
              </a:rPr>
              <a:t>실제 최대수요 전력 변화</a:t>
            </a:r>
            <a:endParaRPr lang="en-US" sz="1300" dirty="0"/>
          </a:p>
        </p:txBody>
      </p:sp>
      <p:sp>
        <p:nvSpPr>
          <p:cNvPr id="21" name="Text 15"/>
          <p:cNvSpPr/>
          <p:nvPr/>
        </p:nvSpPr>
        <p:spPr>
          <a:xfrm>
            <a:off x="6223000" y="4347108"/>
            <a:ext cx="5310886" cy="24632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평가 구간: 피크 49시간 중 48시간 포착, 기준선 대비 RMSE −30.0%</a:t>
            </a:r>
            <a:endParaRPr lang="en-US" sz="1200" dirty="0"/>
          </a:p>
        </p:txBody>
      </p:sp>
      <p:sp>
        <p:nvSpPr>
          <p:cNvPr id="22"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보고서 4.2 조치 우선순위와 운영 기록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5. 창의성 및 차별성 · 10점</a:t>
            </a:r>
            <a:endParaRPr lang="en-US" sz="1300" dirty="0"/>
          </a:p>
        </p:txBody>
      </p:sp>
      <p:sp>
        <p:nvSpPr>
          <p:cNvPr id="3" name="Text 1"/>
          <p:cNvSpPr/>
          <p:nvPr>
            <p:ph type="title"/>
          </p:nvPr>
        </p:nvSpPr>
        <p:spPr>
          <a:xfrm>
            <a:off x="812800" y="1297918"/>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제조공정과 희소 피크에 맞춘 네 가지 설계</a:t>
            </a:r>
            <a:endParaRPr lang="en-US" sz="3000" dirty="0"/>
          </a:p>
        </p:txBody>
      </p:sp>
      <p:sp>
        <p:nvSpPr>
          <p:cNvPr id="4" name="Shape 2"/>
          <p:cNvSpPr/>
          <p:nvPr/>
        </p:nvSpPr>
        <p:spPr>
          <a:xfrm>
            <a:off x="815975" y="1993243"/>
            <a:ext cx="5187950" cy="1217414"/>
          </a:xfrm>
          <a:prstGeom prst="roundRect">
            <a:avLst>
              <a:gd name="adj" fmla="val 8085"/>
            </a:avLst>
          </a:prstGeom>
          <a:solidFill>
            <a:srgbClr val="FFFFFF"/>
          </a:solidFill>
          <a:ln w="6350">
            <a:solidFill>
              <a:srgbClr val="DDE2E7"/>
            </a:solidFill>
            <a:prstDash val="solid"/>
          </a:ln>
        </p:spPr>
      </p:sp>
      <p:sp>
        <p:nvSpPr>
          <p:cNvPr id="5" name="Text 3"/>
          <p:cNvSpPr/>
          <p:nvPr/>
        </p:nvSpPr>
        <p:spPr>
          <a:xfrm>
            <a:off x="1020233" y="2197497"/>
            <a:ext cx="49228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78D6"/>
                </a:solidFill>
                <a:latin typeface="IBM Plex Sans KR" pitchFamily="34" charset="0"/>
                <a:ea typeface="IBM Plex Sans KR" pitchFamily="34" charset="-122"/>
                <a:cs typeface="IBM Plex Sans KR" pitchFamily="34" charset="-120"/>
              </a:rPr>
              <a:t>01 장·단기 결합</a:t>
            </a:r>
            <a:endParaRPr lang="en-US" sz="1200" dirty="0"/>
          </a:p>
        </p:txBody>
      </p:sp>
      <p:sp>
        <p:nvSpPr>
          <p:cNvPr id="6" name="Text 4"/>
          <p:cNvSpPr/>
          <p:nvPr/>
        </p:nvSpPr>
        <p:spPr>
          <a:xfrm>
            <a:off x="1020233" y="2474317"/>
            <a:ext cx="492281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02E"/>
                </a:solidFill>
                <a:latin typeface="IBM Plex Sans KR" pitchFamily="34" charset="0"/>
                <a:ea typeface="IBM Plex Sans KR" pitchFamily="34" charset="-122"/>
                <a:cs typeface="IBM Plex Sans KR" pitchFamily="34" charset="-120"/>
              </a:rPr>
              <a:t>LSTM 168시간 + TCN 24시간을 검증 오차 역수로</a:t>
            </a:r>
            <a:endParaRPr lang="en-US" sz="1500" dirty="0"/>
          </a:p>
        </p:txBody>
      </p:sp>
      <p:sp>
        <p:nvSpPr>
          <p:cNvPr id="7" name="Text 5"/>
          <p:cNvSpPr/>
          <p:nvPr/>
        </p:nvSpPr>
        <p:spPr>
          <a:xfrm>
            <a:off x="1020233" y="2785467"/>
            <a:ext cx="4922816" cy="24632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Test RMSE가 LSTM 단독보다 0.50 kW, TCN 단독보다 1.39 kW 낮음</a:t>
            </a:r>
            <a:endParaRPr lang="en-US" sz="1200" dirty="0"/>
          </a:p>
        </p:txBody>
      </p:sp>
      <p:sp>
        <p:nvSpPr>
          <p:cNvPr id="8" name="Shape 6"/>
          <p:cNvSpPr/>
          <p:nvPr/>
        </p:nvSpPr>
        <p:spPr>
          <a:xfrm>
            <a:off x="6188075" y="1993243"/>
            <a:ext cx="5187950" cy="1217414"/>
          </a:xfrm>
          <a:prstGeom prst="roundRect">
            <a:avLst>
              <a:gd name="adj" fmla="val 8085"/>
            </a:avLst>
          </a:prstGeom>
          <a:solidFill>
            <a:srgbClr val="FFFFFF"/>
          </a:solidFill>
          <a:ln w="6350">
            <a:solidFill>
              <a:srgbClr val="DDE2E7"/>
            </a:solidFill>
            <a:prstDash val="solid"/>
          </a:ln>
        </p:spPr>
      </p:sp>
      <p:sp>
        <p:nvSpPr>
          <p:cNvPr id="9" name="Text 7"/>
          <p:cNvSpPr/>
          <p:nvPr/>
        </p:nvSpPr>
        <p:spPr>
          <a:xfrm>
            <a:off x="6392333" y="2197497"/>
            <a:ext cx="49228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78D6"/>
                </a:solidFill>
                <a:latin typeface="IBM Plex Sans KR" pitchFamily="34" charset="0"/>
                <a:ea typeface="IBM Plex Sans KR" pitchFamily="34" charset="-122"/>
                <a:cs typeface="IBM Plex Sans KR" pitchFamily="34" charset="-120"/>
              </a:rPr>
              <a:t>02 공정 상태 구분</a:t>
            </a:r>
            <a:endParaRPr lang="en-US" sz="1200" dirty="0"/>
          </a:p>
        </p:txBody>
      </p:sp>
      <p:sp>
        <p:nvSpPr>
          <p:cNvPr id="10" name="Text 8"/>
          <p:cNvSpPr/>
          <p:nvPr/>
        </p:nvSpPr>
        <p:spPr>
          <a:xfrm>
            <a:off x="6392333" y="2474317"/>
            <a:ext cx="492281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02E"/>
                </a:solidFill>
                <a:latin typeface="IBM Plex Sans KR" pitchFamily="34" charset="0"/>
                <a:ea typeface="IBM Plex Sans KR" pitchFamily="34" charset="-122"/>
                <a:cs typeface="IBM Plex Sans KR" pitchFamily="34" charset="-120"/>
              </a:rPr>
              <a:t>셧다운·시간 복원 이력을 전처리에 남김</a:t>
            </a:r>
            <a:endParaRPr lang="en-US" sz="1500" dirty="0"/>
          </a:p>
        </p:txBody>
      </p:sp>
      <p:sp>
        <p:nvSpPr>
          <p:cNvPr id="11" name="Text 9"/>
          <p:cNvSpPr/>
          <p:nvPr/>
        </p:nvSpPr>
        <p:spPr>
          <a:xfrm>
            <a:off x="6392333" y="2785467"/>
            <a:ext cx="4922816" cy="24632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공정 중단·재가동을 구분하고, 직전 생산량×오전 조업을 사전 점검에 연결</a:t>
            </a:r>
            <a:endParaRPr lang="en-US" sz="1200" dirty="0"/>
          </a:p>
        </p:txBody>
      </p:sp>
      <p:sp>
        <p:nvSpPr>
          <p:cNvPr id="12" name="Shape 10"/>
          <p:cNvSpPr/>
          <p:nvPr/>
        </p:nvSpPr>
        <p:spPr>
          <a:xfrm>
            <a:off x="815975" y="3394807"/>
            <a:ext cx="5187950" cy="1429875"/>
          </a:xfrm>
          <a:prstGeom prst="roundRect">
            <a:avLst>
              <a:gd name="adj" fmla="val 6883"/>
            </a:avLst>
          </a:prstGeom>
          <a:solidFill>
            <a:srgbClr val="FFFFFF"/>
          </a:solidFill>
          <a:ln w="6350">
            <a:solidFill>
              <a:srgbClr val="DDE2E7"/>
            </a:solidFill>
            <a:prstDash val="solid"/>
          </a:ln>
        </p:spPr>
      </p:sp>
      <p:sp>
        <p:nvSpPr>
          <p:cNvPr id="13" name="Text 11"/>
          <p:cNvSpPr/>
          <p:nvPr/>
        </p:nvSpPr>
        <p:spPr>
          <a:xfrm>
            <a:off x="1020233" y="3599061"/>
            <a:ext cx="49228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571A"/>
                </a:solidFill>
                <a:latin typeface="IBM Plex Sans KR" pitchFamily="34" charset="0"/>
                <a:ea typeface="IBM Plex Sans KR" pitchFamily="34" charset="-122"/>
                <a:cs typeface="IBM Plex Sans KR" pitchFamily="34" charset="-120"/>
              </a:rPr>
              <a:t>03 피크 맞춤 선택</a:t>
            </a:r>
            <a:endParaRPr lang="en-US" sz="1200" dirty="0"/>
          </a:p>
        </p:txBody>
      </p:sp>
      <p:sp>
        <p:nvSpPr>
          <p:cNvPr id="14" name="Text 12"/>
          <p:cNvSpPr/>
          <p:nvPr/>
        </p:nvSpPr>
        <p:spPr>
          <a:xfrm>
            <a:off x="1020233" y="3875881"/>
            <a:ext cx="492281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02E"/>
                </a:solidFill>
                <a:latin typeface="IBM Plex Sans KR" pitchFamily="34" charset="0"/>
                <a:ea typeface="IBM Plex Sans KR" pitchFamily="34" charset="-122"/>
                <a:cs typeface="IBM Plex Sans KR" pitchFamily="34" charset="-120"/>
              </a:rPr>
              <a:t>평균 오차만이 아닌 피크 오차로 설정 선택</a:t>
            </a:r>
            <a:endParaRPr lang="en-US" sz="1500" dirty="0"/>
          </a:p>
        </p:txBody>
      </p:sp>
      <p:sp>
        <p:nvSpPr>
          <p:cNvPr id="15" name="Text 13"/>
          <p:cNvSpPr/>
          <p:nvPr/>
        </p:nvSpPr>
        <p:spPr>
          <a:xfrm>
            <a:off x="1020233" y="4187031"/>
            <a:ext cx="4922816" cy="24632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피크율 7.0% → 검증 RMSE 2% 범위에서 피크 MAE 최저 후보 채택</a:t>
            </a:r>
            <a:endParaRPr lang="en-US" sz="1200" dirty="0"/>
          </a:p>
        </p:txBody>
      </p:sp>
      <p:sp>
        <p:nvSpPr>
          <p:cNvPr id="16" name="Shape 14"/>
          <p:cNvSpPr/>
          <p:nvPr/>
        </p:nvSpPr>
        <p:spPr>
          <a:xfrm>
            <a:off x="6184900" y="3391632"/>
            <a:ext cx="5194300" cy="1436225"/>
          </a:xfrm>
          <a:prstGeom prst="roundRect">
            <a:avLst>
              <a:gd name="adj" fmla="val 7074"/>
            </a:avLst>
          </a:prstGeom>
          <a:solidFill>
            <a:srgbClr val="13202E"/>
          </a:solidFill>
          <a:ln/>
        </p:spPr>
      </p:sp>
      <p:sp>
        <p:nvSpPr>
          <p:cNvPr id="17" name="Text 15"/>
          <p:cNvSpPr/>
          <p:nvPr/>
        </p:nvSpPr>
        <p:spPr>
          <a:xfrm>
            <a:off x="6388100" y="3594832"/>
            <a:ext cx="49315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07A"/>
                </a:solidFill>
                <a:latin typeface="IBM Plex Sans KR" pitchFamily="34" charset="0"/>
                <a:ea typeface="IBM Plex Sans KR" pitchFamily="34" charset="-122"/>
                <a:cs typeface="IBM Plex Sans KR" pitchFamily="34" charset="-120"/>
              </a:rPr>
              <a:t>04 불확실성 표현</a:t>
            </a:r>
            <a:endParaRPr lang="en-US" sz="1200" dirty="0"/>
          </a:p>
        </p:txBody>
      </p:sp>
      <p:sp>
        <p:nvSpPr>
          <p:cNvPr id="18" name="Text 16"/>
          <p:cNvSpPr/>
          <p:nvPr/>
        </p:nvSpPr>
        <p:spPr>
          <a:xfrm>
            <a:off x="6388100" y="3871652"/>
            <a:ext cx="493153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7F4"/>
                </a:solidFill>
                <a:latin typeface="IBM Plex Sans KR" pitchFamily="34" charset="0"/>
                <a:ea typeface="IBM Plex Sans KR" pitchFamily="34" charset="-122"/>
                <a:cs typeface="IBM Plex Sans KR" pitchFamily="34" charset="-120"/>
              </a:rPr>
              <a:t>예측을 피크 확률로 바꿔 경보</a:t>
            </a:r>
            <a:endParaRPr lang="en-US" sz="1500" dirty="0"/>
          </a:p>
        </p:txBody>
      </p:sp>
      <p:sp>
        <p:nvSpPr>
          <p:cNvPr id="19" name="Text 17"/>
          <p:cNvSpPr/>
          <p:nvPr/>
        </p:nvSpPr>
        <p:spPr>
          <a:xfrm>
            <a:off x="6388100" y="4182802"/>
            <a:ext cx="4931537"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FCCDA"/>
                </a:solidFill>
                <a:latin typeface="IBM Plex Sans KR" pitchFamily="34" charset="0"/>
                <a:ea typeface="IBM Plex Sans KR" pitchFamily="34" charset="-122"/>
                <a:cs typeface="IBM Plex Sans KR" pitchFamily="34" charset="-120"/>
              </a:rPr>
              <a:t>F1 0.527: 기준선 0.366보다 +0.161, 0.412보다 +0.115. 미탐지 1·오경보 85를 함께 공개</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σ = 10.43 kW · 경보 기준 0.20 · Test 703시간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A78D6"/>
                </a:solidFill>
                <a:latin typeface="IBM Plex Sans KR" pitchFamily="34" charset="0"/>
                <a:ea typeface="IBM Plex Sans KR" pitchFamily="34" charset="-122"/>
                <a:cs typeface="IBM Plex Sans KR" pitchFamily="34" charset="-120"/>
              </a:rPr>
              <a:t>6. 코드 구성 및 재현성 · 10점</a:t>
            </a:r>
            <a:endParaRPr lang="en-US" sz="1300" dirty="0"/>
          </a:p>
        </p:txBody>
      </p:sp>
      <p:sp>
        <p:nvSpPr>
          <p:cNvPr id="3" name="Text 1"/>
          <p:cNvSpPr/>
          <p:nvPr>
            <p:ph type="title"/>
          </p:nvPr>
        </p:nvSpPr>
        <p:spPr>
          <a:xfrm>
            <a:off x="812800" y="1297918"/>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202E"/>
                </a:solidFill>
                <a:latin typeface="IBM Plex Sans KR" pitchFamily="34" charset="0"/>
                <a:ea typeface="IBM Plex Sans KR" pitchFamily="34" charset="-122"/>
                <a:cs typeface="IBM Plex Sans KR" pitchFamily="34" charset="-120"/>
              </a:rPr>
              <a:t>명령 한 줄로 제출물 전체를 다시 만든다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02768"/>
          <a:ext cx="6997700" cy="2661179"/>
        </p:xfrm>
        <a:graphic>
          <a:graphicData uri="http://schemas.openxmlformats.org/drawingml/2006/table">
            <a:tbl>
              <a:tblPr/>
              <a:tblGrid>
                <a:gridCol w="1679448"/>
                <a:gridCol w="3218942"/>
                <a:gridCol w="2099310"/>
              </a:tblGrid>
              <a:tr h="332647">
                <a:tc>
                  <a:txBody>
                    <a:bodyPr/>
                    <a:lstStyle/>
                    <a:p>
                      <a:pPr indent="0" marL="0">
                        <a:lnSpc>
                          <a:spcPts val="1680"/>
                        </a:lnSpc>
                        <a:buNone/>
                      </a:pPr>
                      <a:r>
                        <a:rPr lang="en-US" sz="1200" b="1" dirty="0">
                          <a:solidFill>
                            <a:srgbClr val="1B2433"/>
                          </a:solidFill>
                          <a:latin typeface="IBM Plex Sans KR" pitchFamily="34" charset="0"/>
                          <a:ea typeface="IBM Plex Sans KR" pitchFamily="34" charset="-122"/>
                          <a:cs typeface="IBM Plex Sans KR" pitchFamily="34" charset="-120"/>
                        </a:rPr>
                        <a:t>단계</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indent="0" marL="0">
                        <a:lnSpc>
                          <a:spcPts val="1680"/>
                        </a:lnSpc>
                        <a:buNone/>
                      </a:pPr>
                      <a:r>
                        <a:rPr lang="en-US" sz="1200" b="1" dirty="0">
                          <a:solidFill>
                            <a:srgbClr val="1B2433"/>
                          </a:solidFill>
                          <a:latin typeface="IBM Plex Sans KR" pitchFamily="34" charset="0"/>
                          <a:ea typeface="IBM Plex Sans KR" pitchFamily="34" charset="-122"/>
                          <a:cs typeface="IBM Plex Sans KR" pitchFamily="34" charset="-120"/>
                        </a:rPr>
                        <a:t>실행 명령</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indent="0" marL="0">
                        <a:lnSpc>
                          <a:spcPts val="1680"/>
                        </a:lnSpc>
                        <a:buNone/>
                      </a:pPr>
                      <a:r>
                        <a:rPr lang="en-US" sz="1200" b="1" dirty="0">
                          <a:solidFill>
                            <a:srgbClr val="1B2433"/>
                          </a:solidFill>
                          <a:latin typeface="IBM Plex Sans KR" pitchFamily="34" charset="0"/>
                          <a:ea typeface="IBM Plex Sans KR" pitchFamily="34" charset="-122"/>
                          <a:cs typeface="IBM Plex Sans KR" pitchFamily="34" charset="-120"/>
                        </a:rPr>
                        <a:t>주요 산출물</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r>
              <a:tr h="332647">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환경 설치</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pip install -r requirements.txt</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통합 실행 환경</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32647">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전처리 검증</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scripts/verify_cleaned_data.py</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6,168행·22열 검증</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32647">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트리 학습</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scripts/train_tree_models.py</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results/tree_models/</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32647">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5개 모델 비교</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scripts/build_model_comparison.py</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model_comparison.csv</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32647">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대시보드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dashboard/app.py</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127.0.0.1:8050</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32647">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화면 캡처</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scripts/capture_dashboard.py</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대시보드 PNG 4개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32647">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제출물 재생성</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scripts/reproduce_submission.py</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c>
                  <a:txBody>
                    <a:bodyPr/>
                    <a:lstStyle/>
                    <a:p>
                      <a:pPr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근거표·도표·HWPX</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0BAC6"/>
                      </a:solidFill>
                      <a:prstDash val="solid"/>
                      <a:round/>
                      <a:headEnd type="none" w="med" len="med"/>
                      <a:tailEnd type="none" w="med" len="med"/>
                    </a:lnL>
                    <a:lnR w="12700" cap="flat" cmpd="sng" algn="ctr">
                      <a:solidFill>
                        <a:srgbClr val="B0BAC6"/>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0BAC6"/>
                      </a:solidFill>
                      <a:prstDash val="solid"/>
                      <a:round/>
                      <a:headEnd type="none" w="med" len="med"/>
                      <a:tailEnd type="none" w="med" len="med"/>
                    </a:lnB>
                    <a:solidFill>
                      <a:srgbClr val="DCE9F8"/>
                    </a:solidFill>
                  </a:tcPr>
                </a:tc>
              </a:tr>
            </a:tbl>
          </a:graphicData>
        </a:graphic>
      </p:graphicFrame>
      <p:sp>
        <p:nvSpPr>
          <p:cNvPr id="5" name="Shape 2"/>
          <p:cNvSpPr/>
          <p:nvPr/>
        </p:nvSpPr>
        <p:spPr>
          <a:xfrm>
            <a:off x="8077200" y="1990068"/>
            <a:ext cx="3302000" cy="1577247"/>
          </a:xfrm>
          <a:prstGeom prst="roundRect">
            <a:avLst>
              <a:gd name="adj" fmla="val 6442"/>
            </a:avLst>
          </a:prstGeom>
          <a:solidFill>
            <a:srgbClr val="13202E"/>
          </a:solidFill>
          <a:ln/>
        </p:spPr>
      </p:sp>
      <p:sp>
        <p:nvSpPr>
          <p:cNvPr id="6" name="Text 3"/>
          <p:cNvSpPr/>
          <p:nvPr/>
        </p:nvSpPr>
        <p:spPr>
          <a:xfrm>
            <a:off x="8255000" y="2167868"/>
            <a:ext cx="30347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7F4"/>
                </a:solidFill>
                <a:latin typeface="IBM Plex Sans KR" pitchFamily="34" charset="0"/>
                <a:ea typeface="IBM Plex Sans KR" pitchFamily="34" charset="-122"/>
                <a:cs typeface="IBM Plex Sans KR" pitchFamily="34" charset="-120"/>
              </a:rPr>
              <a:t>파일 구성</a:t>
            </a:r>
            <a:endParaRPr lang="en-US" sz="1400" dirty="0"/>
          </a:p>
        </p:txBody>
      </p:sp>
      <p:sp>
        <p:nvSpPr>
          <p:cNvPr id="7" name="Text 4"/>
          <p:cNvSpPr/>
          <p:nvPr/>
        </p:nvSpPr>
        <p:spPr>
          <a:xfrm>
            <a:off x="8255000" y="2444688"/>
            <a:ext cx="3034792" cy="970227"/>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BFCCDA"/>
                </a:solidFill>
                <a:latin typeface="IBM Plex Mono" pitchFamily="49" charset="0"/>
                <a:ea typeface="IBM Plex Mono" pitchFamily="49" charset="-122"/>
                <a:cs typeface="IBM Plex Mono" pitchFamily="49" charset="-120"/>
              </a:rPr>
              <a:t>data/ · src/preprocessing.py</a:t>
            </a:r>
            <a:endParaRPr lang="en-US" sz="1200" dirty="0"/>
          </a:p>
          <a:p>
            <a:pPr algn="l" indent="0" marL="0">
              <a:lnSpc>
                <a:spcPts val="1860"/>
              </a:lnSpc>
              <a:buNone/>
            </a:pPr>
            <a:r>
              <a:rPr lang="en-US" sz="1200" dirty="0">
                <a:solidFill>
                  <a:srgbClr val="BFCCDA"/>
                </a:solidFill>
                <a:latin typeface="IBM Plex Mono" pitchFamily="49" charset="0"/>
                <a:ea typeface="IBM Plex Mono" pitchFamily="49" charset="-122"/>
                <a:cs typeface="IBM Plex Mono" pitchFamily="49" charset="-120"/>
              </a:rPr>
              <a:t>model_search/ · neural/core/</a:t>
            </a:r>
            <a:endParaRPr lang="en-US" sz="1200" dirty="0"/>
          </a:p>
          <a:p>
            <a:pPr algn="l" indent="0" marL="0">
              <a:lnSpc>
                <a:spcPts val="1860"/>
              </a:lnSpc>
              <a:buNone/>
            </a:pPr>
            <a:r>
              <a:rPr lang="en-US" sz="1200" dirty="0">
                <a:solidFill>
                  <a:srgbClr val="BFCCDA"/>
                </a:solidFill>
                <a:latin typeface="IBM Plex Mono" pitchFamily="49" charset="0"/>
                <a:ea typeface="IBM Plex Mono" pitchFamily="49" charset="-122"/>
                <a:cs typeface="IBM Plex Mono" pitchFamily="49" charset="-120"/>
              </a:rPr>
              <a:t>scripts/ · results/</a:t>
            </a:r>
            <a:endParaRPr lang="en-US" sz="1200" dirty="0"/>
          </a:p>
          <a:p>
            <a:pPr algn="l" indent="0" marL="0">
              <a:lnSpc>
                <a:spcPts val="1860"/>
              </a:lnSpc>
              <a:buNone/>
            </a:pPr>
            <a:r>
              <a:rPr lang="en-US" sz="1200" dirty="0">
                <a:solidFill>
                  <a:srgbClr val="BFCCDA"/>
                </a:solidFill>
                <a:latin typeface="IBM Plex Mono" pitchFamily="49" charset="0"/>
                <a:ea typeface="IBM Plex Mono" pitchFamily="49" charset="-122"/>
                <a:cs typeface="IBM Plex Mono" pitchFamily="49" charset="-120"/>
              </a:rPr>
              <a:t>docs/report · docs/presentation</a:t>
            </a:r>
            <a:endParaRPr lang="en-US" sz="1200" dirty="0"/>
          </a:p>
        </p:txBody>
      </p:sp>
      <p:sp>
        <p:nvSpPr>
          <p:cNvPr id="8" name="Shape 5"/>
          <p:cNvSpPr/>
          <p:nvPr/>
        </p:nvSpPr>
        <p:spPr>
          <a:xfrm>
            <a:off x="8080375" y="3697486"/>
            <a:ext cx="3295650" cy="1076391"/>
          </a:xfrm>
          <a:prstGeom prst="roundRect">
            <a:avLst>
              <a:gd name="adj" fmla="val 9144"/>
            </a:avLst>
          </a:prstGeom>
          <a:solidFill>
            <a:srgbClr val="FFFFFF"/>
          </a:solidFill>
          <a:ln w="6350">
            <a:solidFill>
              <a:srgbClr val="DDE2E7"/>
            </a:solidFill>
            <a:prstDash val="solid"/>
          </a:ln>
        </p:spPr>
      </p:sp>
      <p:sp>
        <p:nvSpPr>
          <p:cNvPr id="9" name="Text 6"/>
          <p:cNvSpPr/>
          <p:nvPr/>
        </p:nvSpPr>
        <p:spPr>
          <a:xfrm>
            <a:off x="8259234" y="3876353"/>
            <a:ext cx="302607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E"/>
                </a:solidFill>
                <a:latin typeface="IBM Plex Sans KR" pitchFamily="34" charset="0"/>
                <a:ea typeface="IBM Plex Sans KR" pitchFamily="34" charset="-122"/>
                <a:cs typeface="IBM Plex Sans KR" pitchFamily="34" charset="-120"/>
              </a:rPr>
              <a:t>결과 manifest에 기록</a:t>
            </a:r>
            <a:endParaRPr lang="en-US" sz="1400" dirty="0"/>
          </a:p>
        </p:txBody>
      </p:sp>
      <p:sp>
        <p:nvSpPr>
          <p:cNvPr id="10" name="Text 7"/>
          <p:cNvSpPr/>
          <p:nvPr/>
        </p:nvSpPr>
        <p:spPr>
          <a:xfrm>
            <a:off x="8259234" y="4153173"/>
            <a:ext cx="3026071" cy="46725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seed 42, 데이터 해시, 9개 입력 목록, 피크 기준, 5개 모델 선택 규칙</a:t>
            </a:r>
            <a:endParaRPr lang="en-US" sz="12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4"/>
                </a:solidFill>
                <a:latin typeface="IBM Plex Sans KR" pitchFamily="34" charset="0"/>
                <a:ea typeface="IBM Plex Sans KR" pitchFamily="34" charset="-122"/>
                <a:cs typeface="IBM Plex Sans KR" pitchFamily="34" charset="-120"/>
              </a:rPr>
              <a:t>--train-trees: 트리 탐색·재학습 포함 · --capture-dashboard: 화면 캡처 갱신 · 표 6 · 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7FB6EC"/>
                </a:solidFill>
                <a:latin typeface="IBM Plex Sans KR" pitchFamily="34" charset="0"/>
                <a:ea typeface="IBM Plex Sans KR" pitchFamily="34" charset="-122"/>
                <a:cs typeface="IBM Plex Sans KR" pitchFamily="34" charset="-120"/>
              </a:rPr>
              <a:t>결론</a:t>
            </a:r>
            <a:endParaRPr lang="en-US" sz="1300" dirty="0"/>
          </a:p>
        </p:txBody>
      </p:sp>
      <p:sp>
        <p:nvSpPr>
          <p:cNvPr id="3" name="Text 1"/>
          <p:cNvSpPr/>
          <p:nvPr>
            <p:ph type="title"/>
          </p:nvPr>
        </p:nvSpPr>
        <p:spPr>
          <a:xfrm>
            <a:off x="812800" y="1348718"/>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7F4"/>
                </a:solidFill>
                <a:latin typeface="IBM Plex Sans KR" pitchFamily="34" charset="0"/>
                <a:ea typeface="IBM Plex Sans KR" pitchFamily="34" charset="-122"/>
                <a:cs typeface="IBM Plex Sans KR" pitchFamily="34" charset="-120"/>
              </a:rPr>
              <a:t>1시간 앞 예측으로 피크를 미리 관리합니다</a:t>
            </a:r>
            <a:endParaRPr lang="en-US" sz="3200" dirty="0"/>
          </a:p>
        </p:txBody>
      </p:sp>
      <p:sp>
        <p:nvSpPr>
          <p:cNvPr id="4" name="Text 2"/>
          <p:cNvSpPr/>
          <p:nvPr/>
        </p:nvSpPr>
        <p:spPr>
          <a:xfrm>
            <a:off x="812800" y="2120838"/>
            <a:ext cx="523240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7FB6EC"/>
                </a:solidFill>
                <a:latin typeface="IBM Plex Sans KR" pitchFamily="34" charset="0"/>
                <a:ea typeface="IBM Plex Sans KR" pitchFamily="34" charset="-122"/>
                <a:cs typeface="IBM Plex Sans KR" pitchFamily="34" charset="-120"/>
              </a:rPr>
              <a:t>성과</a:t>
            </a:r>
            <a:endParaRPr lang="en-US" sz="1700" dirty="0"/>
          </a:p>
        </p:txBody>
      </p:sp>
      <p:sp>
        <p:nvSpPr>
          <p:cNvPr id="5" name="Text 3"/>
          <p:cNvSpPr/>
          <p:nvPr/>
        </p:nvSpPr>
        <p:spPr>
          <a:xfrm>
            <a:off x="812800" y="2506861"/>
            <a:ext cx="523240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6F7F4"/>
                </a:solidFill>
                <a:latin typeface="IBM Plex Sans KR" pitchFamily="34" charset="0"/>
                <a:ea typeface="IBM Plex Sans KR" pitchFamily="34" charset="-122"/>
                <a:cs typeface="IBM Plex Sans KR" pitchFamily="34" charset="-120"/>
              </a:rPr>
              <a:t>RMSE 8.67 kW, 기준선 대비 30.0% 감소</a:t>
            </a:r>
            <a:endParaRPr lang="en-US" sz="1400" dirty="0"/>
          </a:p>
        </p:txBody>
      </p:sp>
      <p:sp>
        <p:nvSpPr>
          <p:cNvPr id="6" name="Text 4"/>
          <p:cNvSpPr/>
          <p:nvPr/>
        </p:nvSpPr>
        <p:spPr>
          <a:xfrm>
            <a:off x="812800" y="2900561"/>
            <a:ext cx="523240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6F7F4"/>
                </a:solidFill>
                <a:latin typeface="IBM Plex Sans KR" pitchFamily="34" charset="0"/>
                <a:ea typeface="IBM Plex Sans KR" pitchFamily="34" charset="-122"/>
                <a:cs typeface="IBM Plex Sans KR" pitchFamily="34" charset="-120"/>
              </a:rPr>
              <a:t>피크 49시간 중 48시간 경보 (재현율 98.0%, F1 0.527)</a:t>
            </a:r>
            <a:endParaRPr lang="en-US" sz="1400" dirty="0"/>
          </a:p>
        </p:txBody>
      </p:sp>
      <p:sp>
        <p:nvSpPr>
          <p:cNvPr id="7" name="Text 5"/>
          <p:cNvSpPr/>
          <p:nvPr/>
        </p:nvSpPr>
        <p:spPr>
          <a:xfrm>
            <a:off x="812800" y="3294261"/>
            <a:ext cx="523240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6F7F4"/>
                </a:solidFill>
                <a:latin typeface="IBM Plex Sans KR" pitchFamily="34" charset="0"/>
                <a:ea typeface="IBM Plex Sans KR" pitchFamily="34" charset="-122"/>
                <a:cs typeface="IBM Plex Sans KR" pitchFamily="34" charset="-120"/>
              </a:rPr>
              <a:t>3σ 관리한계와 대시보드로 현장 조치 흐름 제시</a:t>
            </a:r>
            <a:endParaRPr lang="en-US" sz="1400" dirty="0"/>
          </a:p>
        </p:txBody>
      </p:sp>
      <p:sp>
        <p:nvSpPr>
          <p:cNvPr id="8" name="Text 6"/>
          <p:cNvSpPr/>
          <p:nvPr/>
        </p:nvSpPr>
        <p:spPr>
          <a:xfrm>
            <a:off x="812800" y="3687961"/>
            <a:ext cx="523240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6F7F4"/>
                </a:solidFill>
                <a:latin typeface="IBM Plex Sans KR" pitchFamily="34" charset="0"/>
                <a:ea typeface="IBM Plex Sans KR" pitchFamily="34" charset="-122"/>
                <a:cs typeface="IBM Plex Sans KR" pitchFamily="34" charset="-120"/>
              </a:rPr>
              <a:t>명령 한 줄로 제출물 전체 재생성</a:t>
            </a:r>
            <a:endParaRPr lang="en-US" sz="1400" dirty="0"/>
          </a:p>
        </p:txBody>
      </p:sp>
      <p:sp>
        <p:nvSpPr>
          <p:cNvPr id="9" name="Text 7"/>
          <p:cNvSpPr/>
          <p:nvPr/>
        </p:nvSpPr>
        <p:spPr>
          <a:xfrm>
            <a:off x="6299200" y="2120838"/>
            <a:ext cx="523240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0A07A"/>
                </a:solidFill>
                <a:latin typeface="IBM Plex Sans KR" pitchFamily="34" charset="0"/>
                <a:ea typeface="IBM Plex Sans KR" pitchFamily="34" charset="-122"/>
                <a:cs typeface="IBM Plex Sans KR" pitchFamily="34" charset="-120"/>
              </a:rPr>
              <a:t>다음 단계</a:t>
            </a:r>
            <a:endParaRPr lang="en-US" sz="1700" dirty="0"/>
          </a:p>
        </p:txBody>
      </p:sp>
      <p:sp>
        <p:nvSpPr>
          <p:cNvPr id="10" name="Text 8"/>
          <p:cNvSpPr/>
          <p:nvPr/>
        </p:nvSpPr>
        <p:spPr>
          <a:xfrm>
            <a:off x="6299200" y="2506861"/>
            <a:ext cx="523240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CCDA"/>
                </a:solidFill>
                <a:latin typeface="IBM Plex Sans KR" pitchFamily="34" charset="0"/>
                <a:ea typeface="IBM Plex Sans KR" pitchFamily="34" charset="-122"/>
                <a:cs typeface="IBM Plex Sans KR" pitchFamily="34" charset="-120"/>
              </a:rPr>
              <a:t>오경보 85건(정밀도 36.1%)을 줄이는 경보 기준 조정</a:t>
            </a:r>
            <a:endParaRPr lang="en-US" sz="1400" dirty="0"/>
          </a:p>
        </p:txBody>
      </p:sp>
      <p:sp>
        <p:nvSpPr>
          <p:cNvPr id="11" name="Text 9"/>
          <p:cNvSpPr/>
          <p:nvPr/>
        </p:nvSpPr>
        <p:spPr>
          <a:xfrm>
            <a:off x="6299200" y="2900561"/>
            <a:ext cx="523240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CCDA"/>
                </a:solidFill>
                <a:latin typeface="IBM Plex Sans KR" pitchFamily="34" charset="0"/>
                <a:ea typeface="IBM Plex Sans KR" pitchFamily="34" charset="-122"/>
                <a:cs typeface="IBM Plex Sans KR" pitchFamily="34" charset="-120"/>
              </a:rPr>
              <a:t>현장 실증: 불필요 확인 건수, 작업 변경 횟수, 최대수요 변화 측정</a:t>
            </a:r>
            <a:endParaRPr lang="en-US" sz="1400" dirty="0"/>
          </a:p>
        </p:txBody>
      </p:sp>
      <p:sp>
        <p:nvSpPr>
          <p:cNvPr id="12" name="Text 10"/>
          <p:cNvSpPr/>
          <p:nvPr/>
        </p:nvSpPr>
        <p:spPr>
          <a:xfrm>
            <a:off x="6299200" y="3294261"/>
            <a:ext cx="523240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CCDA"/>
                </a:solidFill>
                <a:latin typeface="IBM Plex Sans KR" pitchFamily="34" charset="0"/>
                <a:ea typeface="IBM Plex Sans KR" pitchFamily="34" charset="-122"/>
                <a:cs typeface="IBM Plex Sans KR" pitchFamily="34" charset="-120"/>
              </a:rPr>
              <a:t>더 긴 기간 데이터로 계절별 검증 확대</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B3"/>
                </a:solidFill>
                <a:latin typeface="IBM Plex Sans KR" pitchFamily="34" charset="0"/>
                <a:ea typeface="IBM Plex Sans KR" pitchFamily="34" charset="-122"/>
                <a:cs typeface="IBM Plex Sans KR" pitchFamily="34" charset="-120"/>
              </a:rPr>
              <a:t>팀 LXAXMakers · 이한솔 · 김경제 · 김정현 · 26</a:t>
            </a:r>
            <a:endParaRPr lang="en-US" sz="1200" dirty="0"/>
          </a:p>
        </p:txBody>
      </p:sp>
    </p:spTree>
  </p:cSld>
  <p:clrMapOvr>
    <a:masterClrMapping/>
  </p:clrMapOvr>
</p:sld>
</file>

<file path=ppt/theme/theme1.xml><?xml version="1.0" encoding="utf-8"?>
<a:theme xmlns:a="http://schemas.openxmlformats.org/drawingml/2006/main" name="OKM 전력 피크 예측 발표">
  <a:themeElements>
    <a:clrScheme name="OKM 전력 피크 예측 발표">
      <a:dk1>
        <a:srgbClr val="13202E"/>
      </a:dk1>
      <a:lt1>
        <a:srgbClr val="F6F7F4"/>
      </a:lt1>
      <a:dk2>
        <a:srgbClr val="4C5660"/>
      </a:dk2>
      <a:lt2>
        <a:srgbClr val="DFE2E0"/>
      </a:lt2>
      <a:accent1>
        <a:srgbClr val="2A78D6"/>
      </a:accent1>
      <a:accent2>
        <a:srgbClr val="1F4E86"/>
      </a:accent2>
      <a:accent3>
        <a:srgbClr val="7FB6EC"/>
      </a:accent3>
      <a:accent4>
        <a:srgbClr val="F0A07A"/>
      </a:accent4>
      <a:accent5>
        <a:srgbClr val="2E4F73"/>
      </a:accent5>
      <a:accent6>
        <a:srgbClr val="C2571A"/>
      </a:accent6>
      <a:hlink>
        <a:srgbClr val="0563C1"/>
      </a:hlink>
      <a:folHlink>
        <a:srgbClr val="954F72"/>
      </a:folHlink>
    </a:clrScheme>
    <a:fontScheme name="OKM 전력 피크 예측 발표">
      <a:majorFont>
        <a:latin typeface="IBM Plex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OKM 전력 피크 예측 발표</dc:title>
  <dc:subject/>
  <dc:creator/>
  <cp:lastModifiedBy/>
  <cp:revision>1</cp:revision>
  <dcterms:created xsi:type="dcterms:W3CDTF">2026-10-08T05:29:28Z</dcterms:created>
  <dcterms:modified xsi:type="dcterms:W3CDTF">2026-10-08T05:29:28Z</dcterms:modified>
</cp:coreProperties>
</file>