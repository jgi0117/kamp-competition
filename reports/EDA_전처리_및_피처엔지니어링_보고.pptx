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KAMP 제조 AI 경진대회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72A"/>
                </a:solidFill>
                <a:latin typeface="맑은 고딕"/>
              </a:defRPr>
            </a:pPr>
            <a:r>
              <a:t>OKM 제조 설비 전력사용량 예측을 위한</a:t>
            </a:r>
          </a:p>
          <a:p>
            <a:pPr>
              <a:defRPr sz="3600" b="1">
                <a:solidFill>
                  <a:srgbClr val="2563EB"/>
                </a:solidFill>
                <a:latin typeface="맑은 고딕"/>
              </a:defRPr>
            </a:pPr>
            <a:r>
              <a:t>데이터 전처리 및 피처 엔지니어링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맑은 고딕"/>
              </a:defRPr>
            </a:pPr>
            <a:r>
              <a:t>도메인 물리량 기반 데이터 무결성 검증, 심층 EDA 시각화 5대 인사이트,</a:t>
            </a:r>
            <a:br/>
            <a:r>
              <a:t>그리고 예측 정확도 극대화를 위한 31개 파생변수 후보군 상세 명세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83480"/>
            <a:ext cx="9997135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작성자 / 발표자 : 김정현 (LSAXMakers Data Team)       |       프로젝트 브랜치 : git checkout kjh</a:t>
            </a:r>
          </a:p>
          <a:p>
            <a:pPr>
              <a:defRPr sz="1000">
                <a:solidFill>
                  <a:srgbClr val="2563EB"/>
                </a:solidFill>
                <a:latin typeface="맑은 고딕"/>
              </a:defRPr>
            </a:pPr>
            <a:r>
              <a:t>핵심 키워드 : #결측치·이상치완전정제  #도메인대기전력검증  #시계열자기상관성(168h)  #31개파생변수  #TimeSeriesSplit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전체 회의 목차 및 진행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데이터 정제부터 시각화 인사이트, 파생변수 계획까지 4단계로 논의합니다.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8655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8229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47088"/>
            <a:ext cx="91440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프로젝트 배경 및 데이터 개요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예측 목표: </a:t>
            </a:r>
            <a:r>
              <a:rPr>
                <a:solidFill>
                  <a:srgbClr val="334155"/>
                </a:solidFill>
              </a:rPr>
              <a:t>OKM 제조 공장의 시간대별 전력 예측 및 180 kW 이상 피크 부하 사전 탐지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데이터 규모: </a:t>
            </a:r>
            <a:r>
              <a:rPr>
                <a:solidFill>
                  <a:srgbClr val="334155"/>
                </a:solidFill>
              </a:rPr>
              <a:t>2021년 1-9월 총 6,168시간 연속 시계열 및 3개 도메인 18개 원본 피처 특성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07791"/>
            <a:ext cx="10728655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090671"/>
            <a:ext cx="8229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17519"/>
            <a:ext cx="91440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전처리 파이프라인 및 무결성 검증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4대 정제 성과: </a:t>
            </a:r>
            <a:r>
              <a:rPr>
                <a:solidFill>
                  <a:srgbClr val="334155"/>
                </a:solidFill>
              </a:rPr>
              <a:t>공장인원 결측(17건) 셧다운 0.0 대체, 풍속/강수 선형 보간, 7월 시간 이상치 정상 복원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도메인 검증: </a:t>
            </a:r>
            <a:r>
              <a:rPr>
                <a:solidFill>
                  <a:srgbClr val="334155"/>
                </a:solidFill>
              </a:rPr>
              <a:t>생산량 ↔ 인원 1:1 완벽 일치 및 무생산 시간 대기전력 Base Load(평균 46.5 kW) 입증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78224"/>
            <a:ext cx="10728655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261104"/>
            <a:ext cx="8229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187952"/>
            <a:ext cx="91440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심층 EDA 5대 인사이트 &amp; 파생변수 (핵심)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5대 시각화 규명: </a:t>
            </a:r>
            <a:r>
              <a:rPr>
                <a:solidFill>
                  <a:srgbClr val="334155"/>
                </a:solidFill>
              </a:rPr>
              <a:t>12시 점심 급감(-43kW), 요일x시간 조업 히트맵, 7일 주기(168h), 이봉분포, 기상 U자 곡선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파생변수 도출: </a:t>
            </a:r>
            <a:r>
              <a:rPr>
                <a:solidFill>
                  <a:srgbClr val="334155"/>
                </a:solidFill>
              </a:rPr>
              <a:t>각 시각화 결과와 1:1로 직결되는 5개 범주 총 31개 파생변수 풀 명세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48656"/>
            <a:ext cx="10728655" cy="102412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5431536"/>
            <a:ext cx="8229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358384"/>
            <a:ext cx="91440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모델링 검증 전략 및 향후 로드맵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검증 전략: </a:t>
            </a:r>
            <a:r>
              <a:rPr>
                <a:solidFill>
                  <a:srgbClr val="334155"/>
                </a:solidFill>
              </a:rPr>
              <a:t>미래 데이터 누수(Data Leakage)를 원천 차단하는 TimeSeriesSplit 4-Fold 교차검증</a:t>
            </a:r>
          </a:p>
          <a:p>
            <a:pPr>
              <a:defRPr sz="950">
                <a:latin typeface="맑은 고딕"/>
              </a:defRPr>
            </a:pPr>
            <a:r>
              <a:rPr b="1">
                <a:solidFill>
                  <a:srgbClr val="2563EB"/>
                </a:solidFill>
              </a:rPr>
              <a:t>• 마일스톤: </a:t>
            </a:r>
            <a:r>
              <a:rPr>
                <a:solidFill>
                  <a:srgbClr val="334155"/>
                </a:solidFill>
              </a:rPr>
              <a:t>LightGBM/XGBoost/CatBoost 베이스라인 벤치마킹 및 4단계 실행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01. 프로젝트 배경 및 데이터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제조 설비 전력사용량 예측 과제 정의 및 원본 데이터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단순 평균 전력 예측을 넘어 전력 피크(Peak Load) 위험을 사전 감지하는 것이 핵심 목표입니다.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791456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맑은 고딕"/>
              </a:defRPr>
            </a:pPr>
            <a:r>
              <a:t>🎯 예측 과제 정의 및 3대 핵심 난제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예측 대상(Target): </a:t>
            </a:r>
            <a:r>
              <a:rPr>
                <a:solidFill>
                  <a:srgbClr val="334155"/>
                </a:solidFill>
              </a:rPr>
              <a:t>OKM 제조 공장의 시간대별 전력사용량 (평균 kW) 정밀 예측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데이터 규모: </a:t>
            </a:r>
            <a:r>
              <a:rPr>
                <a:solidFill>
                  <a:srgbClr val="334155"/>
                </a:solidFill>
              </a:rPr>
              <a:t>2021년 1월 1일 - 9월 14일 (총 6,168시간 연속 시계열 데이터셋)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비즈니스 가치: </a:t>
            </a:r>
            <a:r>
              <a:rPr>
                <a:solidFill>
                  <a:srgbClr val="334155"/>
                </a:solidFill>
              </a:rPr>
              <a:t>180 kW 이상 피크 초과 시 기본요금 할증 방지 및 공장 설비 과부하 예방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분석 난제 1 (조업 급변): </a:t>
            </a:r>
            <a:r>
              <a:rPr>
                <a:solidFill>
                  <a:srgbClr val="334155"/>
                </a:solidFill>
              </a:rPr>
              <a:t>출퇴근, 주간/야간 교대, 점심시간(12시), 주말 휴무에 따른 극심한 부하 변동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분석 난제 2 (기동 부하): </a:t>
            </a:r>
            <a:r>
              <a:rPr>
                <a:solidFill>
                  <a:srgbClr val="334155"/>
                </a:solidFill>
              </a:rPr>
              <a:t>주말 냉각 후 월요일 아침 설비 재가동(Start-up) 시 발생하는 초기 순간 피크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분석 난제 3 (기상 비선형): </a:t>
            </a:r>
            <a:r>
              <a:rPr>
                <a:solidFill>
                  <a:srgbClr val="334155"/>
                </a:solidFill>
              </a:rPr>
              <a:t>외기 온도와 습도 변화에 따른 공장 냉난방 공조 부하의 비선형 U자 반응</a:t>
            </a:r>
          </a:p>
          <a:p>
            <a:pPr>
              <a:spcAft>
                <a:spcPts val="400"/>
              </a:spcAft>
              <a:defRPr sz="919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분석 전략 방향: </a:t>
            </a:r>
            <a:r>
              <a:rPr>
                <a:solidFill>
                  <a:srgbClr val="334155"/>
                </a:solidFill>
              </a:rPr>
              <a:t>단순 수치 회귀를 탈피하고 공장 물리 조업 규칙을 반영한 파생변수 주입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42255" cy="14447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865376"/>
            <a:ext cx="4913071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📅 1. 시간 및 캘린더 영역 (8개 피처)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피처: </a:t>
            </a:r>
            <a:r>
              <a:rPr>
                <a:solidFill>
                  <a:srgbClr val="334155"/>
                </a:solidFill>
              </a:rPr>
              <a:t>날짜(datetime), 월(m), 일(d), 요일(day: 1-7), 시간(0-23시)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도메인 가치: </a:t>
            </a:r>
            <a:r>
              <a:rPr>
                <a:solidFill>
                  <a:srgbClr val="334155"/>
                </a:solidFill>
              </a:rPr>
              <a:t>교대근무, 점심시간, 주말 휴무 등 규칙적 조업 주기 파악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데이터 품질 이슈: </a:t>
            </a:r>
            <a:r>
              <a:rPr>
                <a:solidFill>
                  <a:srgbClr val="334155"/>
                </a:solidFill>
              </a:rPr>
              <a:t>7월 시간 컬럼에 70-188 비정상값 48건 발생 (기온 곡선 검증 후 정상 복원 완료)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28416"/>
            <a:ext cx="5242255" cy="14447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456432"/>
            <a:ext cx="4913071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🏭 2. 공장 조업 및 설비 영역 (3개 피처)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피처: </a:t>
            </a:r>
            <a:r>
              <a:rPr>
                <a:solidFill>
                  <a:srgbClr val="334155"/>
                </a:solidFill>
              </a:rPr>
              <a:t>공장인원(명), 생산량(개), 설비용량(kW - 상수값 300)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도메인 가치: </a:t>
            </a:r>
            <a:r>
              <a:rPr>
                <a:solidFill>
                  <a:srgbClr val="334155"/>
                </a:solidFill>
              </a:rPr>
              <a:t>제품 생산 활동 및 작업자 투입에 따른 직접적 전력 소비량 추적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데이터 품질 이슈: </a:t>
            </a:r>
            <a:r>
              <a:rPr>
                <a:solidFill>
                  <a:srgbClr val="334155"/>
                </a:solidFill>
              </a:rPr>
              <a:t>8월 말 인원 17시간 연속 결측 발생 (셧다운 인과성 규명 후 0.0 대체)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919472"/>
            <a:ext cx="5242255" cy="14813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5047488"/>
            <a:ext cx="4913071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🌤️ 3. 기상 및 환경 관측 영역 (7개 피처)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피처: </a:t>
            </a:r>
            <a:r>
              <a:rPr>
                <a:solidFill>
                  <a:srgbClr val="334155"/>
                </a:solidFill>
              </a:rPr>
              <a:t>기온(℃), 습도(%), 풍속(m/s), 강수량(mm), 일조, 일사, 적설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도메인 가치: </a:t>
            </a:r>
            <a:r>
              <a:rPr>
                <a:solidFill>
                  <a:srgbClr val="334155"/>
                </a:solidFill>
              </a:rPr>
              <a:t>외부 온습도 변화에 따른 공장 내부 공조/냉난방 설비 부하 추적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데이터 품질 이슈: </a:t>
            </a:r>
            <a:r>
              <a:rPr>
                <a:solidFill>
                  <a:srgbClr val="334155"/>
                </a:solidFill>
              </a:rPr>
              <a:t>풍속 3건, 강수량 1건 결측 발생 (대기 연속성 기반 선형 보간 적용)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02. 전처리 파이프라인 및 무결성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4대 핵심 전처리 기법 적용 및 시계열 무결성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도메인 인과관계를 철저히 검증하여 결측치 0개 및 시간 이상치 완전 복원을 달성했습니다.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791456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👥 1. 공장인원 결측 (17건)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발생 현황: </a:t>
            </a:r>
            <a:r>
              <a:rPr>
                <a:solidFill>
                  <a:srgbClr val="334155"/>
                </a:solidFill>
              </a:rPr>
              <a:t>8/28 18시 - 8/29 10시 17시간 연속 결측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정제 조치: </a:t>
            </a:r>
            <a:r>
              <a:rPr>
                <a:solidFill>
                  <a:srgbClr val="334155"/>
                </a:solidFill>
              </a:rPr>
              <a:t>해당 기간 전력 0 kW(셧다운), 생산량 0 확인 후 '0.0' 으로 대체 확정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도메인 근거: </a:t>
            </a:r>
            <a:r>
              <a:rPr>
                <a:solidFill>
                  <a:srgbClr val="334155"/>
                </a:solidFill>
              </a:rPr>
              <a:t>전체 데이터에서 인원=0 ↔ 생산량=0 100% 성립 (휴무 기간 결측 인과성 증명)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7792"/>
            <a:ext cx="5120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35808"/>
            <a:ext cx="4791456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🌬️ 2. 풍속·강수량 결측 (4건)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발생 현황: </a:t>
            </a:r>
            <a:r>
              <a:rPr>
                <a:solidFill>
                  <a:srgbClr val="334155"/>
                </a:solidFill>
              </a:rPr>
              <a:t>전체 6,168시간 중 단 1-2건 국소 누락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정제 조치: </a:t>
            </a:r>
            <a:r>
              <a:rPr>
                <a:solidFill>
                  <a:srgbClr val="334155"/>
                </a:solidFill>
              </a:rPr>
              <a:t>직전·직후 시간 관측치 기준 '선형 보간(Linear Interpolation)' 적용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도메인 근거: </a:t>
            </a:r>
            <a:r>
              <a:rPr>
                <a:solidFill>
                  <a:srgbClr val="334155"/>
                </a:solidFill>
              </a:rPr>
              <a:t>대기 물리량의 시간적 연속성을 반영하여 왜곡 최소화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78224"/>
            <a:ext cx="5120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06240"/>
            <a:ext cx="4791456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⏰ 3. 시간 컬럼 이상치 (48건)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발생 현황: </a:t>
            </a:r>
            <a:r>
              <a:rPr>
                <a:solidFill>
                  <a:srgbClr val="334155"/>
                </a:solidFill>
              </a:rPr>
              <a:t>7/13, 7/15에 70-188 비정상값 기록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정제 조치: </a:t>
            </a:r>
            <a:r>
              <a:rPr>
                <a:solidFill>
                  <a:srgbClr val="334155"/>
                </a:solidFill>
              </a:rPr>
              <a:t>기온 일변화 곡선 100% 일치 확인 후 행 순서대로 '0-23시' 정상 재부여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도메인 근거: </a:t>
            </a:r>
            <a:r>
              <a:rPr>
                <a:solidFill>
                  <a:srgbClr val="334155"/>
                </a:solidFill>
              </a:rPr>
              <a:t>전후 정상일과 24시간 기온 일변화 궤적이 완벽 일치 (원본은 시간_raw로 보존)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48656"/>
            <a:ext cx="5120640" cy="1152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376672"/>
            <a:ext cx="47914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⚡ 4. 전력 계산 정밀도 (float64) &amp; 셧다운 플래그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정제 조치 1: </a:t>
            </a:r>
            <a:r>
              <a:rPr>
                <a:solidFill>
                  <a:srgbClr val="334155"/>
                </a:solidFill>
              </a:rPr>
              <a:t>원본 평균의 반올림 오차(+-0.5 kW) 제거를 위한 '전력_평균_실수' 신설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정제 조치 2: </a:t>
            </a:r>
            <a:r>
              <a:rPr>
                <a:solidFill>
                  <a:srgbClr val="334155"/>
                </a:solidFill>
              </a:rPr>
              <a:t>정전/셧다운 특수 구간 마스킹을 위한 '공장_셧다운_여부' 불리언 피처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0_full_timeseri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[그림 1] 9개월 전체 시계열(6,168시간) 전력 추이 및 이상치 발생 위치 대조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02. 전처리 품질 검증 (국소 확대 &amp; 대기전력)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생산량-인원 정비례 검증 및 비정상 셧다운 통계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비생산 시간에도 대기전력(평균 46.5 kW)이 항상 흐르고 있어 0 kW 셧다운과의 물리적 차이가 입증됩니다.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05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791456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🔗 1. 생산량 ↔ 인원 1:1 완벽 일치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통계 확인: </a:t>
            </a:r>
            <a:r>
              <a:rPr>
                <a:solidFill>
                  <a:srgbClr val="334155"/>
                </a:solidFill>
              </a:rPr>
              <a:t>전체 6,168행에서 인원=0 ↔ 생산량=0 완벽 성립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규명 의미: </a:t>
            </a:r>
            <a:r>
              <a:rPr>
                <a:solidFill>
                  <a:srgbClr val="334155"/>
                </a:solidFill>
              </a:rPr>
              <a:t>작업자가 없으면 생산도 없다는 도메인 물리 인과성을 산점도를 통해 통계적으로 100% 입증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7792"/>
            <a:ext cx="5120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35808"/>
            <a:ext cx="4791456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🔌 2. 대기전력(Base Load)의 상시 존재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통계 확인: </a:t>
            </a:r>
            <a:r>
              <a:rPr>
                <a:solidFill>
                  <a:srgbClr val="334155"/>
                </a:solidFill>
              </a:rPr>
              <a:t>무생산(생산량=0) 시간에도 평균 46.5 kW (최소 17 kW) 상시 소모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규명 의미: </a:t>
            </a:r>
            <a:r>
              <a:rPr>
                <a:solidFill>
                  <a:srgbClr val="334155"/>
                </a:solidFill>
              </a:rPr>
              <a:t>공장이 쉬어도 조명, 통신, 보안, 기본 설비 유지를 위한 기저 부하가 24시간 흐르고 있음을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78224"/>
            <a:ext cx="51206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06240"/>
            <a:ext cx="4791456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🛑 3. 8/28-29 비정상 셧다운 통계적 규명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통계 확인: </a:t>
            </a:r>
            <a:r>
              <a:rPr>
                <a:solidFill>
                  <a:srgbClr val="334155"/>
                </a:solidFill>
              </a:rPr>
              <a:t>해당 17시간 동안은 전력이 완전 0.0 kW로 차단됨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규명 의미: </a:t>
            </a:r>
            <a:r>
              <a:rPr>
                <a:solidFill>
                  <a:srgbClr val="334155"/>
                </a:solidFill>
              </a:rPr>
              <a:t>단순 무생산 휴무(46.5 kW)와 달리 전원이 완전히 차단된 정전/셧다운 특수 상태임을 입증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48656"/>
            <a:ext cx="5120640" cy="1152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376672"/>
            <a:ext cx="47914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🔍 4. 국소 확대(Local Zoom-in) 검증 의의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통계 확인: </a:t>
            </a:r>
            <a:r>
              <a:rPr>
                <a:solidFill>
                  <a:srgbClr val="334155"/>
                </a:solidFill>
              </a:rPr>
              <a:t>6,168행 전체 시계열 대비 36시간 및 13시간 국소 확대 대조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규명 의미: </a:t>
            </a:r>
            <a:r>
              <a:rPr>
                <a:solidFill>
                  <a:srgbClr val="334155"/>
                </a:solidFill>
              </a:rPr>
              <a:t>전체 시계열에서는 안 보이는 결측치 전후 연속성을 확대 플롯으로 대조하여 보간 타당성 입증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_production_power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[그림 2] 생산량-인원 정비례 관계(좌) 및 생산량=0 구간 대기전력 분포(우)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03. 심층 EDA 5대 인사이트 &amp; 파생변수 도출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인사이트 01: 시간대별 조업 주기와 점심시간 급감(Dip)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평일 12시 점심시간에 전력이 평균 43.3 kW 급감하며, 평일 주간과 주말의 전력 프로파일이 완전히 분리됩니다.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 분석 항목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정량적 수치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쉬운 설명 (도메인 해석)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12시 점심 급감</a:t>
                      </a:r>
                    </a:p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(Dip 현상)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11시 127.3 kW -&gt;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12시 84.0 kW 급감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(-43.3 kW, -34.0%)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식사 시간 설비 일시정지로 급감 후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13시(123.5 kW)에 즉시 복귀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주간 집중 조업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오전(08-11시) 110-127 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오후(13-16시) 118-124 kW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공장 정규 생산 라인이 풀가동되는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하루 중 최고 부하 집중 시간대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평일 vs 주말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평일 112.4 kW vs 주말 48.2 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(일요일 중앙값 22.5 kW)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주말에는 생산 라인이 멈추고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기본 인프라 대기전력만 소모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파생변수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 로직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시각화 도출 근거 및 모델링 기대 효과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점심시간여부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(시간 == 12).astype(int)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12시 43kW V자 급감 반영, 점심 과대 예측 방지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주말여부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요일.isin([6, 7]).astype(int)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평일-주말 박스플롯 분리 확인, 주말 조업 분기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조업시간대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0:심야, 1:오전, 2:점심, 3:오후, 4:야간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시간대별 계단식 전력 레벨 범주형 학습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시간_sin, cos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sin/cos(2 * pi * 시간 / 24)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23시와 00시의 원형 연속성 보존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_01_time_day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[시각화 01] 시간대별 평균 전력 및 점심 급감(좌) / 요일별 조업-주말 프로파일(우)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03. 심층 EDA 5대 인사이트 &amp; 파생변수 도출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인사이트 02: 2차원 조업 히트맵과 월요일 기동(Start-up) 부하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월-금 08-17시에 고부하가 집중되며, 특히 월요일 아침 설비 재가동 시 순간 피크 부하가 발생합니다.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07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 분석 항목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정량적 수치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쉬운 설명 (도메인 해석)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월-금 주간 블록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평일 08-17시 평균 140-170 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(히트맵상 청색 사각 영역)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월-금 정규 조업시간대에만 140 kW 이상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고부하가 직사각형 블록으로 집중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월요일 08시 기동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월요일 08시 평균 169 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(화-금 대비 약 35 kW 높음)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주말 동안 냉각된 설비 재가동 시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순간 시동(Start-up) 피크 발생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토요일 교대/휴무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00-06시 85-101 kW -&gt; 07시후 30-35 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(일요일 25-55 kW 유지)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금요일 야간 조업 잔여 후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토요일 오전부터 비가동 전환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파생변수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 로직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시각화 도출 근거 및 모델링 기대 효과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조업집중시간여부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(평일==1) &amp; (시간 8-11, 13-17)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140-170 kW 고부하 집중 영역 마스킹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월요일기동시간여부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(요일==1) &amp; (시간==8)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월요일 08시 예열 피크 부하 오차 보정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공휴일여부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2021년 법정공휴일 매핑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평일 요일 공휴일의 비가동 저부하 특성 반영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영업일여부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(주말==0) &amp; (공휴일==0)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실제 공장 정상 조업 수행일 마스터 피처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_02_heatmap_hour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[시각화 02] 요일 x 시간대 2차원 전력사용량 히트맵 (평일 조업 집중 및 월요일 기동 부하)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03. 심층 EDA 5대 인사이트 &amp; 파생변수 도출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인사이트 03: 시계열 지연(Lag) 상관성과 7일 조업 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1시간 전 전력(r=0.90)과 1주일 전 전력(r=0.74)이 전일 동시간(r=0.37)보다 2배 강력한 상관성을 보입니다.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08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 분석 항목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정량적 수치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쉬운 설명 (도메인 해석)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초단기 관성 (Lag 1h)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피어슨 상관계수 r = 0.9009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(Lag 2h 0.85, Lag 3h 0.79)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직전 1시간 전력은 현재 전력을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결정하는 가장 강력한 기준점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7일 주기 (Lag 168h)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1주일 전 상관계수 r = 0.7397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(전일 동시간 r=0.37 대비 2배)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'월-금 가동, 토-일 휴무' 주기로 인해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1주일 전 동일 요일과 완벽 동기화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24시간 ACF 파동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24, 48, 72시간마다 규칙적 피크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하루 24시간 일변화 조업 사이클의 규칙적 반복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파생변수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 로직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시각화 도출 근거 및 모델링 기대 효과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전력_lag1/2/3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전력(t-1), 전력(t-2), 전력(t-3)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산점도상 초강력 선형 관성(r=0.90) 모델 주입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전력_lag168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전력(t-168) (7일 전 동일 시간)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7일 조업 주기(평일-주말 사이클) 완벽 동기화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전력_lag24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전력(t-24) (전일 동일 시간)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어제 대비 오늘의 조업 레벨 증감 추세 반영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rolling_mean/std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최근 3h, 24h 이동평균 및 표준편차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단기 노이즈 평활화 및 급격한 변동성 감지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_03_lag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[시각화 03] 시계열 지연 산점도(Lag 1h, 2h, 24h, 168h) 및 168시간(1주일) ACF 파동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03. 심층 EDA 5대 인사이트 &amp; 파생변수 도출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인사이트 04: 생산 활동과 대기전력의 이봉분포(Bimodal)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공장 전력은 대기전력(20-25 kW)과 정상 가동(100-160 kW)의 완전한 2단계 계층으로 분리됩니다.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09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 분석 항목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정량적 수치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쉬운 설명 (도메인 해석)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이봉분포 (Bimodal)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대기 23 kW 피크 vs 가동 135 kW 피크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(중간값 50-80 kW 거의 없음)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단일 정규분포가 아닌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완전한 2대 기본 모드로 분리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설비 재가동 부하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정지-&gt;가동 전환 시간 평균 118.8 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(생산량=0 구간 46.5 kW 대비 급등)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꺼진 설비를 켤 때 모터 기동 전류와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예열 부하로 순간 급증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생산량 비선형성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생산량 0개: 46kW -&gt; 1-500개: 118kW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(500개 초과: 138-160kW 완만 증가)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가동 시작 시 기본 부하(100kW) 후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생산량에 따라 계단식 증가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파생변수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 로직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시각화 도출 근거 및 모델링 기대 효과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가동상태여부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(생산량 &gt; 0).astype(int)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Bimodal 2대 모드(대기 vs 가동) 1차 판별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설비기동여부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(생산량_lag1==0) &amp; (생산량&gt;0)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라인 재가동 시 초기 기동 부하(118.8kW) 포착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인당생산량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생산량 / (공장인원 + 0.1)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작업자 투입 대비 조업 밀도 및 설비 효율 정량화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부하율_lag1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전력_평균_실수(t-1) / 설비용량(300)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설비 연속 가동률 및 정속 운전 상태 구분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_04_production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[시각화 04] 전력 이봉분포 KDE 곡선(좌) 및 생산량 구간별 전력사용량 박스플롯(우)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03. 심층 EDA 5대 인사이트 &amp; 파생변수 도출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인사이트 05: 기상 요인 비선형 U자 곡선과 냉난방 부하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15-20℃ 쾌적 구간에서 전력이 최저이며, 불쾌지수 80 이상 혹서기에 피크 전력 위험이 4.2배 급증합니다.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10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통계 분석 항목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정량적 수치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쉬운 설명 (도메인 해석)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기온-전력 U자 곡선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15-20℃ 최저 (공조 부하 최소)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(0℃ 이하 상승, 25℃ 이상 급상승)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저온 난방기 및 고온 대형 냉방기 가동에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따른 전형적 비선형 U자 곡선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혹서기 피크 (DI&gt;=80)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불쾌지수 80 이상 구간에서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175-208 kW 최대 피크 집중 (4.2배)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기온과 습도가 동반 상승하는 혹서기에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공장 냉방 공조 풀가동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습도 복합 부하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습도 80% 이상 시 냉각 부하 가중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동일 고온이라도 습도에 따라</a:t>
                      </a:r>
                    </a:p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냉각탑 및 제습 공조 추가 가동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1148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파생변수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 로직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시각화 도출 근거 및 모델링 기대 효과</a:t>
                      </a:r>
                    </a:p>
                  </a:txBody>
                  <a:tcPr anchor="ctr" marL="73152" marR="73152" marT="36576" marB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냉방도일_CDD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max(기온 - 22, 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22℃ 초과 고온 냉방 부하 선형 분리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난방도일_HDD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max(15 - 기온, 0)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15℃ 미만 저온 난방 부하 선형 분리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불쾌지수_DI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0.81T + 0.01RH(0.99T-14.3) + 46.3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온·습도 결합 복합 체감 공조 부하 수치화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혹서기_냉방경보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(불쾌지수_DI &gt;= 80).astype(int)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180 kW 이상 최대 피크 위험 집중 학습 지원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1737360"/>
            <a:ext cx="54251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_05_weather_cooling_he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5315407" cy="4334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6181344"/>
            <a:ext cx="5425135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80">
                <a:solidFill>
                  <a:srgbClr val="64748B"/>
                </a:solidFill>
                <a:latin typeface="맑은 고딕"/>
              </a:defRPr>
            </a:pPr>
            <a:r>
              <a:t>[시각화 05] 기온-전력 비선형 2차 회귀 U자 곡선(좌) 및 불쾌지수 구간별 전력 피크 밀도(우)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04. 파생변수 종합 명세 (FEATURE CATALOG)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5대 도메인 범주별 31개 파생변수 풀 종합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시각화 인사이트를 통해 물리적·도메인적 타당성이 검증된 변수들로만 체계화했습니다.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11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3931920"/>
                <a:gridCol w="4419295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도메인 범주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변수수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생성 파생변수 목록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도메인 가치 및 모델링 예측 역할</a:t>
                      </a:r>
                    </a:p>
                  </a:txBody>
                  <a:tcPr anchor="ctr" marL="73152" marR="73152" marT="36576" marB="36576"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1. 시간 및 캘린더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9종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시간_sin/cos, 월_sin/cos, 주말여부, 점심시간여부,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조업시간대(5분할), 공휴일여부, 영업일여부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23-00시 순환성 보존, 12시 43kW 급감 분리,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주말 조업 중단(48kW) 및 평일 정상 조업 분기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2. 조업 스케줄·패턴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4종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조업집중시간여부, 월요일기동시간여부,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주차(week), 분기(quarter)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월-금 08-17시 고부하 마스킹, 월요일 아침 설비 예열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피크(169kW) 포착, 연간·분기별 거시 조업 흐름 반영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3. 시계열 지연·롤링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9종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전력_lag_1/2/3/24/168h, rolling_mean_3/24h,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rolling_std_3/24h, 전력_diff_1h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단기 관성(Lag 1h r=0.90) 및 7일 조업주기(Lag 168h r=0.74),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가동 전환 시 변동성 감지 및 급상승 모멘텀 포착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4. 생산 및 설비 운영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5개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가동상태여부, 설비기동여부, 인당생산량,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생산량_lag1, 생산량_변화량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이봉분포(대기 23kW vs 가동 135kW) 모드 분리,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라인 재가동 시 기동 부하(118.8kW) 및 조업 밀도 반영</a:t>
                      </a:r>
                    </a:p>
                  </a:txBody>
                  <a:tcPr anchor="ctr" marL="73152" marR="73152" marT="27432" marB="27432">
                    <a:solidFill>
                      <a:srgbClr val="EFF6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563EB"/>
                          </a:solidFill>
                          <a:latin typeface="맑은 고딕"/>
                        </a:defRPr>
                      </a:pPr>
                      <a:r>
                        <a:t>5. 기상 및 냉난방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6개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냉방도일(CDD), 난방도일(HDD), 불쾌지수(DI),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혹서기_냉방경보, 체감온도, 기온_변화량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15-20℃ 비선형 U자 공조 부하 선형 분리,</a:t>
                      </a:r>
                    </a:p>
                    <a:p>
                      <a:pPr>
                        <a:defRPr sz="919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혹서기(DI 80 이상) 180 kW 이상 최대 피크 위험 경보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04. 머신러닝 모델링 및 검증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TimeSeriesSplit 4-Fold 교차검증 및 다차원 평가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시계열 순서를 보존하여 미래 데이터 누수(Data Leakage)를 원천 차단하고 피크 적중률을 집중 평가합니다.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12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791456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맑은 고딕"/>
              </a:defRPr>
            </a:pPr>
            <a:r>
              <a:t>🛡️ TimeSeriesSplit 4-Fold 전진 교차검증 체계</a:t>
            </a:r>
          </a:p>
          <a:p>
            <a:pPr>
              <a:spcAft>
                <a:spcPts val="400"/>
              </a:spcAft>
              <a:defRPr sz="90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데이터 누수 차단: </a:t>
            </a:r>
            <a:r>
              <a:rPr>
                <a:solidFill>
                  <a:srgbClr val="334155"/>
                </a:solidFill>
              </a:rPr>
              <a:t>무작위 셔플 시 미래 정보가 유출되므로 시간 순서를 엄격히 준수</a:t>
            </a:r>
          </a:p>
          <a:p>
            <a:pPr>
              <a:spcAft>
                <a:spcPts val="400"/>
              </a:spcAft>
              <a:defRPr sz="90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[Fold 1] 간절기 전이: </a:t>
            </a:r>
            <a:r>
              <a:rPr>
                <a:solidFill>
                  <a:srgbClr val="334155"/>
                </a:solidFill>
              </a:rPr>
              <a:t>학습 1-3월 (2,160h) -&gt; 검증 4월 (720h) | 동절기 후 봄철 전이 예측</a:t>
            </a:r>
          </a:p>
          <a:p>
            <a:pPr>
              <a:spcAft>
                <a:spcPts val="400"/>
              </a:spcAft>
              <a:defRPr sz="90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[Fold 2] 냉방 진입기: </a:t>
            </a:r>
            <a:r>
              <a:rPr>
                <a:solidFill>
                  <a:srgbClr val="334155"/>
                </a:solidFill>
              </a:rPr>
              <a:t>학습 1-4월 (2,880h) -&gt; 검증 5월 (744h) | 초여름 냉방 부하 초기 검증</a:t>
            </a:r>
          </a:p>
          <a:p>
            <a:pPr>
              <a:spcAft>
                <a:spcPts val="400"/>
              </a:spcAft>
              <a:defRPr sz="90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[Fold 3] 하절기/이상치: </a:t>
            </a:r>
            <a:r>
              <a:rPr>
                <a:solidFill>
                  <a:srgbClr val="334155"/>
                </a:solidFill>
              </a:rPr>
              <a:t>학습 1-5월 (3,624h) -&gt; 검증 6-7월 (1,464h) | 7월 복원 시간 검증</a:t>
            </a:r>
          </a:p>
          <a:p>
            <a:pPr>
              <a:spcAft>
                <a:spcPts val="400"/>
              </a:spcAft>
              <a:defRPr sz="90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[Fold 4] 혹서기 피크: </a:t>
            </a:r>
            <a:r>
              <a:rPr>
                <a:solidFill>
                  <a:srgbClr val="334155"/>
                </a:solidFill>
              </a:rPr>
              <a:t>학습 1-7월 (5,088h) -&gt; 검증 8-9월 (1,080h) | 연중 최대 혹서기 피크 종합 평가</a:t>
            </a:r>
          </a:p>
          <a:p>
            <a:pPr>
              <a:spcAft>
                <a:spcPts val="400"/>
              </a:spcAft>
              <a:defRPr sz="90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검증 신뢰도 효과: </a:t>
            </a:r>
            <a:r>
              <a:rPr>
                <a:solidFill>
                  <a:srgbClr val="334155"/>
                </a:solidFill>
              </a:rPr>
              <a:t>과거 데이터를 점진적으로 누적하며 항상 미확인 미래 구간을 정밀 평가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42255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865376"/>
            <a:ext cx="4913071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🎯 평가 지표 체계 &amp; 3대 베이스라인 알고리즘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RMSE (최우선 최적화): </a:t>
            </a:r>
            <a:r>
              <a:rPr>
                <a:solidFill>
                  <a:srgbClr val="334155"/>
                </a:solidFill>
              </a:rPr>
              <a:t>피크 부하 구간의 큰 오차에 높은 페널티를 부여하는 핵심 지표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MAE (직관적 오차): </a:t>
            </a:r>
            <a:r>
              <a:rPr>
                <a:solidFill>
                  <a:srgbClr val="334155"/>
                </a:solidFill>
              </a:rPr>
              <a:t>실제 전력과 예측 전력 간의 평균 절대 오차 (단위: kW)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MAPE (백분율 오차): </a:t>
            </a:r>
            <a:r>
              <a:rPr>
                <a:solidFill>
                  <a:srgbClr val="334155"/>
                </a:solidFill>
              </a:rPr>
              <a:t>전체 전력 대비 백분율 오차율 (공장 운영진 보고용, 10% 이내 목표)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피크 적중률 (Recall): </a:t>
            </a:r>
            <a:r>
              <a:rPr>
                <a:solidFill>
                  <a:srgbClr val="334155"/>
                </a:solidFill>
              </a:rPr>
              <a:t>180 kW 이상 최대 피크 위험 시간대 사전 경보 성공률 (y &gt;= 180kW)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LightGBM: </a:t>
            </a:r>
            <a:r>
              <a:rPr>
                <a:solidFill>
                  <a:srgbClr val="334155"/>
                </a:solidFill>
              </a:rPr>
              <a:t>대용량 테이블 시계열 최고 속도, 비선형 변수 상호작용 학습 우수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XGBoost: </a:t>
            </a:r>
            <a:r>
              <a:rPr>
                <a:solidFill>
                  <a:srgbClr val="334155"/>
                </a:solidFill>
              </a:rPr>
              <a:t>강력한 정규화 페널티(L1/L2)로 이상치 및 결측 구간 안정적 수렴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CatBoost: </a:t>
            </a:r>
            <a:r>
              <a:rPr>
                <a:solidFill>
                  <a:srgbClr val="334155"/>
                </a:solidFill>
              </a:rPr>
              <a:t>조업시간대, 요일 등 범주형 변수를 타깃 인코딩 손실 없이 최적 처리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앙상블 블렌딩: </a:t>
            </a:r>
            <a:r>
              <a:rPr>
                <a:solidFill>
                  <a:srgbClr val="334155"/>
                </a:solidFill>
              </a:rPr>
              <a:t>3대 모델 가중치 결합으로 단일 모델의 극단적 오차 상호 보완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SECTION 04. 향후 단계별 진행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맑은 고딕"/>
              </a:defRPr>
            </a:pPr>
            <a:r>
              <a:t>기획 완료 후 실제 구현 및 모델링 4단계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맑은 고딕"/>
              </a:defRPr>
            </a:pPr>
            <a:r>
              <a:t>팀원 회의 피드백을 수렴하여 파생변수 생성부터 모델 벤치마킹까지 단계별로 수행합니다.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64748B"/>
                </a:solidFill>
                <a:latin typeface="맑은 고딕"/>
              </a:defRPr>
            </a:pPr>
            <a:r>
              <a:t>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10399471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맑은 고딕"/>
              </a:defRPr>
            </a:pPr>
            <a:r>
              <a:t>[Phase 1] 전처리 및 파생변수 기획 [완료]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수행 내용: </a:t>
            </a:r>
            <a:r>
              <a:rPr>
                <a:solidFill>
                  <a:srgbClr val="334155"/>
                </a:solidFill>
              </a:rPr>
              <a:t>6,168시간 결측치 0개 및 시간 이상치 완전 정제, 5대 심층 EDA 플롯 완료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산출물: </a:t>
            </a:r>
            <a:r>
              <a:rPr>
                <a:solidFill>
                  <a:srgbClr val="334155"/>
                </a:solidFill>
              </a:rPr>
              <a:t>reports/feature_engineering_plan.md, figures/fe_0*.png, 발표용 보고서(PDF/PPTX)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현재 상태: </a:t>
            </a:r>
            <a:r>
              <a:rPr>
                <a:solidFill>
                  <a:srgbClr val="334155"/>
                </a:solidFill>
              </a:rPr>
              <a:t>GitHub kjh 브랜치 공유 및 팀 피드백 수렴 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7792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35808"/>
            <a:ext cx="10399471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[Phase 2] 파생변수 파이프라인 구현 [차기 진행]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수행 내용: </a:t>
            </a:r>
            <a:r>
              <a:rPr>
                <a:solidFill>
                  <a:srgbClr val="334155"/>
                </a:solidFill>
              </a:rPr>
              <a:t>팀 회의 피드백 기반 31개 파생변수 우선순위 확정 및 클래스 기반 파이프라인 구축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산출물: </a:t>
            </a:r>
            <a:r>
              <a:rPr>
                <a:solidFill>
                  <a:srgbClr val="334155"/>
                </a:solidFill>
              </a:rPr>
              <a:t>src/features.py 모듈 작성, notebooks/kjh/03_feature_engineering_eda.ipynb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목표 일정: </a:t>
            </a:r>
            <a:r>
              <a:rPr>
                <a:solidFill>
                  <a:srgbClr val="334155"/>
                </a:solidFill>
              </a:rPr>
              <a:t>내일 회의 직후 2단계 모듈 구현 착수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78224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206240"/>
            <a:ext cx="10399471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[Phase 3] 머신러닝 베이스라인 구축 [대기]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수행 내용: </a:t>
            </a:r>
            <a:r>
              <a:rPr>
                <a:solidFill>
                  <a:srgbClr val="334155"/>
                </a:solidFill>
              </a:rPr>
              <a:t>TimeSeriesSplit 4-Fold 교차검증 연결, LightGBM/XGBoost/CatBoost 성능 벤치마킹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산출물: </a:t>
            </a:r>
            <a:r>
              <a:rPr>
                <a:solidFill>
                  <a:srgbClr val="334155"/>
                </a:solidFill>
              </a:rPr>
              <a:t>src/models/baseline.py, reports/baseline_performance.csv (RMSE/MAE 비교표)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검증 목표: </a:t>
            </a:r>
            <a:r>
              <a:rPr>
                <a:solidFill>
                  <a:srgbClr val="334155"/>
                </a:solidFill>
              </a:rPr>
              <a:t>원본 피처 대비 31개 파생변수 투입 후 예측 오차 감소율 정량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48656"/>
            <a:ext cx="10728655" cy="1152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376672"/>
            <a:ext cx="10399471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  <a:latin typeface="맑은 고딕"/>
              </a:defRPr>
            </a:pPr>
            <a:r>
              <a:t>[Phase 4] 피크 분석 및 모델 고도화 [대기]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수행 내용: </a:t>
            </a:r>
            <a:r>
              <a:rPr>
                <a:solidFill>
                  <a:srgbClr val="334155"/>
                </a:solidFill>
              </a:rPr>
              <a:t>SHAP 및 Feature Importance 분석, 180 kW 이상 최대 피크 발생 조건 역추적 규명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주요 산출물: </a:t>
            </a:r>
            <a:r>
              <a:rPr>
                <a:solidFill>
                  <a:srgbClr val="334155"/>
                </a:solidFill>
              </a:rPr>
              <a:t>reports/peak_risk_analysis.md, final_submission_pipeline.py 최종 제출 파이프라인</a:t>
            </a:r>
          </a:p>
          <a:p>
            <a:pPr>
              <a:spcAft>
                <a:spcPts val="400"/>
              </a:spcAft>
              <a:defRPr sz="88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최종 목표: </a:t>
            </a:r>
            <a:r>
              <a:rPr>
                <a:solidFill>
                  <a:srgbClr val="334155"/>
                </a:solidFill>
              </a:rPr>
              <a:t>KAMP 경진대회 제출용 앙상블 모델 완성 및 피크 부하 사전 경보 시스템 수립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경청해 주셔서 감사합니다</a:t>
            </a:r>
          </a:p>
          <a:p>
            <a:pPr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Q &amp; A 및 팀원 피드백 논의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54680"/>
            <a:ext cx="999713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3282696"/>
            <a:ext cx="9667951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안건 1. 파생변수 우선순위 확정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논의 내용: </a:t>
            </a:r>
            <a:r>
              <a:rPr>
                <a:solidFill>
                  <a:srgbClr val="334155"/>
                </a:solidFill>
              </a:rPr>
              <a:t>31개 후보 변수 중 1차 베이스라인 모델에 우선 투입할 핵심 피처 선정 및 추가 아이디어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목표 산출물: </a:t>
            </a:r>
            <a:r>
              <a:rPr>
                <a:solidFill>
                  <a:srgbClr val="334155"/>
                </a:solidFill>
              </a:rPr>
              <a:t>우선 투입 파생변수 목록 확정 및 제외 변수 합의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005072"/>
            <a:ext cx="999713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4133088"/>
            <a:ext cx="9667951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안건 2. 지연 피처(Lag) 윈도우 합의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논의 내용: </a:t>
            </a:r>
            <a:r>
              <a:rPr>
                <a:solidFill>
                  <a:srgbClr val="334155"/>
                </a:solidFill>
              </a:rPr>
              <a:t>Lag 168h(1주일) 및 Lag 24h(전일) 생성 시 발생하는 초기 결측 구간 처리 방식 확정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목표 산출물: </a:t>
            </a:r>
            <a:r>
              <a:rPr>
                <a:solidFill>
                  <a:srgbClr val="334155"/>
                </a:solidFill>
              </a:rPr>
              <a:t>초기 결측 행 마스킹 또는 제거 기준 합의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855464"/>
            <a:ext cx="999713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4983480"/>
            <a:ext cx="9667951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안건 3. 평가 지표 가중치 결정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논의 내용: </a:t>
            </a:r>
            <a:r>
              <a:rPr>
                <a:solidFill>
                  <a:srgbClr val="334155"/>
                </a:solidFill>
              </a:rPr>
              <a:t>전체 평균 오차(MAE/RMSE)와 최대 피크 적중률(Peak Recall) 중 최우선 최적화 지표 확정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목표 산출물: </a:t>
            </a:r>
            <a:r>
              <a:rPr>
                <a:solidFill>
                  <a:srgbClr val="334155"/>
                </a:solidFill>
              </a:rPr>
              <a:t>모델 튜닝 목적함수 및 손실 가중치 합의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705856"/>
            <a:ext cx="999713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5833872"/>
            <a:ext cx="9667951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안건 4. 모델링 역할 분담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논의 내용: </a:t>
            </a:r>
            <a:r>
              <a:rPr>
                <a:solidFill>
                  <a:srgbClr val="334155"/>
                </a:solidFill>
              </a:rPr>
              <a:t>LightGBM, XGBoost, CatBoost 모델별 파라미터 튜닝 및 Feature Importance 분석 파트너링</a:t>
            </a:r>
          </a:p>
          <a:p>
            <a:pPr>
              <a:spcAft>
                <a:spcPts val="400"/>
              </a:spcAft>
              <a:defRPr sz="850">
                <a:latin typeface="맑은 고딕"/>
              </a:defRPr>
            </a:pPr>
            <a:r>
              <a:rPr b="1">
                <a:solidFill>
                  <a:srgbClr val="0F172A"/>
                </a:solidFill>
              </a:rPr>
              <a:t>• 목표 산출물: </a:t>
            </a:r>
            <a:r>
              <a:rPr>
                <a:solidFill>
                  <a:srgbClr val="334155"/>
                </a:solidFill>
              </a:rPr>
              <a:t>팀원별 머신러닝 알고리즘 R&amp;R 분담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