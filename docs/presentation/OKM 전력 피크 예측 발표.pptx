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제출용 발표 표지. 팀명과 팀원 이름은 확정 후 채운다. 주제: 다음 1시간 전력이 177 kW 이상이 될 확률을 예측해 사전 경보.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 메시지: 데이터에 불량 라벨이 없어서 전력 피크를 제조 이상으로 정의했다. 전력 예측 모델의 오차 크기를 확률로 바꿔 경보한다. 최종 Test에서 피크를 거의 다 잡고(Recall 0.98), 전력 예측 오차도 베이스라인보다 30% 낮다.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생산 단위는 1시간이다. 전력은 15분 단위 4개 구간으로 기록되고 그 평균이 예측 대상이다. 생산량·공장인원·기상과 함께 9개월치가 빠짐없이 이어져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정현님 전처리 결과를 정리한 슬라이드. 시간 컬럼 이상치는 기온 일변화로 순서를 검증해 복원했고, 공장인원 결측은 전력·생산이 모두 0인 셧다운 구간이라 0으로 채웠다. 셧다운은 예측 대상에서는 빼고 입력에는 남겨 시계열 연속성을 유지했다. 피크는 전체의 5~7%로 불균형하다.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공장은 평일 주간에만 고부하로 돌고 주말은 대기전력 수준이다. 12시 점심에 전력이 34% 떨어지고, 월요일 아침 8시에는 설비 기동으로 169 kW까지 튄다. 직전 1시간과 1주일 전 같은 시간의 상관이 높다. 피크는 평일 오전·오후 조업 시간에 몰린다. 모델 오차를 추적하다가 달력상 영업일인데 공장이 쉰 날(여름휴가, 겨울 정기 휴무)을 찾았다. 이 정보는 데이터에 없다.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시계열이라 무작위로 섞지 않는다. 검증 기간 3개를 계절이 다르게 두고 각 기간 이전 데이터로만 학습한다. 학습 구간 마지막 14일은 조기 종료 판단에만 써서 모델 선택용 검증 구간과 겹치지 않게 했다. 최종 모델은 8/15까지 데이터로 학습하고 Test 8/16~9/14에서 한 번만 평가했다.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데이터에 불량이나 고장 기록이 없다. 전력 피크는 최대수요 요금과 설비 과부하로 이어지는 공정 운영 이상이라 이것을 이상으로 정의했다. 기준 177 kW는 Test를 보지 않고 그 이전 기간의 상위 5%로 정했다. 전력 예측 모델은 피크를 낮게 예측하는 경향이 있어서, 예측 오차 크기를 반영한 확률로 바꿔 경보한다. 경보를 울릴 확률은 검증 구간에서 F1이 가장 높은 값으로 정했다.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비교 대상은 네 갈래다. 학습 없는 베이스라인 두 개, 정현님의 트리 계열 머신러닝 9종, 경제님의 사전학습 시계열 모델 3종(zero-shot과 층별 미세조정), 그리고 딥러닝 네 가지. 딥러닝은 모든 조합을 곱하지 않고 한 단계에서 고른 값을 고정한 채 다음 단계로 넘어가는 방식으로 315회 튜닝했다. 선택 규칙은 코드로 고정했다.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[김정현 작성] 머신러닝 9종 벤치마크 결과. 수치는 팀 공통 기준(셧다운 17시간 제외 703시간, 177 kW 이상 확률 경보 F1)으로 계산한다.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[경제님 작성] 사전학습 시계열 모델 3종의 zero-shot과 층별 미세조정 결과. 몇 층까지 학습할 때 가장 좋은지가 핵심 발견. Test 수치는 팀 공통 기준(703시간, 177 kW 확률 경보)으로 최종 비교표에 넣는다.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회색 두 줄이 학습 없는 베이스라인이다. 딥러닝 네 모델 모두 RMSE와 F1에서 베이스라인을 넘었다. 최종 모델 Weighted Ensemble은 RMSE 8.67, R² 0.975, F1 0.527로 1위이고 피크 49시간 중 1시간만 놓쳤다. 머신러닝 줄은 정현님 모델, 사전학습 줄은 경제님 모델을 같은 조건(셧다운 제외 703시간, 177 kW 확률 경보)으로 계산한 값을 넣는다.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모델 선정 근거 세 가지. 첫째, 검증에서 가장 좋아 검증 기준으로 골랐고 Test에서도 1위를 유지했다. 둘째, LSTM과 TCN은 보는 시간 범위가 달라 기간마다 강한 모델이 바뀌는데, 결합하면 가장 안정적이다. 셋째, 피크를 한 시간만 놓쳤다. 헛경보가 많은 것은 놓침을 더 위험하게 본 경보 기준의 결과다.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변수 하나를 시간과 무관하게 뒤섞었을 때 오차가 얼마나 커지는지로 중요도를 쟀다. 과거 전력이 압도적이고, 그다음이 시간대와 주말 여부다. 1시간 앞 예측에서는 생산량과 기상의 직접 영향이 작다. 변수 둘을 함께 섞어도 오차가 따로 섞은 합보다 크게 늘지 않아 상호작용은 작다.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오류가 몰리는 공정조건을 찾기 위해 검증과 Test의 시간별 경보 결과를 조건별로 묶었다. 놓친 피크는 주말 뒤 월요일 8시 설비 기동, 오전 조업 시간, 28도 이상 고온에 몰린다. 모두 전력이 짧은 시간에 급하게 오르는 상황이다. 헛경보는 점심 직후 13시와 조업 시작 시간처럼 전력이 피크 기준 근처까지 오르는 시간대에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구간 한 달 동안 실제와 예측을 겹쳐 그렸다. 예측이 실제를 잘 따라가고, 피크를 놓친 시간은 한 시간뿐이다. 헛경보는 피크 바로 앞뒤 시간에 몰려 있어 현장에서는 "곧 피크가 온다"는 신호로도 쓸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현장에서는 매시간 다음 시간의 이상 확률을 보고 경보를 받는다. 놓침이 몰리는 조건(월요일 아침 기동, 고온 오전 조업)은 집중 관리 시간대로 정해 설비를 한꺼번에 켜지 않도록 한다. 헛경보가 피크 바로 앞뒤에 몰려 있어 피크가 다가온다는 신호로도 쓸 수 있다. 회사 휴무와 생산 계획을 입력으로 받으면 예측을 더 개선할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요구 키워드별로 실제로 한 것과 근거 수치를 짝지었다. 복잡한 방법을 넣는 것보다 검증으로 채택 여부를 정하는 것을 원칙으로 삼았다. 예를 들어 확률 보정은 시도했지만 Test에서 이득이 없어 채택하지 않았다. 피처 안전성 진단과 회사 휴무 발견은 다음 슬라이드에서 자세히 설명한다.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트리 모델에서 효과가 있던 파생 피처가 딥러닝에서는 크게 실패했다. 원인을 찾으려고 피처마다 평가 값이 학습 범위를 벗어나는 비율과 표준화 값을 계산했다. 냉방 관련 피처는 겨울 학습 구간에서 거의 0이라 여름 값이 들어오면 평소의 수십 배로 튀었다. 이런 피처를 제거하자 오차가 45에서 9.7로 돌아왔다. 딥러닝에 피처를 넣기 전에 자동으로 걸러내는 점검 절차로 쓸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run_all.py 하나로 원본 데이터부터 정제, 피처 생성, 학습, 평가, 오류분석, 결과 보고서까지 자동 실행된다. 가진 데이터 단계부터 시작할 수 있다. 정현님 피처 코드로 만든 파일이 실험에 쓴 파일과 바이트까지 같고, seed를 고정해 다시 돌려도 수치가 똑같이 나온다. 라이브러리 버전은 requirements.txt로 고정했다.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불량 라벨이 없는 공장 데이터에서도 전력 피크를 제조 이상으로 정의해 한 시간 전에 확률로 경보할 수 있었다. 피크를 거의 다 잡았고 전력 예측 정확도도 베이스라인보다 크게 좋다. 남은 과제는 헛경보를 줄이는 것과, 회사 휴무·생산 계획 같은 운영 정보를 연결하는 것, 그리고 더 긴 기간 데이터로 검증하는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7F4"/>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97918"/>
            <a:ext cx="10566400" cy="438150"/>
          </a:xfrm>
          <a:prstGeom prst="rect">
            <a:avLst/>
          </a:prstGeom>
          <a:noFill/>
          <a:ln/>
        </p:spPr>
        <p:txBody>
          <a:bodyPr wrap="square" lIns="0" tIns="0" rIns="0" bIns="0" rtlCol="0" anchor="t"/>
          <a:lstStyle>
            <a:lvl1pPr algn="l" indent="0" marL="0">
              <a:lnSpc>
                <a:spcPct val="115000"/>
              </a:lnSpc>
              <a:buNone/>
              <a:defRPr lang="en-US" sz="3000" dirty="0">
                <a:solidFill>
                  <a:srgbClr val="13202E"/>
                </a:solidFill>
                <a:latin typeface="IBM Plex Sans KR" pitchFamily="34" charset="0"/>
                <a:ea typeface="IBM Plex Sans KR" pitchFamily="34" charset="-122"/>
                <a:cs typeface="IBM Plex Sans KR"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2040868"/>
            <a:ext cx="10566400" cy="4004332"/>
          </a:xfrm>
          <a:prstGeom prst="rect">
            <a:avLst/>
          </a:prstGeom>
          <a:noFill/>
          <a:ln/>
        </p:spPr>
        <p:txBody>
          <a:bodyPr wrap="square" lIns="0" tIns="0" rIns="0" bIns="0" rtlCol="0" anchor="t"/>
          <a:lstStyle>
            <a:lvl1pPr algn="l" indent="0" marL="0">
              <a:lnSpc>
                <a:spcPct val="140000"/>
              </a:lnSpc>
              <a:buNone/>
              <a:defRPr lang="en-US" sz="1600" dirty="0">
                <a:solidFill>
                  <a:srgbClr val="13202E"/>
                </a:solidFill>
                <a:latin typeface="IBM Plex Sans KR" pitchFamily="34" charset="0"/>
                <a:ea typeface="IBM Plex Sans KR" pitchFamily="34" charset="-122"/>
                <a:cs typeface="IBM Plex Sans K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7F4"/>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97918"/>
            <a:ext cx="10566400" cy="438150"/>
          </a:xfrm>
          <a:prstGeom prst="rect">
            <a:avLst/>
          </a:prstGeom>
          <a:noFill/>
          <a:ln/>
        </p:spPr>
        <p:txBody>
          <a:bodyPr wrap="square" lIns="0" tIns="0" rIns="0" bIns="0" rtlCol="0" anchor="t"/>
          <a:lstStyle>
            <a:lvl1pPr algn="l" indent="0" marL="0">
              <a:lnSpc>
                <a:spcPct val="115000"/>
              </a:lnSpc>
              <a:buNone/>
              <a:defRPr lang="en-US" sz="3000" dirty="0">
                <a:solidFill>
                  <a:srgbClr val="13202E"/>
                </a:solidFill>
                <a:latin typeface="IBM Plex Sans KR" pitchFamily="34" charset="0"/>
                <a:ea typeface="IBM Plex Sans KR" pitchFamily="34" charset="-122"/>
                <a:cs typeface="IBM Plex Sans KR"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2040868"/>
            <a:ext cx="10566400" cy="4004332"/>
          </a:xfrm>
          <a:prstGeom prst="rect">
            <a:avLst/>
          </a:prstGeom>
          <a:noFill/>
          <a:ln/>
        </p:spPr>
        <p:txBody>
          <a:bodyPr wrap="square" lIns="0" tIns="0" rIns="0" bIns="0" rtlCol="0" anchor="t"/>
          <a:lstStyle>
            <a:lvl1pPr algn="l" indent="0" marL="0">
              <a:lnSpc>
                <a:spcPct val="140000"/>
              </a:lnSpc>
              <a:buNone/>
              <a:defRPr lang="en-US" sz="1600" dirty="0">
                <a:solidFill>
                  <a:srgbClr val="13202E"/>
                </a:solidFill>
                <a:latin typeface="IBM Plex Sans KR" pitchFamily="34" charset="0"/>
                <a:ea typeface="IBM Plex Sans KR" pitchFamily="34" charset="-122"/>
                <a:cs typeface="IBM Plex Sans K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slideLayout" Target="../slideLayouts/slideLayout2.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02E"/>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2A78D6"/>
          </a:solidFill>
          <a:ln/>
        </p:spPr>
      </p:sp>
      <p:sp>
        <p:nvSpPr>
          <p:cNvPr id="3" name="Text 1"/>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7FB6EC"/>
                </a:solidFill>
                <a:latin typeface="IBM Plex Sans KR" pitchFamily="34" charset="0"/>
                <a:ea typeface="IBM Plex Sans KR" pitchFamily="34" charset="-122"/>
                <a:cs typeface="IBM Plex Sans KR" pitchFamily="34" charset="-120"/>
              </a:rPr>
              <a:t>KAMP 2026 제조AI 데이터 분석 경진대회</a:t>
            </a:r>
            <a:endParaRPr lang="en-US" sz="1400" dirty="0"/>
          </a:p>
        </p:txBody>
      </p:sp>
      <p:sp>
        <p:nvSpPr>
          <p:cNvPr id="4" name="Text 2"/>
          <p:cNvSpPr/>
          <p:nvPr>
            <p:ph type="title"/>
          </p:nvPr>
        </p:nvSpPr>
        <p:spPr>
          <a:xfrm>
            <a:off x="812800" y="2454937"/>
            <a:ext cx="10883392" cy="1427427"/>
          </a:xfrm>
          <a:prstGeom prst="rect">
            <a:avLst/>
          </a:prstGeom>
          <a:noFill/>
          <a:ln/>
        </p:spPr>
        <p:txBody>
          <a:bodyPr wrap="square" lIns="0" tIns="0" rIns="0" bIns="0" rtlCol="0" anchor="t">
            <a:normAutofit/>
          </a:bodyPr>
          <a:lstStyle/>
          <a:p>
            <a:pPr algn="l" indent="0" marL="0">
              <a:lnSpc>
                <a:spcPts val="5520"/>
              </a:lnSpc>
              <a:buNone/>
            </a:pPr>
            <a:r>
              <a:rPr lang="en-US" sz="4800" b="1" i="0" dirty="0">
                <a:solidFill>
                  <a:srgbClr val="F6F7F4"/>
                </a:solidFill>
                <a:latin typeface="IBM Plex Sans KR" pitchFamily="34" charset="0"/>
                <a:ea typeface="IBM Plex Sans KR" pitchFamily="34" charset="-122"/>
                <a:cs typeface="IBM Plex Sans KR" pitchFamily="34" charset="-120"/>
              </a:rPr>
              <a:t>공장 전력 피크를</a:t>
            </a:r>
            <a:endParaRPr lang="en-US" sz="4800" dirty="0"/>
          </a:p>
          <a:p>
            <a:pPr algn="l" indent="0" marL="0">
              <a:lnSpc>
                <a:spcPts val="5520"/>
              </a:lnSpc>
              <a:buNone/>
            </a:pPr>
            <a:r>
              <a:rPr lang="en-US" sz="4800" b="1" i="0" dirty="0">
                <a:solidFill>
                  <a:srgbClr val="F6F7F4"/>
                </a:solidFill>
                <a:latin typeface="IBM Plex Sans KR" pitchFamily="34" charset="0"/>
                <a:ea typeface="IBM Plex Sans KR" pitchFamily="34" charset="-122"/>
                <a:cs typeface="IBM Plex Sans KR" pitchFamily="34" charset="-120"/>
              </a:rPr>
              <a:t>한 시간 먼저 경보하다</a:t>
            </a:r>
            <a:endParaRPr lang="en-US" sz="4800" dirty="0"/>
          </a:p>
        </p:txBody>
      </p:sp>
      <p:sp>
        <p:nvSpPr>
          <p:cNvPr id="5" name="Text 3"/>
          <p:cNvSpPr/>
          <p:nvPr/>
        </p:nvSpPr>
        <p:spPr>
          <a:xfrm>
            <a:off x="812800" y="4060164"/>
            <a:ext cx="10883392" cy="368300"/>
          </a:xfrm>
          <a:prstGeom prst="rect">
            <a:avLst/>
          </a:prstGeom>
          <a:noFill/>
          <a:ln/>
        </p:spPr>
        <p:txBody>
          <a:bodyPr wrap="square" lIns="0" tIns="0" rIns="0" bIns="0" rtlCol="0" anchor="t">
            <a:normAutofit/>
          </a:bodyPr>
          <a:lstStyle/>
          <a:p>
            <a:pPr algn="l" indent="0" marL="0">
              <a:lnSpc>
                <a:spcPts val="2700"/>
              </a:lnSpc>
              <a:buNone/>
            </a:pPr>
            <a:r>
              <a:rPr lang="en-US" sz="1800" dirty="0">
                <a:solidFill>
                  <a:srgbClr val="BFCCDA"/>
                </a:solidFill>
                <a:latin typeface="IBM Plex Sans KR" pitchFamily="34" charset="0"/>
                <a:ea typeface="IBM Plex Sans KR" pitchFamily="34" charset="-122"/>
                <a:cs typeface="IBM Plex Sans KR" pitchFamily="34" charset="-120"/>
              </a:rPr>
              <a:t>OKM 제조공장 시간별 전력 데이터 기반 제조 이상(전력 피크) 확률 예측</a:t>
            </a:r>
            <a:endParaRPr lang="en-US" sz="1800" dirty="0"/>
          </a:p>
        </p:txBody>
      </p:sp>
      <p:sp>
        <p:nvSpPr>
          <p:cNvPr id="6" name="Text 4"/>
          <p:cNvSpPr/>
          <p:nvPr/>
        </p:nvSpPr>
        <p:spPr>
          <a:xfrm>
            <a:off x="812800" y="5796293"/>
            <a:ext cx="2925207"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FCCDA"/>
                </a:solidFill>
                <a:latin typeface="IBM Plex Sans KR" pitchFamily="34" charset="0"/>
                <a:ea typeface="IBM Plex Sans KR" pitchFamily="34" charset="-122"/>
                <a:cs typeface="IBM Plex Sans KR" pitchFamily="34" charset="-120"/>
              </a:rPr>
              <a:t>팀 [팀명] · 김정현 · 이한솔 · [팀원]</a:t>
            </a:r>
            <a:endParaRPr lang="en-US" sz="1400" dirty="0"/>
          </a:p>
        </p:txBody>
      </p:sp>
      <p:sp>
        <p:nvSpPr>
          <p:cNvPr id="7" name="Text 5"/>
          <p:cNvSpPr/>
          <p:nvPr/>
        </p:nvSpPr>
        <p:spPr>
          <a:xfrm>
            <a:off x="10648752" y="5796293"/>
            <a:ext cx="876538"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FCCDA"/>
                </a:solidFill>
                <a:latin typeface="IBM Plex Sans KR" pitchFamily="34" charset="0"/>
                <a:ea typeface="IBM Plex Sans KR" pitchFamily="34" charset="-122"/>
                <a:cs typeface="IBM Plex Sans KR" pitchFamily="34" charset="-120"/>
              </a:rPr>
              <a:t>2026. 10</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한 장 요약</a:t>
            </a:r>
            <a:endParaRPr lang="en-US" sz="1300" dirty="0"/>
          </a:p>
        </p:txBody>
      </p:sp>
      <p:sp>
        <p:nvSpPr>
          <p:cNvPr id="3" name="Text 1"/>
          <p:cNvSpPr/>
          <p:nvPr>
            <p:ph type="title"/>
          </p:nvPr>
        </p:nvSpPr>
        <p:spPr>
          <a:xfrm>
            <a:off x="812800" y="1297914"/>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다음 1시간의 전력 피크를 미리 경보합니다</a:t>
            </a:r>
            <a:endParaRPr lang="en-US" sz="3000" dirty="0"/>
          </a:p>
        </p:txBody>
      </p:sp>
      <p:sp>
        <p:nvSpPr>
          <p:cNvPr id="4" name="Shape 2"/>
          <p:cNvSpPr/>
          <p:nvPr/>
        </p:nvSpPr>
        <p:spPr>
          <a:xfrm>
            <a:off x="815975" y="1993239"/>
            <a:ext cx="3397250" cy="1607344"/>
          </a:xfrm>
          <a:prstGeom prst="roundRect">
            <a:avLst>
              <a:gd name="adj" fmla="val 6123"/>
            </a:avLst>
          </a:prstGeom>
          <a:solidFill>
            <a:srgbClr val="FFFFFF"/>
          </a:solidFill>
          <a:ln w="6350">
            <a:solidFill>
              <a:srgbClr val="DDE2E7"/>
            </a:solidFill>
            <a:prstDash val="solid"/>
          </a:ln>
        </p:spPr>
      </p:sp>
      <p:sp>
        <p:nvSpPr>
          <p:cNvPr id="5" name="Text 3"/>
          <p:cNvSpPr/>
          <p:nvPr/>
        </p:nvSpPr>
        <p:spPr>
          <a:xfrm>
            <a:off x="1045633" y="2222897"/>
            <a:ext cx="3026071"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3202E"/>
                </a:solidFill>
                <a:latin typeface="IBM Plex Sans KR" pitchFamily="34" charset="0"/>
                <a:ea typeface="IBM Plex Sans KR" pitchFamily="34" charset="-122"/>
                <a:cs typeface="IBM Plex Sans KR" pitchFamily="34" charset="-120"/>
              </a:rPr>
              <a:t>문제</a:t>
            </a:r>
            <a:endParaRPr lang="en-US" sz="1700" dirty="0"/>
          </a:p>
        </p:txBody>
      </p:sp>
      <p:sp>
        <p:nvSpPr>
          <p:cNvPr id="6" name="Text 4"/>
          <p:cNvSpPr/>
          <p:nvPr/>
        </p:nvSpPr>
        <p:spPr>
          <a:xfrm>
            <a:off x="1045633" y="2570824"/>
            <a:ext cx="3026071"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568"/>
                </a:solidFill>
                <a:latin typeface="IBM Plex Sans KR" pitchFamily="34" charset="0"/>
                <a:ea typeface="IBM Plex Sans KR" pitchFamily="34" charset="-122"/>
                <a:cs typeface="IBM Plex Sans KR" pitchFamily="34" charset="-120"/>
              </a:rPr>
              <a:t>불량·고장 기록이 없는 공장 데이터에서 </a:t>
            </a:r>
            <a:r>
              <a:rPr lang="en-US" sz="1400" b="1" dirty="0">
                <a:solidFill>
                  <a:srgbClr val="4A5568"/>
                </a:solidFill>
                <a:latin typeface="IBM Plex Sans KR" pitchFamily="34" charset="0"/>
                <a:ea typeface="IBM Plex Sans KR" pitchFamily="34" charset="-122"/>
                <a:cs typeface="IBM Plex Sans KR" pitchFamily="34" charset="-120"/>
              </a:rPr>
              <a:t>전력 피크(177 kW 이상)</a:t>
            </a:r>
            <a:r>
              <a:rPr lang="en-US" sz="1400" dirty="0">
                <a:solidFill>
                  <a:srgbClr val="4A5568"/>
                </a:solidFill>
                <a:latin typeface="IBM Plex Sans KR" pitchFamily="34" charset="0"/>
                <a:ea typeface="IBM Plex Sans KR" pitchFamily="34" charset="-122"/>
                <a:cs typeface="IBM Plex Sans KR" pitchFamily="34" charset="-120"/>
              </a:rPr>
              <a:t>를 제조 이상으로 정의</a:t>
            </a:r>
            <a:endParaRPr lang="en-US" sz="1400" dirty="0"/>
          </a:p>
        </p:txBody>
      </p:sp>
      <p:sp>
        <p:nvSpPr>
          <p:cNvPr id="7" name="Shape 5"/>
          <p:cNvSpPr/>
          <p:nvPr/>
        </p:nvSpPr>
        <p:spPr>
          <a:xfrm>
            <a:off x="4397375" y="1993239"/>
            <a:ext cx="3397250" cy="1607344"/>
          </a:xfrm>
          <a:prstGeom prst="roundRect">
            <a:avLst>
              <a:gd name="adj" fmla="val 6123"/>
            </a:avLst>
          </a:prstGeom>
          <a:solidFill>
            <a:srgbClr val="FFFFFF"/>
          </a:solidFill>
          <a:ln w="6350">
            <a:solidFill>
              <a:srgbClr val="DDE2E7"/>
            </a:solidFill>
            <a:prstDash val="solid"/>
          </a:ln>
        </p:spPr>
      </p:sp>
      <p:sp>
        <p:nvSpPr>
          <p:cNvPr id="8" name="Text 6"/>
          <p:cNvSpPr/>
          <p:nvPr/>
        </p:nvSpPr>
        <p:spPr>
          <a:xfrm>
            <a:off x="4627033" y="2222897"/>
            <a:ext cx="3026071"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3202E"/>
                </a:solidFill>
                <a:latin typeface="IBM Plex Sans KR" pitchFamily="34" charset="0"/>
                <a:ea typeface="IBM Plex Sans KR" pitchFamily="34" charset="-122"/>
                <a:cs typeface="IBM Plex Sans KR" pitchFamily="34" charset="-120"/>
              </a:rPr>
              <a:t>방법</a:t>
            </a:r>
            <a:endParaRPr lang="en-US" sz="1700" dirty="0"/>
          </a:p>
        </p:txBody>
      </p:sp>
      <p:sp>
        <p:nvSpPr>
          <p:cNvPr id="9" name="Text 7"/>
          <p:cNvSpPr/>
          <p:nvPr/>
        </p:nvSpPr>
        <p:spPr>
          <a:xfrm>
            <a:off x="4627033" y="2570824"/>
            <a:ext cx="3026071" cy="5588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568"/>
                </a:solidFill>
                <a:latin typeface="IBM Plex Sans KR" pitchFamily="34" charset="0"/>
                <a:ea typeface="IBM Plex Sans KR" pitchFamily="34" charset="-122"/>
                <a:cs typeface="IBM Plex Sans KR" pitchFamily="34" charset="-120"/>
              </a:rPr>
              <a:t>LSTM·TCN 가중 앙상블로 전력을 예측하고, 오차 분포로 </a:t>
            </a:r>
            <a:r>
              <a:rPr lang="en-US" sz="1400" b="1" dirty="0">
                <a:solidFill>
                  <a:srgbClr val="4A5568"/>
                </a:solidFill>
                <a:latin typeface="IBM Plex Sans KR" pitchFamily="34" charset="0"/>
                <a:ea typeface="IBM Plex Sans KR" pitchFamily="34" charset="-122"/>
                <a:cs typeface="IBM Plex Sans KR" pitchFamily="34" charset="-120"/>
              </a:rPr>
              <a:t>이상 확률</a:t>
            </a:r>
            <a:r>
              <a:rPr lang="en-US" sz="1400" dirty="0">
                <a:solidFill>
                  <a:srgbClr val="4A5568"/>
                </a:solidFill>
                <a:latin typeface="IBM Plex Sans KR" pitchFamily="34" charset="0"/>
                <a:ea typeface="IBM Plex Sans KR" pitchFamily="34" charset="-122"/>
                <a:cs typeface="IBM Plex Sans KR" pitchFamily="34" charset="-120"/>
              </a:rPr>
              <a:t>을 계산</a:t>
            </a:r>
            <a:endParaRPr lang="en-US" sz="1400" dirty="0"/>
          </a:p>
        </p:txBody>
      </p:sp>
      <p:sp>
        <p:nvSpPr>
          <p:cNvPr id="10" name="Shape 8"/>
          <p:cNvSpPr/>
          <p:nvPr/>
        </p:nvSpPr>
        <p:spPr>
          <a:xfrm>
            <a:off x="7978775" y="1993239"/>
            <a:ext cx="3397250" cy="1607344"/>
          </a:xfrm>
          <a:prstGeom prst="roundRect">
            <a:avLst>
              <a:gd name="adj" fmla="val 6123"/>
            </a:avLst>
          </a:prstGeom>
          <a:solidFill>
            <a:srgbClr val="FFFFFF"/>
          </a:solidFill>
          <a:ln w="6350">
            <a:solidFill>
              <a:srgbClr val="DDE2E7"/>
            </a:solidFill>
            <a:prstDash val="solid"/>
          </a:ln>
        </p:spPr>
      </p:sp>
      <p:sp>
        <p:nvSpPr>
          <p:cNvPr id="11" name="Text 9"/>
          <p:cNvSpPr/>
          <p:nvPr/>
        </p:nvSpPr>
        <p:spPr>
          <a:xfrm>
            <a:off x="8208434" y="2222897"/>
            <a:ext cx="3026071"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3202E"/>
                </a:solidFill>
                <a:latin typeface="IBM Plex Sans KR" pitchFamily="34" charset="0"/>
                <a:ea typeface="IBM Plex Sans KR" pitchFamily="34" charset="-122"/>
                <a:cs typeface="IBM Plex Sans KR" pitchFamily="34" charset="-120"/>
              </a:rPr>
              <a:t>결과</a:t>
            </a:r>
            <a:endParaRPr lang="en-US" sz="1700" dirty="0"/>
          </a:p>
        </p:txBody>
      </p:sp>
      <p:sp>
        <p:nvSpPr>
          <p:cNvPr id="12" name="Text 10"/>
          <p:cNvSpPr/>
          <p:nvPr/>
        </p:nvSpPr>
        <p:spPr>
          <a:xfrm>
            <a:off x="8208434" y="2570824"/>
            <a:ext cx="3026071" cy="5588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568"/>
                </a:solidFill>
                <a:latin typeface="IBM Plex Sans KR" pitchFamily="34" charset="0"/>
                <a:ea typeface="IBM Plex Sans KR" pitchFamily="34" charset="-122"/>
                <a:cs typeface="IBM Plex Sans KR" pitchFamily="34" charset="-120"/>
              </a:rPr>
              <a:t>Test 피크 49시간 중 </a:t>
            </a:r>
            <a:r>
              <a:rPr lang="en-US" sz="1400" b="1" dirty="0">
                <a:solidFill>
                  <a:srgbClr val="4A5568"/>
                </a:solidFill>
                <a:latin typeface="IBM Plex Sans KR" pitchFamily="34" charset="0"/>
                <a:ea typeface="IBM Plex Sans KR" pitchFamily="34" charset="-122"/>
                <a:cs typeface="IBM Plex Sans KR" pitchFamily="34" charset="-120"/>
              </a:rPr>
              <a:t>48시간 경보</a:t>
            </a:r>
            <a:r>
              <a:rPr lang="en-US" sz="1400" dirty="0">
                <a:solidFill>
                  <a:srgbClr val="4A5568"/>
                </a:solidFill>
                <a:latin typeface="IBM Plex Sans KR" pitchFamily="34" charset="0"/>
                <a:ea typeface="IBM Plex Sans KR" pitchFamily="34" charset="-122"/>
                <a:cs typeface="IBM Plex Sans KR" pitchFamily="34" charset="-120"/>
              </a:rPr>
              <a:t>, 가장 강한 베이스라인보다 RMSE 30% 감소</a:t>
            </a:r>
            <a:endParaRPr lang="en-US" sz="1400" dirty="0"/>
          </a:p>
        </p:txBody>
      </p:sp>
      <p:sp>
        <p:nvSpPr>
          <p:cNvPr id="13" name="Shape 11"/>
          <p:cNvSpPr/>
          <p:nvPr/>
        </p:nvSpPr>
        <p:spPr>
          <a:xfrm>
            <a:off x="812800" y="3870458"/>
            <a:ext cx="2508250" cy="0"/>
          </a:xfrm>
          <a:prstGeom prst="line">
            <a:avLst/>
          </a:prstGeom>
          <a:noFill/>
          <a:ln w="25400">
            <a:solidFill>
              <a:srgbClr val="2A78D6"/>
            </a:solidFill>
            <a:prstDash val="solid"/>
          </a:ln>
        </p:spPr>
      </p:sp>
      <p:sp>
        <p:nvSpPr>
          <p:cNvPr id="14" name="Text 12"/>
          <p:cNvSpPr/>
          <p:nvPr/>
        </p:nvSpPr>
        <p:spPr>
          <a:xfrm>
            <a:off x="812800" y="4010158"/>
            <a:ext cx="2583498"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13202E"/>
                </a:solidFill>
                <a:latin typeface="IBM Plex Mono" pitchFamily="49" charset="0"/>
                <a:ea typeface="IBM Plex Mono" pitchFamily="49" charset="-122"/>
                <a:cs typeface="IBM Plex Mono" pitchFamily="49" charset="-120"/>
              </a:rPr>
              <a:t>8.67</a:t>
            </a:r>
            <a:endParaRPr lang="en-US" sz="3200" dirty="0"/>
          </a:p>
        </p:txBody>
      </p:sp>
      <p:sp>
        <p:nvSpPr>
          <p:cNvPr id="15" name="Text 13"/>
          <p:cNvSpPr/>
          <p:nvPr/>
        </p:nvSpPr>
        <p:spPr>
          <a:xfrm>
            <a:off x="812800" y="4617178"/>
            <a:ext cx="258349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RMSE (kW)</a:t>
            </a:r>
            <a:endParaRPr lang="en-US" sz="1300" dirty="0"/>
          </a:p>
        </p:txBody>
      </p:sp>
      <p:sp>
        <p:nvSpPr>
          <p:cNvPr id="16" name="Shape 14"/>
          <p:cNvSpPr/>
          <p:nvPr/>
        </p:nvSpPr>
        <p:spPr>
          <a:xfrm>
            <a:off x="3498850" y="3870458"/>
            <a:ext cx="2508250" cy="0"/>
          </a:xfrm>
          <a:prstGeom prst="line">
            <a:avLst/>
          </a:prstGeom>
          <a:noFill/>
          <a:ln w="25400">
            <a:solidFill>
              <a:srgbClr val="2A78D6"/>
            </a:solidFill>
            <a:prstDash val="solid"/>
          </a:ln>
        </p:spPr>
      </p:sp>
      <p:sp>
        <p:nvSpPr>
          <p:cNvPr id="17" name="Text 15"/>
          <p:cNvSpPr/>
          <p:nvPr/>
        </p:nvSpPr>
        <p:spPr>
          <a:xfrm>
            <a:off x="3498850" y="4010158"/>
            <a:ext cx="2583498"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13202E"/>
                </a:solidFill>
                <a:latin typeface="IBM Plex Mono" pitchFamily="49" charset="0"/>
                <a:ea typeface="IBM Plex Mono" pitchFamily="49" charset="-122"/>
                <a:cs typeface="IBM Plex Mono" pitchFamily="49" charset="-120"/>
              </a:rPr>
              <a:t>0.975</a:t>
            </a:r>
            <a:endParaRPr lang="en-US" sz="3200" dirty="0"/>
          </a:p>
        </p:txBody>
      </p:sp>
      <p:sp>
        <p:nvSpPr>
          <p:cNvPr id="18" name="Text 16"/>
          <p:cNvSpPr/>
          <p:nvPr/>
        </p:nvSpPr>
        <p:spPr>
          <a:xfrm>
            <a:off x="3498850" y="4617178"/>
            <a:ext cx="258349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R²</a:t>
            </a:r>
            <a:endParaRPr lang="en-US" sz="1300" dirty="0"/>
          </a:p>
        </p:txBody>
      </p:sp>
      <p:sp>
        <p:nvSpPr>
          <p:cNvPr id="19" name="Shape 17"/>
          <p:cNvSpPr/>
          <p:nvPr/>
        </p:nvSpPr>
        <p:spPr>
          <a:xfrm>
            <a:off x="6184900" y="3870458"/>
            <a:ext cx="2508250" cy="0"/>
          </a:xfrm>
          <a:prstGeom prst="line">
            <a:avLst/>
          </a:prstGeom>
          <a:noFill/>
          <a:ln w="25400">
            <a:solidFill>
              <a:srgbClr val="E2672F"/>
            </a:solidFill>
            <a:prstDash val="solid"/>
          </a:ln>
        </p:spPr>
      </p:sp>
      <p:sp>
        <p:nvSpPr>
          <p:cNvPr id="20" name="Text 18"/>
          <p:cNvSpPr/>
          <p:nvPr/>
        </p:nvSpPr>
        <p:spPr>
          <a:xfrm>
            <a:off x="6184900" y="4010158"/>
            <a:ext cx="2583498"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13202E"/>
                </a:solidFill>
                <a:latin typeface="IBM Plex Mono" pitchFamily="49" charset="0"/>
                <a:ea typeface="IBM Plex Mono" pitchFamily="49" charset="-122"/>
                <a:cs typeface="IBM Plex Mono" pitchFamily="49" charset="-120"/>
              </a:rPr>
              <a:t>0.98</a:t>
            </a:r>
            <a:endParaRPr lang="en-US" sz="3200" dirty="0"/>
          </a:p>
        </p:txBody>
      </p:sp>
      <p:sp>
        <p:nvSpPr>
          <p:cNvPr id="21" name="Text 19"/>
          <p:cNvSpPr/>
          <p:nvPr/>
        </p:nvSpPr>
        <p:spPr>
          <a:xfrm>
            <a:off x="6184900" y="4617178"/>
            <a:ext cx="258349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피크 Recall</a:t>
            </a:r>
            <a:endParaRPr lang="en-US" sz="1300" dirty="0"/>
          </a:p>
        </p:txBody>
      </p:sp>
      <p:sp>
        <p:nvSpPr>
          <p:cNvPr id="22" name="Shape 20"/>
          <p:cNvSpPr/>
          <p:nvPr/>
        </p:nvSpPr>
        <p:spPr>
          <a:xfrm>
            <a:off x="8870950" y="3870458"/>
            <a:ext cx="2508250" cy="0"/>
          </a:xfrm>
          <a:prstGeom prst="line">
            <a:avLst/>
          </a:prstGeom>
          <a:noFill/>
          <a:ln w="25400">
            <a:solidFill>
              <a:srgbClr val="E2672F"/>
            </a:solidFill>
            <a:prstDash val="solid"/>
          </a:ln>
        </p:spPr>
      </p:sp>
      <p:sp>
        <p:nvSpPr>
          <p:cNvPr id="23" name="Text 21"/>
          <p:cNvSpPr/>
          <p:nvPr/>
        </p:nvSpPr>
        <p:spPr>
          <a:xfrm>
            <a:off x="8870950" y="4010158"/>
            <a:ext cx="2583498"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13202E"/>
                </a:solidFill>
                <a:latin typeface="IBM Plex Mono" pitchFamily="49" charset="0"/>
                <a:ea typeface="IBM Plex Mono" pitchFamily="49" charset="-122"/>
                <a:cs typeface="IBM Plex Mono" pitchFamily="49" charset="-120"/>
              </a:rPr>
              <a:t>0.527</a:t>
            </a:r>
            <a:endParaRPr lang="en-US" sz="3200" dirty="0"/>
          </a:p>
        </p:txBody>
      </p:sp>
      <p:sp>
        <p:nvSpPr>
          <p:cNvPr id="24" name="Text 22"/>
          <p:cNvSpPr/>
          <p:nvPr/>
        </p:nvSpPr>
        <p:spPr>
          <a:xfrm>
            <a:off x="8870950" y="4617178"/>
            <a:ext cx="258349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피크 F1</a:t>
            </a:r>
            <a:endParaRPr lang="en-US" sz="1300" dirty="0"/>
          </a:p>
        </p:txBody>
      </p:sp>
      <p:sp>
        <p:nvSpPr>
          <p:cNvPr id="25"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Test 2021-08-16 ~ 09-14 (셧다운 제외 703시간) · 최종 모델 Weighted Ensemble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1. 데이터 이해 및 진단</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1시간 단위 6,168행, 9개월의 공장 운영 기록</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5"/>
          <a:ext cx="6946900" cy="1863328"/>
        </p:xfrm>
        <a:graphic>
          <a:graphicData uri="http://schemas.openxmlformats.org/drawingml/2006/table">
            <a:tbl>
              <a:tblPr/>
              <a:tblGrid>
                <a:gridCol w="1389380"/>
                <a:gridCol w="3056636"/>
                <a:gridCol w="2500884"/>
              </a:tblGrid>
              <a:tr h="372666">
                <a:tc>
                  <a:txBody>
                    <a:bodyPr/>
                    <a:lstStyle/>
                    <a:p>
                      <a:pPr indent="0" marL="0">
                        <a:lnSpc>
                          <a:spcPts val="1890"/>
                        </a:lnSpc>
                        <a:buNone/>
                      </a:pPr>
                      <a:r>
                        <a:rPr lang="en-US" sz="1350" b="1" dirty="0">
                          <a:solidFill>
                            <a:srgbClr val="1B2433"/>
                          </a:solidFill>
                          <a:latin typeface="IBM Plex Sans KR" pitchFamily="34" charset="0"/>
                          <a:ea typeface="IBM Plex Sans KR" pitchFamily="34" charset="-122"/>
                          <a:cs typeface="IBM Plex Sans KR" pitchFamily="34" charset="-120"/>
                        </a:rPr>
                        <a:t>분류</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90"/>
                        </a:lnSpc>
                        <a:buNone/>
                      </a:pPr>
                      <a:r>
                        <a:rPr lang="en-US" sz="1350" b="1" dirty="0">
                          <a:solidFill>
                            <a:srgbClr val="1B2433"/>
                          </a:solidFill>
                          <a:latin typeface="IBM Plex Sans KR" pitchFamily="34" charset="0"/>
                          <a:ea typeface="IBM Plex Sans KR" pitchFamily="34" charset="-122"/>
                          <a:cs typeface="IBM Plex Sans KR" pitchFamily="34" charset="-120"/>
                        </a:rPr>
                        <a:t>변수</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90"/>
                        </a:lnSpc>
                        <a:buNone/>
                      </a:pPr>
                      <a:r>
                        <a:rPr lang="en-US" sz="1350" b="1" dirty="0">
                          <a:solidFill>
                            <a:srgbClr val="1B2433"/>
                          </a:solidFill>
                          <a:latin typeface="IBM Plex Sans KR" pitchFamily="34" charset="0"/>
                          <a:ea typeface="IBM Plex Sans KR" pitchFamily="34" charset="-122"/>
                          <a:cs typeface="IBM Plex Sans KR" pitchFamily="34" charset="-120"/>
                        </a:rPr>
                        <a:t>범위·의미</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72666">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시간·달력</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날짜, 시간, 요일, 일, 월</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1행 = 1시간</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72666">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전력</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15·30·45·60분 구간, 평균</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0 ~ 208 kW</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72666">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생산·운영</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생산량, 공장인원, 인건비, 전기요금</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생산량 0 ~ 9,830개</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72666">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기상</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기온, 풍속, 습도, 강수량</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기온 −12 ~ 33.4℃</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5" name="Shape 2"/>
          <p:cNvSpPr/>
          <p:nvPr/>
        </p:nvSpPr>
        <p:spPr>
          <a:xfrm>
            <a:off x="8077200" y="1990065"/>
            <a:ext cx="3302000" cy="1297847"/>
          </a:xfrm>
          <a:prstGeom prst="roundRect">
            <a:avLst>
              <a:gd name="adj" fmla="val 7828"/>
            </a:avLst>
          </a:prstGeom>
          <a:solidFill>
            <a:srgbClr val="13202E"/>
          </a:solidFill>
          <a:ln/>
        </p:spPr>
      </p:sp>
      <p:sp>
        <p:nvSpPr>
          <p:cNvPr id="6" name="Text 3"/>
          <p:cNvSpPr/>
          <p:nvPr/>
        </p:nvSpPr>
        <p:spPr>
          <a:xfrm>
            <a:off x="8280400" y="2193265"/>
            <a:ext cx="298246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CDA"/>
                </a:solidFill>
                <a:latin typeface="IBM Plex Sans KR" pitchFamily="34" charset="0"/>
                <a:ea typeface="IBM Plex Sans KR" pitchFamily="34" charset="-122"/>
                <a:cs typeface="IBM Plex Sans KR" pitchFamily="34" charset="-120"/>
              </a:rPr>
              <a:t>예측 대상</a:t>
            </a:r>
            <a:endParaRPr lang="en-US" sz="1300" dirty="0"/>
          </a:p>
        </p:txBody>
      </p:sp>
      <p:sp>
        <p:nvSpPr>
          <p:cNvPr id="7" name="Text 4"/>
          <p:cNvSpPr/>
          <p:nvPr/>
        </p:nvSpPr>
        <p:spPr>
          <a:xfrm>
            <a:off x="8280400" y="2487878"/>
            <a:ext cx="2982468" cy="32762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F6F7F4"/>
                </a:solidFill>
                <a:latin typeface="IBM Plex Sans KR" pitchFamily="34" charset="0"/>
                <a:ea typeface="IBM Plex Sans KR" pitchFamily="34" charset="-122"/>
                <a:cs typeface="IBM Plex Sans KR" pitchFamily="34" charset="-120"/>
              </a:rPr>
              <a:t>다음 1시간 평균 전력</a:t>
            </a:r>
            <a:endParaRPr lang="en-US" sz="1700" dirty="0"/>
          </a:p>
        </p:txBody>
      </p:sp>
      <p:sp>
        <p:nvSpPr>
          <p:cNvPr id="8" name="Text 5"/>
          <p:cNvSpPr/>
          <p:nvPr/>
        </p:nvSpPr>
        <p:spPr>
          <a:xfrm>
            <a:off x="8280400" y="2853598"/>
            <a:ext cx="298246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CDA"/>
                </a:solidFill>
                <a:latin typeface="IBM Plex Sans KR" pitchFamily="34" charset="0"/>
                <a:ea typeface="IBM Plex Sans KR" pitchFamily="34" charset="-122"/>
                <a:cs typeface="IBM Plex Sans KR" pitchFamily="34" charset="-120"/>
              </a:rPr>
              <a:t>15분 4구간의 산술평균 (kW)</a:t>
            </a:r>
            <a:endParaRPr lang="en-US" sz="1300" dirty="0"/>
          </a:p>
        </p:txBody>
      </p:sp>
      <p:sp>
        <p:nvSpPr>
          <p:cNvPr id="9" name="Shape 6"/>
          <p:cNvSpPr/>
          <p:nvPr/>
        </p:nvSpPr>
        <p:spPr>
          <a:xfrm>
            <a:off x="8080375" y="3418086"/>
            <a:ext cx="3295650" cy="1282171"/>
          </a:xfrm>
          <a:prstGeom prst="roundRect">
            <a:avLst>
              <a:gd name="adj" fmla="val 7676"/>
            </a:avLst>
          </a:prstGeom>
          <a:solidFill>
            <a:srgbClr val="FFFFFF"/>
          </a:solidFill>
          <a:ln w="6350">
            <a:solidFill>
              <a:srgbClr val="DDE2E7"/>
            </a:solidFill>
            <a:prstDash val="solid"/>
          </a:ln>
        </p:spPr>
      </p:sp>
      <p:sp>
        <p:nvSpPr>
          <p:cNvPr id="10" name="Text 7"/>
          <p:cNvSpPr/>
          <p:nvPr/>
        </p:nvSpPr>
        <p:spPr>
          <a:xfrm>
            <a:off x="8284634" y="3622345"/>
            <a:ext cx="2973747"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기간</a:t>
            </a:r>
            <a:endParaRPr lang="en-US" sz="1300" dirty="0"/>
          </a:p>
        </p:txBody>
      </p:sp>
      <p:sp>
        <p:nvSpPr>
          <p:cNvPr id="11" name="Text 8"/>
          <p:cNvSpPr/>
          <p:nvPr/>
        </p:nvSpPr>
        <p:spPr>
          <a:xfrm>
            <a:off x="8284634" y="3916958"/>
            <a:ext cx="2973747"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3202E"/>
                </a:solidFill>
                <a:latin typeface="IBM Plex Sans KR" pitchFamily="34" charset="0"/>
                <a:ea typeface="IBM Plex Sans KR" pitchFamily="34" charset="-122"/>
                <a:cs typeface="IBM Plex Sans KR" pitchFamily="34" charset="-120"/>
              </a:rPr>
              <a:t>2021-01-01 ~ 09-14</a:t>
            </a:r>
            <a:endParaRPr lang="en-US" sz="1600" dirty="0"/>
          </a:p>
        </p:txBody>
      </p:sp>
      <p:sp>
        <p:nvSpPr>
          <p:cNvPr id="12" name="Text 9"/>
          <p:cNvSpPr/>
          <p:nvPr/>
        </p:nvSpPr>
        <p:spPr>
          <a:xfrm>
            <a:off x="8284634" y="4264885"/>
            <a:ext cx="2973747"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257일 · 누락·중복 없는 연속 시계열</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데이터: KAMP 제조AI데이터셋 OKM (okm_augumented_2021.csv, 18개 변수)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1. 데이터 이해 및 진단</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결측·이상치·불균형은 근거를 갖고 처리했습니다</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5"/>
          <a:ext cx="10553700" cy="2515129"/>
        </p:xfrm>
        <a:graphic>
          <a:graphicData uri="http://schemas.openxmlformats.org/drawingml/2006/table">
            <a:tbl>
              <a:tblPr/>
              <a:tblGrid>
                <a:gridCol w="1794129"/>
                <a:gridCol w="2955036"/>
                <a:gridCol w="2638425"/>
                <a:gridCol w="3166110"/>
              </a:tblGrid>
              <a:tr h="359304">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항목</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진단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처리</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근거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시간 이상치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7/13·7/15 48행이 70~188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행 순서로 0~23시 복원</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기온 일변화 곡선과 일치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공장인원 결측</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8/28 18시~8/29 10시 17행</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0으로 대체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같은 시간 전력·생산 모두 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기상 결측</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풍속 3건, 강수량 1건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시간 선형 보간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기상의 시간 연속성</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셧다운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17시간 전력 0 kW</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평가 제외, 입력 유지</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평소 대기전력 최소 17 kW</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중복·누락</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없음</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1시간 간격 연속 확인</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불균형</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피크(≥177 kW) 5~7%</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경보 기준 확률 최적화</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Test 703시간 중 49시간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전처리: 김정현 (src/preprocessing.py) · 불균형 대응은 2. 예측모델에서 설명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1. 데이터 이해 및 진단</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전력은 조업 일정을 따릅니다</a:t>
            </a:r>
            <a:endParaRPr lang="en-US" sz="3000" dirty="0"/>
          </a:p>
        </p:txBody>
      </p:sp>
      <p:sp>
        <p:nvSpPr>
          <p:cNvPr id="4" name="Shape 2"/>
          <p:cNvSpPr/>
          <p:nvPr/>
        </p:nvSpPr>
        <p:spPr>
          <a:xfrm>
            <a:off x="815975" y="1993240"/>
            <a:ext cx="2520950" cy="949457"/>
          </a:xfrm>
          <a:prstGeom prst="roundRect">
            <a:avLst>
              <a:gd name="adj" fmla="val 10366"/>
            </a:avLst>
          </a:prstGeom>
          <a:solidFill>
            <a:srgbClr val="FFFFFF"/>
          </a:solidFill>
          <a:ln w="6350">
            <a:solidFill>
              <a:srgbClr val="DDE2E7"/>
            </a:solidFill>
            <a:prstDash val="solid"/>
          </a:ln>
        </p:spPr>
      </p:sp>
      <p:sp>
        <p:nvSpPr>
          <p:cNvPr id="5" name="Text 3"/>
          <p:cNvSpPr/>
          <p:nvPr/>
        </p:nvSpPr>
        <p:spPr>
          <a:xfrm>
            <a:off x="994833" y="2146697"/>
            <a:ext cx="222813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3202E"/>
                </a:solidFill>
                <a:latin typeface="IBM Plex Mono" pitchFamily="49" charset="0"/>
                <a:ea typeface="IBM Plex Mono" pitchFamily="49" charset="-122"/>
                <a:cs typeface="IBM Plex Mono" pitchFamily="49" charset="-120"/>
              </a:rPr>
              <a:t>112 / 48</a:t>
            </a:r>
            <a:endParaRPr lang="en-US" sz="2200" dirty="0"/>
          </a:p>
        </p:txBody>
      </p:sp>
      <p:sp>
        <p:nvSpPr>
          <p:cNvPr id="6" name="Text 4"/>
          <p:cNvSpPr/>
          <p:nvPr/>
        </p:nvSpPr>
        <p:spPr>
          <a:xfrm>
            <a:off x="994833" y="2575917"/>
            <a:ext cx="22281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평일 / 주말 일평균 kW</a:t>
            </a:r>
            <a:endParaRPr lang="en-US" sz="1200" dirty="0"/>
          </a:p>
        </p:txBody>
      </p:sp>
      <p:sp>
        <p:nvSpPr>
          <p:cNvPr id="7" name="Shape 5"/>
          <p:cNvSpPr/>
          <p:nvPr/>
        </p:nvSpPr>
        <p:spPr>
          <a:xfrm>
            <a:off x="3495675" y="1993240"/>
            <a:ext cx="2520950" cy="949457"/>
          </a:xfrm>
          <a:prstGeom prst="roundRect">
            <a:avLst>
              <a:gd name="adj" fmla="val 10366"/>
            </a:avLst>
          </a:prstGeom>
          <a:solidFill>
            <a:srgbClr val="FFFFFF"/>
          </a:solidFill>
          <a:ln w="6350">
            <a:solidFill>
              <a:srgbClr val="DDE2E7"/>
            </a:solidFill>
            <a:prstDash val="solid"/>
          </a:ln>
        </p:spPr>
      </p:sp>
      <p:sp>
        <p:nvSpPr>
          <p:cNvPr id="8" name="Text 6"/>
          <p:cNvSpPr/>
          <p:nvPr/>
        </p:nvSpPr>
        <p:spPr>
          <a:xfrm>
            <a:off x="3674533" y="2146697"/>
            <a:ext cx="222813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3202E"/>
                </a:solidFill>
                <a:latin typeface="IBM Plex Mono" pitchFamily="49" charset="0"/>
                <a:ea typeface="IBM Plex Mono" pitchFamily="49" charset="-122"/>
                <a:cs typeface="IBM Plex Mono" pitchFamily="49" charset="-120"/>
              </a:rPr>
              <a:t>−34%</a:t>
            </a:r>
            <a:endParaRPr lang="en-US" sz="2200" dirty="0"/>
          </a:p>
        </p:txBody>
      </p:sp>
      <p:sp>
        <p:nvSpPr>
          <p:cNvPr id="9" name="Text 7"/>
          <p:cNvSpPr/>
          <p:nvPr/>
        </p:nvSpPr>
        <p:spPr>
          <a:xfrm>
            <a:off x="3674533" y="2575917"/>
            <a:ext cx="22281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12시 점심 급감 (11시 대비)</a:t>
            </a:r>
            <a:endParaRPr lang="en-US" sz="1200" dirty="0"/>
          </a:p>
        </p:txBody>
      </p:sp>
      <p:sp>
        <p:nvSpPr>
          <p:cNvPr id="10" name="Shape 8"/>
          <p:cNvSpPr/>
          <p:nvPr/>
        </p:nvSpPr>
        <p:spPr>
          <a:xfrm>
            <a:off x="6175375" y="1993240"/>
            <a:ext cx="2520950" cy="949457"/>
          </a:xfrm>
          <a:prstGeom prst="roundRect">
            <a:avLst>
              <a:gd name="adj" fmla="val 10366"/>
            </a:avLst>
          </a:prstGeom>
          <a:solidFill>
            <a:srgbClr val="FFFFFF"/>
          </a:solidFill>
          <a:ln w="6350">
            <a:solidFill>
              <a:srgbClr val="DDE2E7"/>
            </a:solidFill>
            <a:prstDash val="solid"/>
          </a:ln>
        </p:spPr>
      </p:sp>
      <p:sp>
        <p:nvSpPr>
          <p:cNvPr id="11" name="Text 9"/>
          <p:cNvSpPr/>
          <p:nvPr/>
        </p:nvSpPr>
        <p:spPr>
          <a:xfrm>
            <a:off x="6354233" y="2146697"/>
            <a:ext cx="222813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3202E"/>
                </a:solidFill>
                <a:latin typeface="IBM Plex Mono" pitchFamily="49" charset="0"/>
                <a:ea typeface="IBM Plex Mono" pitchFamily="49" charset="-122"/>
                <a:cs typeface="IBM Plex Mono" pitchFamily="49" charset="-120"/>
              </a:rPr>
              <a:t>169 kW</a:t>
            </a:r>
            <a:endParaRPr lang="en-US" sz="2200" dirty="0"/>
          </a:p>
        </p:txBody>
      </p:sp>
      <p:sp>
        <p:nvSpPr>
          <p:cNvPr id="12" name="Text 10"/>
          <p:cNvSpPr/>
          <p:nvPr/>
        </p:nvSpPr>
        <p:spPr>
          <a:xfrm>
            <a:off x="6354233" y="2575917"/>
            <a:ext cx="22281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월요일 08시 설비 기동</a:t>
            </a:r>
            <a:endParaRPr lang="en-US" sz="1200" dirty="0"/>
          </a:p>
        </p:txBody>
      </p:sp>
      <p:sp>
        <p:nvSpPr>
          <p:cNvPr id="13" name="Shape 11"/>
          <p:cNvSpPr/>
          <p:nvPr/>
        </p:nvSpPr>
        <p:spPr>
          <a:xfrm>
            <a:off x="8855075" y="1993240"/>
            <a:ext cx="2520950" cy="949457"/>
          </a:xfrm>
          <a:prstGeom prst="roundRect">
            <a:avLst>
              <a:gd name="adj" fmla="val 10366"/>
            </a:avLst>
          </a:prstGeom>
          <a:solidFill>
            <a:srgbClr val="FFFFFF"/>
          </a:solidFill>
          <a:ln w="6350">
            <a:solidFill>
              <a:srgbClr val="DDE2E7"/>
            </a:solidFill>
            <a:prstDash val="solid"/>
          </a:ln>
        </p:spPr>
      </p:sp>
      <p:sp>
        <p:nvSpPr>
          <p:cNvPr id="14" name="Text 12"/>
          <p:cNvSpPr/>
          <p:nvPr/>
        </p:nvSpPr>
        <p:spPr>
          <a:xfrm>
            <a:off x="9033934" y="2146697"/>
            <a:ext cx="222813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3202E"/>
                </a:solidFill>
                <a:latin typeface="IBM Plex Mono" pitchFamily="49" charset="0"/>
                <a:ea typeface="IBM Plex Mono" pitchFamily="49" charset="-122"/>
                <a:cs typeface="IBM Plex Mono" pitchFamily="49" charset="-120"/>
              </a:rPr>
              <a:t>0.90 / 0.74</a:t>
            </a:r>
            <a:endParaRPr lang="en-US" sz="2200" dirty="0"/>
          </a:p>
        </p:txBody>
      </p:sp>
      <p:sp>
        <p:nvSpPr>
          <p:cNvPr id="15" name="Text 13"/>
          <p:cNvSpPr/>
          <p:nvPr/>
        </p:nvSpPr>
        <p:spPr>
          <a:xfrm>
            <a:off x="9033934" y="2575917"/>
            <a:ext cx="22281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1시간 전 / 1주 전 상관</a:t>
            </a:r>
            <a:endParaRPr lang="en-US" sz="1200" dirty="0"/>
          </a:p>
        </p:txBody>
      </p:sp>
      <p:sp>
        <p:nvSpPr>
          <p:cNvPr id="16" name="Shape 14"/>
          <p:cNvSpPr/>
          <p:nvPr/>
        </p:nvSpPr>
        <p:spPr>
          <a:xfrm>
            <a:off x="812800" y="3199873"/>
            <a:ext cx="6858000" cy="2095500"/>
          </a:xfrm>
          <a:prstGeom prst="roundRect">
            <a:avLst>
              <a:gd name="adj" fmla="val 3636"/>
            </a:avLst>
          </a:prstGeom>
          <a:solidFill>
            <a:srgbClr val="FFFFFF"/>
          </a:solidFill>
          <a:ln/>
        </p:spPr>
      </p:sp>
      <p:pic>
        <p:nvPicPr>
          <p:cNvPr id="17" name="Image 0" descr="요일과 시간대별 피크(177 kW 이상) 발생 시간 수 히트맵. 평일 08~11시와 13~14시에 몰림">    </p:cNvPr>
          <p:cNvPicPr>
            <a:picLocks noChangeAspect="1"/>
          </p:cNvPicPr>
          <p:nvPr/>
        </p:nvPicPr>
        <p:blipFill>
          <a:blip r:embed="rId1"/>
          <a:stretch>
            <a:fillRect/>
          </a:stretch>
        </p:blipFill>
        <p:spPr>
          <a:xfrm>
            <a:off x="1680422" y="3199873"/>
            <a:ext cx="5122756" cy="2095500"/>
          </a:xfrm>
          <a:prstGeom prst="rect">
            <a:avLst/>
          </a:prstGeom>
        </p:spPr>
      </p:pic>
      <p:sp>
        <p:nvSpPr>
          <p:cNvPr id="18" name="Shape 15"/>
          <p:cNvSpPr/>
          <p:nvPr/>
        </p:nvSpPr>
        <p:spPr>
          <a:xfrm>
            <a:off x="7874000" y="3199873"/>
            <a:ext cx="3505200" cy="2095500"/>
          </a:xfrm>
          <a:prstGeom prst="roundRect">
            <a:avLst>
              <a:gd name="adj" fmla="val 4848"/>
            </a:avLst>
          </a:prstGeom>
          <a:solidFill>
            <a:srgbClr val="13202E"/>
          </a:solidFill>
          <a:ln/>
        </p:spPr>
      </p:sp>
      <p:sp>
        <p:nvSpPr>
          <p:cNvPr id="19" name="Text 16"/>
          <p:cNvSpPr/>
          <p:nvPr/>
        </p:nvSpPr>
        <p:spPr>
          <a:xfrm>
            <a:off x="8077200" y="3403073"/>
            <a:ext cx="3191764"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6F7F4"/>
                </a:solidFill>
                <a:latin typeface="IBM Plex Sans KR" pitchFamily="34" charset="0"/>
                <a:ea typeface="IBM Plex Sans KR" pitchFamily="34" charset="-122"/>
                <a:cs typeface="IBM Plex Sans KR" pitchFamily="34" charset="-120"/>
              </a:rPr>
              <a:t>달력에 없는 회사 휴무</a:t>
            </a:r>
            <a:endParaRPr lang="en-US" sz="1600" dirty="0"/>
          </a:p>
        </p:txBody>
      </p:sp>
      <p:sp>
        <p:nvSpPr>
          <p:cNvPr id="20" name="Text 17"/>
          <p:cNvSpPr/>
          <p:nvPr/>
        </p:nvSpPr>
        <p:spPr>
          <a:xfrm>
            <a:off x="8077200" y="3723084"/>
            <a:ext cx="3191764"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BFCCDA"/>
                </a:solidFill>
                <a:latin typeface="IBM Plex Sans KR" pitchFamily="34" charset="0"/>
                <a:ea typeface="IBM Plex Sans KR" pitchFamily="34" charset="-122"/>
                <a:cs typeface="IBM Plex Sans KR" pitchFamily="34" charset="-120"/>
              </a:rPr>
              <a:t>영업일인데 전력이 휴무 수준(21 kW)인 날을 찾았습니다.</a:t>
            </a:r>
            <a:endParaRPr lang="en-US" sz="1200" dirty="0"/>
          </a:p>
        </p:txBody>
      </p:sp>
      <p:sp>
        <p:nvSpPr>
          <p:cNvPr id="21" name="Text 18"/>
          <p:cNvSpPr/>
          <p:nvPr/>
        </p:nvSpPr>
        <p:spPr>
          <a:xfrm>
            <a:off x="8077200" y="4256484"/>
            <a:ext cx="3191764"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6F7F4"/>
                </a:solidFill>
                <a:latin typeface="IBM Plex Sans KR" pitchFamily="34" charset="0"/>
                <a:ea typeface="IBM Plex Sans KR" pitchFamily="34" charset="-122"/>
                <a:cs typeface="IBM Plex Sans KR" pitchFamily="34" charset="-120"/>
              </a:rPr>
              <a:t>8/2~8/6 여름휴가</a:t>
            </a:r>
            <a:endParaRPr lang="en-US" sz="1200" dirty="0"/>
          </a:p>
          <a:p>
            <a:pPr algn="l" indent="0" marL="0">
              <a:lnSpc>
                <a:spcPts val="1800"/>
              </a:lnSpc>
              <a:buNone/>
            </a:pPr>
            <a:r>
              <a:rPr lang="en-US" sz="1200" dirty="0">
                <a:solidFill>
                  <a:srgbClr val="F6F7F4"/>
                </a:solidFill>
                <a:latin typeface="IBM Plex Sans KR" pitchFamily="34" charset="0"/>
                <a:ea typeface="IBM Plex Sans KR" pitchFamily="34" charset="-122"/>
                <a:cs typeface="IBM Plex Sans KR" pitchFamily="34" charset="-120"/>
              </a:rPr>
              <a:t>1월 화·수, 2~3월 금 정기 휴무</a:t>
            </a:r>
            <a:endParaRPr lang="en-US" sz="1200" dirty="0"/>
          </a:p>
        </p:txBody>
      </p:sp>
      <p:sp>
        <p:nvSpPr>
          <p:cNvPr id="22"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EDA: 김정현 · 히트맵: 검증+Test 피크 225시간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1. 데이터 이해 및 진단 · 검증 전략</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시간 순서를 지키는 검증 설계</a:t>
            </a:r>
            <a:endParaRPr lang="en-US" sz="3000" dirty="0"/>
          </a:p>
        </p:txBody>
      </p:sp>
      <p:sp>
        <p:nvSpPr>
          <p:cNvPr id="4" name="Text 2"/>
          <p:cNvSpPr/>
          <p:nvPr/>
        </p:nvSpPr>
        <p:spPr>
          <a:xfrm>
            <a:off x="812800" y="2039609"/>
            <a:ext cx="1193800"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3202E"/>
                </a:solidFill>
                <a:latin typeface="IBM Plex Sans KR" pitchFamily="34" charset="0"/>
                <a:ea typeface="IBM Plex Sans KR" pitchFamily="34" charset="-122"/>
                <a:cs typeface="IBM Plex Sans KR" pitchFamily="34" charset="-120"/>
              </a:rPr>
              <a:t>fold1</a:t>
            </a:r>
            <a:endParaRPr lang="en-US" sz="1300" dirty="0"/>
          </a:p>
        </p:txBody>
      </p:sp>
      <p:sp>
        <p:nvSpPr>
          <p:cNvPr id="5" name="Text 3"/>
          <p:cNvSpPr/>
          <p:nvPr/>
        </p:nvSpPr>
        <p:spPr>
          <a:xfrm>
            <a:off x="2082800" y="1990065"/>
            <a:ext cx="3991703" cy="330200"/>
          </a:xfrm>
          <a:prstGeom prst="rect">
            <a:avLst/>
          </a:prstGeom>
          <a:solidFill>
            <a:srgbClr val="CFE0F5"/>
          </a:solidFill>
          <a:ln/>
        </p:spPr>
        <p:txBody>
          <a:bodyPr wrap="square" lIns="101600" tIns="0" rIns="101600" bIns="0" rtlCol="0" anchor="ctr">
            <a:normAutofit/>
          </a:bodyPr>
          <a:lstStyle/>
          <a:p>
            <a:pPr algn="l" indent="0" marL="0">
              <a:lnSpc>
                <a:spcPts val="1680"/>
              </a:lnSpc>
              <a:buNone/>
            </a:pPr>
            <a:r>
              <a:rPr lang="en-US" sz="1200" dirty="0">
                <a:solidFill>
                  <a:srgbClr val="1F4E86"/>
                </a:solidFill>
                <a:latin typeface="IBM Plex Sans KR" pitchFamily="34" charset="0"/>
                <a:ea typeface="IBM Plex Sans KR" pitchFamily="34" charset="-122"/>
                <a:cs typeface="IBM Plex Sans KR" pitchFamily="34" charset="-120"/>
              </a:rPr>
              <a:t>학습 1/1~5/1</a:t>
            </a:r>
            <a:endParaRPr lang="en-US" sz="1200" dirty="0"/>
          </a:p>
        </p:txBody>
      </p:sp>
      <p:sp>
        <p:nvSpPr>
          <p:cNvPr id="6" name="Shape 4"/>
          <p:cNvSpPr/>
          <p:nvPr/>
        </p:nvSpPr>
        <p:spPr>
          <a:xfrm>
            <a:off x="6074503" y="1990065"/>
            <a:ext cx="530357" cy="330200"/>
          </a:xfrm>
          <a:prstGeom prst="rect">
            <a:avLst/>
          </a:prstGeom>
          <a:solidFill>
            <a:srgbClr val="A9B3BE"/>
          </a:solidFill>
          <a:ln/>
        </p:spPr>
      </p:sp>
      <p:sp>
        <p:nvSpPr>
          <p:cNvPr id="7" name="Text 5"/>
          <p:cNvSpPr/>
          <p:nvPr/>
        </p:nvSpPr>
        <p:spPr>
          <a:xfrm>
            <a:off x="6604860" y="1990065"/>
            <a:ext cx="1326819" cy="330200"/>
          </a:xfrm>
          <a:prstGeom prst="rect">
            <a:avLst/>
          </a:prstGeom>
          <a:solidFill>
            <a:srgbClr val="2A78D6"/>
          </a:solidFill>
          <a:ln/>
        </p:spPr>
        <p:txBody>
          <a:bodyPr wrap="square" lIns="76200" tIns="0" rIns="76200" bIns="0" rtlCol="0" anchor="ctr">
            <a:normAutofit/>
          </a:bodyPr>
          <a:lstStyle/>
          <a:p>
            <a:pPr algn="l" indent="0" marL="0">
              <a:lnSpc>
                <a:spcPts val="1680"/>
              </a:lnSpc>
              <a:buNone/>
            </a:pPr>
            <a:r>
              <a:rPr lang="en-US" sz="1200" dirty="0">
                <a:solidFill>
                  <a:srgbClr val="FFFFFF"/>
                </a:solidFill>
                <a:latin typeface="IBM Plex Sans KR" pitchFamily="34" charset="0"/>
                <a:ea typeface="IBM Plex Sans KR" pitchFamily="34" charset="-122"/>
                <a:cs typeface="IBM Plex Sans KR" pitchFamily="34" charset="-120"/>
              </a:rPr>
              <a:t>검증</a:t>
            </a:r>
            <a:endParaRPr lang="en-US" sz="1200" dirty="0"/>
          </a:p>
        </p:txBody>
      </p:sp>
      <p:sp>
        <p:nvSpPr>
          <p:cNvPr id="8" name="Text 6"/>
          <p:cNvSpPr/>
          <p:nvPr/>
        </p:nvSpPr>
        <p:spPr>
          <a:xfrm>
            <a:off x="812800" y="2484109"/>
            <a:ext cx="1193800"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3202E"/>
                </a:solidFill>
                <a:latin typeface="IBM Plex Sans KR" pitchFamily="34" charset="0"/>
                <a:ea typeface="IBM Plex Sans KR" pitchFamily="34" charset="-122"/>
                <a:cs typeface="IBM Plex Sans KR" pitchFamily="34" charset="-120"/>
              </a:rPr>
              <a:t>fold2</a:t>
            </a:r>
            <a:endParaRPr lang="en-US" sz="1300" dirty="0"/>
          </a:p>
        </p:txBody>
      </p:sp>
      <p:sp>
        <p:nvSpPr>
          <p:cNvPr id="9" name="Text 7"/>
          <p:cNvSpPr/>
          <p:nvPr/>
        </p:nvSpPr>
        <p:spPr>
          <a:xfrm>
            <a:off x="2082800" y="2434565"/>
            <a:ext cx="4564526" cy="330200"/>
          </a:xfrm>
          <a:prstGeom prst="rect">
            <a:avLst/>
          </a:prstGeom>
          <a:solidFill>
            <a:srgbClr val="CFE0F5"/>
          </a:solidFill>
          <a:ln/>
        </p:spPr>
        <p:txBody>
          <a:bodyPr wrap="square" lIns="101600" tIns="0" rIns="101600" bIns="0" rtlCol="0" anchor="ctr">
            <a:normAutofit/>
          </a:bodyPr>
          <a:lstStyle/>
          <a:p>
            <a:pPr algn="l" indent="0" marL="0">
              <a:lnSpc>
                <a:spcPts val="1680"/>
              </a:lnSpc>
              <a:buNone/>
            </a:pPr>
            <a:r>
              <a:rPr lang="en-US" sz="1200" dirty="0">
                <a:solidFill>
                  <a:srgbClr val="1F4E86"/>
                </a:solidFill>
                <a:latin typeface="IBM Plex Sans KR" pitchFamily="34" charset="0"/>
                <a:ea typeface="IBM Plex Sans KR" pitchFamily="34" charset="-122"/>
                <a:cs typeface="IBM Plex Sans KR" pitchFamily="34" charset="-120"/>
              </a:rPr>
              <a:t>학습 1/1~6/1</a:t>
            </a:r>
            <a:endParaRPr lang="en-US" sz="1200" dirty="0"/>
          </a:p>
        </p:txBody>
      </p:sp>
      <p:sp>
        <p:nvSpPr>
          <p:cNvPr id="10" name="Shape 8"/>
          <p:cNvSpPr/>
          <p:nvPr/>
        </p:nvSpPr>
        <p:spPr>
          <a:xfrm>
            <a:off x="6647326" y="2434565"/>
            <a:ext cx="610592" cy="330200"/>
          </a:xfrm>
          <a:prstGeom prst="rect">
            <a:avLst/>
          </a:prstGeom>
          <a:solidFill>
            <a:srgbClr val="A9B3BE"/>
          </a:solidFill>
          <a:ln/>
        </p:spPr>
      </p:sp>
      <p:sp>
        <p:nvSpPr>
          <p:cNvPr id="11" name="Text 9"/>
          <p:cNvSpPr/>
          <p:nvPr/>
        </p:nvSpPr>
        <p:spPr>
          <a:xfrm>
            <a:off x="7257918" y="2434565"/>
            <a:ext cx="1460831" cy="330200"/>
          </a:xfrm>
          <a:prstGeom prst="rect">
            <a:avLst/>
          </a:prstGeom>
          <a:solidFill>
            <a:srgbClr val="2A78D6"/>
          </a:solidFill>
          <a:ln/>
        </p:spPr>
        <p:txBody>
          <a:bodyPr wrap="square" lIns="76200" tIns="0" rIns="76200" bIns="0" rtlCol="0" anchor="ctr">
            <a:normAutofit/>
          </a:bodyPr>
          <a:lstStyle/>
          <a:p>
            <a:pPr algn="l" indent="0" marL="0">
              <a:lnSpc>
                <a:spcPts val="1680"/>
              </a:lnSpc>
              <a:buNone/>
            </a:pPr>
            <a:r>
              <a:rPr lang="en-US" sz="1200" dirty="0">
                <a:solidFill>
                  <a:srgbClr val="FFFFFF"/>
                </a:solidFill>
                <a:latin typeface="IBM Plex Sans KR" pitchFamily="34" charset="0"/>
                <a:ea typeface="IBM Plex Sans KR" pitchFamily="34" charset="-122"/>
                <a:cs typeface="IBM Plex Sans KR" pitchFamily="34" charset="-120"/>
              </a:rPr>
              <a:t>검증</a:t>
            </a:r>
            <a:endParaRPr lang="en-US" sz="1200" dirty="0"/>
          </a:p>
        </p:txBody>
      </p:sp>
      <p:sp>
        <p:nvSpPr>
          <p:cNvPr id="12" name="Text 10"/>
          <p:cNvSpPr/>
          <p:nvPr/>
        </p:nvSpPr>
        <p:spPr>
          <a:xfrm>
            <a:off x="812800" y="2928609"/>
            <a:ext cx="1193800"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3202E"/>
                </a:solidFill>
                <a:latin typeface="IBM Plex Sans KR" pitchFamily="34" charset="0"/>
                <a:ea typeface="IBM Plex Sans KR" pitchFamily="34" charset="-122"/>
                <a:cs typeface="IBM Plex Sans KR" pitchFamily="34" charset="-120"/>
              </a:rPr>
              <a:t>fold3</a:t>
            </a:r>
            <a:endParaRPr lang="en-US" sz="1300" dirty="0"/>
          </a:p>
        </p:txBody>
      </p:sp>
      <p:sp>
        <p:nvSpPr>
          <p:cNvPr id="13" name="Text 11"/>
          <p:cNvSpPr/>
          <p:nvPr/>
        </p:nvSpPr>
        <p:spPr>
          <a:xfrm>
            <a:off x="2082800" y="2879065"/>
            <a:ext cx="5312238" cy="330200"/>
          </a:xfrm>
          <a:prstGeom prst="rect">
            <a:avLst/>
          </a:prstGeom>
          <a:solidFill>
            <a:srgbClr val="CFE0F5"/>
          </a:solidFill>
          <a:ln/>
        </p:spPr>
        <p:txBody>
          <a:bodyPr wrap="square" lIns="101600" tIns="0" rIns="101600" bIns="0" rtlCol="0" anchor="ctr">
            <a:normAutofit/>
          </a:bodyPr>
          <a:lstStyle/>
          <a:p>
            <a:pPr algn="l" indent="0" marL="0">
              <a:lnSpc>
                <a:spcPts val="1680"/>
              </a:lnSpc>
              <a:buNone/>
            </a:pPr>
            <a:r>
              <a:rPr lang="en-US" sz="1200" dirty="0">
                <a:solidFill>
                  <a:srgbClr val="1F4E86"/>
                </a:solidFill>
                <a:latin typeface="IBM Plex Sans KR" pitchFamily="34" charset="0"/>
                <a:ea typeface="IBM Plex Sans KR" pitchFamily="34" charset="-122"/>
                <a:cs typeface="IBM Plex Sans KR" pitchFamily="34" charset="-120"/>
              </a:rPr>
              <a:t>학습 1/1~7/1</a:t>
            </a:r>
            <a:endParaRPr lang="en-US" sz="1200" dirty="0"/>
          </a:p>
        </p:txBody>
      </p:sp>
      <p:sp>
        <p:nvSpPr>
          <p:cNvPr id="14" name="Shape 12"/>
          <p:cNvSpPr/>
          <p:nvPr/>
        </p:nvSpPr>
        <p:spPr>
          <a:xfrm>
            <a:off x="7395039" y="2879065"/>
            <a:ext cx="715235" cy="330200"/>
          </a:xfrm>
          <a:prstGeom prst="rect">
            <a:avLst/>
          </a:prstGeom>
          <a:solidFill>
            <a:srgbClr val="A9B3BE"/>
          </a:solidFill>
          <a:ln/>
        </p:spPr>
      </p:sp>
      <p:sp>
        <p:nvSpPr>
          <p:cNvPr id="15" name="Text 13"/>
          <p:cNvSpPr/>
          <p:nvPr/>
        </p:nvSpPr>
        <p:spPr>
          <a:xfrm>
            <a:off x="8110273" y="2879065"/>
            <a:ext cx="1736196" cy="330200"/>
          </a:xfrm>
          <a:prstGeom prst="rect">
            <a:avLst/>
          </a:prstGeom>
          <a:solidFill>
            <a:srgbClr val="2A78D6"/>
          </a:solidFill>
          <a:ln/>
        </p:spPr>
        <p:txBody>
          <a:bodyPr wrap="square" lIns="76200" tIns="0" rIns="76200" bIns="0" rtlCol="0" anchor="ctr">
            <a:normAutofit/>
          </a:bodyPr>
          <a:lstStyle/>
          <a:p>
            <a:pPr algn="l" indent="0" marL="0">
              <a:lnSpc>
                <a:spcPts val="1680"/>
              </a:lnSpc>
              <a:buNone/>
            </a:pPr>
            <a:r>
              <a:rPr lang="en-US" sz="1200" dirty="0">
                <a:solidFill>
                  <a:srgbClr val="FFFFFF"/>
                </a:solidFill>
                <a:latin typeface="IBM Plex Sans KR" pitchFamily="34" charset="0"/>
                <a:ea typeface="IBM Plex Sans KR" pitchFamily="34" charset="-122"/>
                <a:cs typeface="IBM Plex Sans KR" pitchFamily="34" charset="-120"/>
              </a:rPr>
              <a:t>검증</a:t>
            </a:r>
            <a:endParaRPr lang="en-US" sz="1200" dirty="0"/>
          </a:p>
        </p:txBody>
      </p:sp>
      <p:sp>
        <p:nvSpPr>
          <p:cNvPr id="16" name="Text 14"/>
          <p:cNvSpPr/>
          <p:nvPr/>
        </p:nvSpPr>
        <p:spPr>
          <a:xfrm>
            <a:off x="812800" y="3373109"/>
            <a:ext cx="1193800"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E2672F"/>
                </a:solidFill>
                <a:latin typeface="IBM Plex Sans KR" pitchFamily="34" charset="0"/>
                <a:ea typeface="IBM Plex Sans KR" pitchFamily="34" charset="-122"/>
                <a:cs typeface="IBM Plex Sans KR" pitchFamily="34" charset="-120"/>
              </a:rPr>
              <a:t>최종</a:t>
            </a:r>
            <a:endParaRPr lang="en-US" sz="1300" dirty="0"/>
          </a:p>
        </p:txBody>
      </p:sp>
      <p:sp>
        <p:nvSpPr>
          <p:cNvPr id="17" name="Text 15"/>
          <p:cNvSpPr/>
          <p:nvPr/>
        </p:nvSpPr>
        <p:spPr>
          <a:xfrm>
            <a:off x="2082800" y="3323565"/>
            <a:ext cx="6412111" cy="330200"/>
          </a:xfrm>
          <a:prstGeom prst="rect">
            <a:avLst/>
          </a:prstGeom>
          <a:solidFill>
            <a:srgbClr val="CFE0F5"/>
          </a:solidFill>
          <a:ln/>
        </p:spPr>
        <p:txBody>
          <a:bodyPr wrap="square" lIns="101600" tIns="0" rIns="101600" bIns="0" rtlCol="0" anchor="ctr">
            <a:normAutofit/>
          </a:bodyPr>
          <a:lstStyle/>
          <a:p>
            <a:pPr algn="l" indent="0" marL="0">
              <a:lnSpc>
                <a:spcPts val="1680"/>
              </a:lnSpc>
              <a:buNone/>
            </a:pPr>
            <a:r>
              <a:rPr lang="en-US" sz="1200" dirty="0">
                <a:solidFill>
                  <a:srgbClr val="1F4E86"/>
                </a:solidFill>
                <a:latin typeface="IBM Plex Sans KR" pitchFamily="34" charset="0"/>
                <a:ea typeface="IBM Plex Sans KR" pitchFamily="34" charset="-122"/>
                <a:cs typeface="IBM Plex Sans KR" pitchFamily="34" charset="-120"/>
              </a:rPr>
              <a:t>학습 1/1~8/1</a:t>
            </a:r>
            <a:endParaRPr lang="en-US" sz="1200" dirty="0"/>
          </a:p>
        </p:txBody>
      </p:sp>
      <p:sp>
        <p:nvSpPr>
          <p:cNvPr id="18" name="Shape 16"/>
          <p:cNvSpPr/>
          <p:nvPr/>
        </p:nvSpPr>
        <p:spPr>
          <a:xfrm>
            <a:off x="8494911" y="3323565"/>
            <a:ext cx="869222" cy="330200"/>
          </a:xfrm>
          <a:prstGeom prst="rect">
            <a:avLst/>
          </a:prstGeom>
          <a:solidFill>
            <a:srgbClr val="A9B3BE"/>
          </a:solidFill>
          <a:ln/>
        </p:spPr>
      </p:sp>
      <p:sp>
        <p:nvSpPr>
          <p:cNvPr id="19" name="Text 17"/>
          <p:cNvSpPr/>
          <p:nvPr/>
        </p:nvSpPr>
        <p:spPr>
          <a:xfrm>
            <a:off x="9364134" y="3323565"/>
            <a:ext cx="2015067" cy="330200"/>
          </a:xfrm>
          <a:prstGeom prst="rect">
            <a:avLst/>
          </a:prstGeom>
          <a:solidFill>
            <a:srgbClr val="E2672F"/>
          </a:solidFill>
          <a:ln/>
        </p:spPr>
        <p:txBody>
          <a:bodyPr wrap="square" lIns="76200" tIns="0" rIns="76200" bIns="0" rtlCol="0" anchor="ctr">
            <a:normAutofit/>
          </a:bodyPr>
          <a:lstStyle/>
          <a:p>
            <a:pPr algn="l" indent="0" marL="0">
              <a:lnSpc>
                <a:spcPts val="1680"/>
              </a:lnSpc>
              <a:buNone/>
            </a:pPr>
            <a:r>
              <a:rPr lang="en-US" sz="1200" dirty="0">
                <a:solidFill>
                  <a:srgbClr val="FFFFFF"/>
                </a:solidFill>
                <a:latin typeface="IBM Plex Sans KR" pitchFamily="34" charset="0"/>
                <a:ea typeface="IBM Plex Sans KR" pitchFamily="34" charset="-122"/>
                <a:cs typeface="IBM Plex Sans KR" pitchFamily="34" charset="-120"/>
              </a:rPr>
              <a:t>Test</a:t>
            </a:r>
            <a:endParaRPr lang="en-US" sz="1200" dirty="0"/>
          </a:p>
        </p:txBody>
      </p:sp>
      <p:sp>
        <p:nvSpPr>
          <p:cNvPr id="20" name="Text 18"/>
          <p:cNvSpPr/>
          <p:nvPr/>
        </p:nvSpPr>
        <p:spPr>
          <a:xfrm>
            <a:off x="2082800" y="3768065"/>
            <a:ext cx="235743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3BE"/>
                </a:solidFill>
                <a:latin typeface="IBM Plex Sans KR" pitchFamily="34" charset="0"/>
                <a:ea typeface="IBM Plex Sans KR" pitchFamily="34" charset="-122"/>
                <a:cs typeface="IBM Plex Sans KR" pitchFamily="34" charset="-120"/>
              </a:rPr>
              <a:t>■</a:t>
            </a:r>
            <a:r>
              <a:rPr lang="en-US" sz="1200" dirty="0">
                <a:solidFill>
                  <a:srgbClr val="4A5568"/>
                </a:solidFill>
                <a:latin typeface="IBM Plex Sans KR" pitchFamily="34" charset="0"/>
                <a:ea typeface="IBM Plex Sans KR" pitchFamily="34" charset="-122"/>
                <a:cs typeface="IBM Plex Sans KR" pitchFamily="34" charset="-120"/>
              </a:rPr>
              <a:t> 회색: EarlyStopping 전용 14일</a:t>
            </a:r>
            <a:endParaRPr lang="en-US" sz="1200" dirty="0"/>
          </a:p>
        </p:txBody>
      </p:sp>
      <p:sp>
        <p:nvSpPr>
          <p:cNvPr id="21" name="Text 19"/>
          <p:cNvSpPr/>
          <p:nvPr/>
        </p:nvSpPr>
        <p:spPr>
          <a:xfrm>
            <a:off x="4440238" y="3768065"/>
            <a:ext cx="32131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A78D6"/>
                </a:solidFill>
                <a:latin typeface="IBM Plex Sans KR" pitchFamily="34" charset="0"/>
                <a:ea typeface="IBM Plex Sans KR" pitchFamily="34" charset="-122"/>
                <a:cs typeface="IBM Plex Sans KR" pitchFamily="34" charset="-120"/>
              </a:rPr>
              <a:t>■</a:t>
            </a:r>
            <a:r>
              <a:rPr lang="en-US" sz="1200" dirty="0">
                <a:solidFill>
                  <a:srgbClr val="4A5568"/>
                </a:solidFill>
                <a:latin typeface="IBM Plex Sans KR" pitchFamily="34" charset="0"/>
                <a:ea typeface="IBM Plex Sans KR" pitchFamily="34" charset="-122"/>
                <a:cs typeface="IBM Plex Sans KR" pitchFamily="34" charset="-120"/>
              </a:rPr>
              <a:t> 검증 5/16~6/15 · 6/16~7/15 · 7/16~8/15</a:t>
            </a:r>
            <a:endParaRPr lang="en-US" sz="1200" dirty="0"/>
          </a:p>
        </p:txBody>
      </p:sp>
      <p:sp>
        <p:nvSpPr>
          <p:cNvPr id="22" name="Text 20"/>
          <p:cNvSpPr/>
          <p:nvPr/>
        </p:nvSpPr>
        <p:spPr>
          <a:xfrm>
            <a:off x="7653337" y="3768065"/>
            <a:ext cx="15224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2672F"/>
                </a:solidFill>
                <a:latin typeface="IBM Plex Sans KR" pitchFamily="34" charset="0"/>
                <a:ea typeface="IBM Plex Sans KR" pitchFamily="34" charset="-122"/>
                <a:cs typeface="IBM Plex Sans KR" pitchFamily="34" charset="-120"/>
              </a:rPr>
              <a:t>■</a:t>
            </a:r>
            <a:r>
              <a:rPr lang="en-US" sz="1200" dirty="0">
                <a:solidFill>
                  <a:srgbClr val="4A5568"/>
                </a:solidFill>
                <a:latin typeface="IBM Plex Sans KR" pitchFamily="34" charset="0"/>
                <a:ea typeface="IBM Plex Sans KR" pitchFamily="34" charset="-122"/>
                <a:cs typeface="IBM Plex Sans KR" pitchFamily="34" charset="-120"/>
              </a:rPr>
              <a:t> Test 8/16~9/14</a:t>
            </a:r>
            <a:endParaRPr lang="en-US" sz="1200" dirty="0"/>
          </a:p>
        </p:txBody>
      </p:sp>
      <p:sp>
        <p:nvSpPr>
          <p:cNvPr id="23" name="Shape 21"/>
          <p:cNvSpPr/>
          <p:nvPr/>
        </p:nvSpPr>
        <p:spPr>
          <a:xfrm>
            <a:off x="825500" y="4235385"/>
            <a:ext cx="0" cy="529564"/>
          </a:xfrm>
          <a:prstGeom prst="line">
            <a:avLst/>
          </a:prstGeom>
          <a:noFill/>
          <a:ln w="25400">
            <a:solidFill>
              <a:srgbClr val="2A78D6"/>
            </a:solidFill>
            <a:prstDash val="solid"/>
          </a:ln>
        </p:spPr>
      </p:sp>
      <p:sp>
        <p:nvSpPr>
          <p:cNvPr id="24" name="Text 22"/>
          <p:cNvSpPr/>
          <p:nvPr/>
        </p:nvSpPr>
        <p:spPr>
          <a:xfrm>
            <a:off x="952500" y="4260785"/>
            <a:ext cx="245922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B2433"/>
                </a:solidFill>
                <a:latin typeface="IBM Plex Sans KR" pitchFamily="34" charset="0"/>
                <a:ea typeface="IBM Plex Sans KR" pitchFamily="34" charset="-122"/>
                <a:cs typeface="IBM Plex Sans KR" pitchFamily="34" charset="-120"/>
              </a:rPr>
              <a:t>Scaler는 학습 구간으로만 fit</a:t>
            </a:r>
            <a:endParaRPr lang="en-US" sz="1300" dirty="0"/>
          </a:p>
        </p:txBody>
      </p:sp>
      <p:sp>
        <p:nvSpPr>
          <p:cNvPr id="25" name="Shape 23"/>
          <p:cNvSpPr/>
          <p:nvPr/>
        </p:nvSpPr>
        <p:spPr>
          <a:xfrm>
            <a:off x="3505200" y="4235385"/>
            <a:ext cx="0" cy="529564"/>
          </a:xfrm>
          <a:prstGeom prst="line">
            <a:avLst/>
          </a:prstGeom>
          <a:noFill/>
          <a:ln w="25400">
            <a:solidFill>
              <a:srgbClr val="2A78D6"/>
            </a:solidFill>
            <a:prstDash val="solid"/>
          </a:ln>
        </p:spPr>
      </p:sp>
      <p:sp>
        <p:nvSpPr>
          <p:cNvPr id="26" name="Text 24"/>
          <p:cNvSpPr/>
          <p:nvPr/>
        </p:nvSpPr>
        <p:spPr>
          <a:xfrm>
            <a:off x="3632200" y="4260785"/>
            <a:ext cx="245922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B2433"/>
                </a:solidFill>
                <a:latin typeface="IBM Plex Sans KR" pitchFamily="34" charset="0"/>
                <a:ea typeface="IBM Plex Sans KR" pitchFamily="34" charset="-122"/>
                <a:cs typeface="IBM Plex Sans KR" pitchFamily="34" charset="-120"/>
              </a:rPr>
              <a:t>튜닝은 검증 3개 평균, Test는 한 번만</a:t>
            </a:r>
            <a:endParaRPr lang="en-US" sz="1300" dirty="0"/>
          </a:p>
        </p:txBody>
      </p:sp>
      <p:sp>
        <p:nvSpPr>
          <p:cNvPr id="27" name="Shape 25"/>
          <p:cNvSpPr/>
          <p:nvPr/>
        </p:nvSpPr>
        <p:spPr>
          <a:xfrm>
            <a:off x="6184900" y="4235385"/>
            <a:ext cx="0" cy="529564"/>
          </a:xfrm>
          <a:prstGeom prst="line">
            <a:avLst/>
          </a:prstGeom>
          <a:noFill/>
          <a:ln w="25400">
            <a:solidFill>
              <a:srgbClr val="2A78D6"/>
            </a:solidFill>
            <a:prstDash val="solid"/>
          </a:ln>
        </p:spPr>
      </p:sp>
      <p:sp>
        <p:nvSpPr>
          <p:cNvPr id="28" name="Text 26"/>
          <p:cNvSpPr/>
          <p:nvPr/>
        </p:nvSpPr>
        <p:spPr>
          <a:xfrm>
            <a:off x="6311900" y="4260785"/>
            <a:ext cx="245922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B2433"/>
                </a:solidFill>
                <a:latin typeface="IBM Plex Sans KR" pitchFamily="34" charset="0"/>
                <a:ea typeface="IBM Plex Sans KR" pitchFamily="34" charset="-122"/>
                <a:cs typeface="IBM Plex Sans KR" pitchFamily="34" charset="-120"/>
              </a:rPr>
              <a:t>셧다운은 평가 제외, 입력 유지</a:t>
            </a:r>
            <a:endParaRPr lang="en-US" sz="1300" dirty="0"/>
          </a:p>
        </p:txBody>
      </p:sp>
      <p:sp>
        <p:nvSpPr>
          <p:cNvPr id="29" name="Shape 27"/>
          <p:cNvSpPr/>
          <p:nvPr/>
        </p:nvSpPr>
        <p:spPr>
          <a:xfrm>
            <a:off x="8864600" y="4235385"/>
            <a:ext cx="0" cy="529564"/>
          </a:xfrm>
          <a:prstGeom prst="line">
            <a:avLst/>
          </a:prstGeom>
          <a:noFill/>
          <a:ln w="25400">
            <a:solidFill>
              <a:srgbClr val="2A78D6"/>
            </a:solidFill>
            <a:prstDash val="solid"/>
          </a:ln>
        </p:spPr>
      </p:sp>
      <p:sp>
        <p:nvSpPr>
          <p:cNvPr id="30" name="Text 28"/>
          <p:cNvSpPr/>
          <p:nvPr/>
        </p:nvSpPr>
        <p:spPr>
          <a:xfrm>
            <a:off x="8991600" y="4260785"/>
            <a:ext cx="245922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B2433"/>
                </a:solidFill>
                <a:latin typeface="IBM Plex Sans KR" pitchFamily="34" charset="0"/>
                <a:ea typeface="IBM Plex Sans KR" pitchFamily="34" charset="-122"/>
                <a:cs typeface="IBM Plex Sans KR" pitchFamily="34" charset="-120"/>
              </a:rPr>
              <a:t>seed 42 고정, 재실행 동일</a:t>
            </a:r>
            <a:endParaRPr lang="en-US" sz="1300" dirty="0"/>
          </a:p>
        </p:txBody>
      </p:sp>
      <p:sp>
        <p:nvSpPr>
          <p:cNvPr id="31" name="Text 2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팀 공통 기준: docs/modeling/팀_공통_평가기준.md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2. AI 예측모델 · 문제 정의</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제조 이상 = 다음 1시간 전력이 177 kW 이상</a:t>
            </a:r>
            <a:endParaRPr lang="en-US" sz="3000" dirty="0"/>
          </a:p>
        </p:txBody>
      </p:sp>
      <p:sp>
        <p:nvSpPr>
          <p:cNvPr id="4" name="Shape 2"/>
          <p:cNvSpPr/>
          <p:nvPr/>
        </p:nvSpPr>
        <p:spPr>
          <a:xfrm>
            <a:off x="812800" y="1990065"/>
            <a:ext cx="10566400" cy="1610254"/>
          </a:xfrm>
          <a:prstGeom prst="roundRect">
            <a:avLst>
              <a:gd name="adj" fmla="val 6310"/>
            </a:avLst>
          </a:prstGeom>
          <a:solidFill>
            <a:srgbClr val="13202E"/>
          </a:solidFill>
          <a:ln/>
        </p:spPr>
      </p:sp>
      <p:sp>
        <p:nvSpPr>
          <p:cNvPr id="5" name="Text 3"/>
          <p:cNvSpPr/>
          <p:nvPr/>
        </p:nvSpPr>
        <p:spPr>
          <a:xfrm>
            <a:off x="1117600" y="2244065"/>
            <a:ext cx="10255504"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CDA"/>
                </a:solidFill>
                <a:latin typeface="IBM Plex Sans KR" pitchFamily="34" charset="0"/>
                <a:ea typeface="IBM Plex Sans KR" pitchFamily="34" charset="-122"/>
                <a:cs typeface="IBM Plex Sans KR" pitchFamily="34" charset="-120"/>
              </a:rPr>
              <a:t>이상 확률</a:t>
            </a:r>
            <a:endParaRPr lang="en-US" sz="1300" dirty="0"/>
          </a:p>
        </p:txBody>
      </p:sp>
      <p:sp>
        <p:nvSpPr>
          <p:cNvPr id="6" name="Text 4"/>
          <p:cNvSpPr/>
          <p:nvPr/>
        </p:nvSpPr>
        <p:spPr>
          <a:xfrm>
            <a:off x="1117600" y="2564079"/>
            <a:ext cx="10255504" cy="487627"/>
          </a:xfrm>
          <a:prstGeom prst="rect">
            <a:avLst/>
          </a:prstGeom>
          <a:noFill/>
          <a:ln/>
        </p:spPr>
        <p:txBody>
          <a:bodyPr wrap="square" lIns="0" tIns="0" rIns="0" bIns="0" rtlCol="0" anchor="t">
            <a:normAutofit/>
          </a:bodyPr>
          <a:lstStyle/>
          <a:p>
            <a:pPr algn="l" indent="0" marL="0">
              <a:lnSpc>
                <a:spcPts val="3640"/>
              </a:lnSpc>
              <a:buNone/>
            </a:pPr>
            <a:r>
              <a:rPr lang="en-US" sz="2600" b="1" dirty="0">
                <a:solidFill>
                  <a:srgbClr val="F6F7F4"/>
                </a:solidFill>
                <a:latin typeface="IBM Plex Mono" pitchFamily="49" charset="0"/>
                <a:ea typeface="IBM Plex Mono" pitchFamily="49" charset="-122"/>
                <a:cs typeface="IBM Plex Mono" pitchFamily="49" charset="-120"/>
              </a:rPr>
              <a:t>P(이상) = 1 − Φ( (177 − 예측값) / σ )</a:t>
            </a:r>
            <a:endParaRPr lang="en-US" sz="2600" dirty="0"/>
          </a:p>
        </p:txBody>
      </p:sp>
      <p:sp>
        <p:nvSpPr>
          <p:cNvPr id="7" name="Text 5"/>
          <p:cNvSpPr/>
          <p:nvPr/>
        </p:nvSpPr>
        <p:spPr>
          <a:xfrm>
            <a:off x="1117600" y="3115205"/>
            <a:ext cx="10255504"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CDA"/>
                </a:solidFill>
                <a:latin typeface="IBM Plex Sans KR" pitchFamily="34" charset="0"/>
                <a:ea typeface="IBM Plex Sans KR" pitchFamily="34" charset="-122"/>
                <a:cs typeface="IBM Plex Sans KR" pitchFamily="34" charset="-120"/>
              </a:rPr>
              <a:t>σ = 검증 구간 예측 오차의 표준편차 · 예) 예측 165 kW, σ 10 kW → 이상 확률 0.12</a:t>
            </a:r>
            <a:endParaRPr lang="en-US" sz="1300" dirty="0"/>
          </a:p>
        </p:txBody>
      </p:sp>
      <p:sp>
        <p:nvSpPr>
          <p:cNvPr id="8" name="Shape 6"/>
          <p:cNvSpPr/>
          <p:nvPr/>
        </p:nvSpPr>
        <p:spPr>
          <a:xfrm>
            <a:off x="815975" y="3857495"/>
            <a:ext cx="3397250" cy="1211130"/>
          </a:xfrm>
          <a:prstGeom prst="roundRect">
            <a:avLst>
              <a:gd name="adj" fmla="val 8127"/>
            </a:avLst>
          </a:prstGeom>
          <a:solidFill>
            <a:srgbClr val="FFFFFF"/>
          </a:solidFill>
          <a:ln w="6350">
            <a:solidFill>
              <a:srgbClr val="DDE2E7"/>
            </a:solidFill>
            <a:prstDash val="solid"/>
          </a:ln>
        </p:spPr>
      </p:sp>
      <p:sp>
        <p:nvSpPr>
          <p:cNvPr id="9" name="Text 7"/>
          <p:cNvSpPr/>
          <p:nvPr/>
        </p:nvSpPr>
        <p:spPr>
          <a:xfrm>
            <a:off x="1020233" y="4061752"/>
            <a:ext cx="3078395"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기준 177 kW</a:t>
            </a:r>
            <a:endParaRPr lang="en-US" sz="1600" dirty="0"/>
          </a:p>
        </p:txBody>
      </p:sp>
      <p:sp>
        <p:nvSpPr>
          <p:cNvPr id="10" name="Text 8"/>
          <p:cNvSpPr/>
          <p:nvPr/>
        </p:nvSpPr>
        <p:spPr>
          <a:xfrm>
            <a:off x="1020233" y="4369067"/>
            <a:ext cx="307839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Test 이전 기간의 상위 5%. Test 에 피크 49시간(29건)</a:t>
            </a:r>
            <a:endParaRPr lang="en-US" sz="1300" dirty="0"/>
          </a:p>
        </p:txBody>
      </p:sp>
      <p:sp>
        <p:nvSpPr>
          <p:cNvPr id="11" name="Shape 9"/>
          <p:cNvSpPr/>
          <p:nvPr/>
        </p:nvSpPr>
        <p:spPr>
          <a:xfrm>
            <a:off x="4397375" y="3857495"/>
            <a:ext cx="3397250" cy="1211130"/>
          </a:xfrm>
          <a:prstGeom prst="roundRect">
            <a:avLst>
              <a:gd name="adj" fmla="val 8127"/>
            </a:avLst>
          </a:prstGeom>
          <a:solidFill>
            <a:srgbClr val="FFFFFF"/>
          </a:solidFill>
          <a:ln w="6350">
            <a:solidFill>
              <a:srgbClr val="DDE2E7"/>
            </a:solidFill>
            <a:prstDash val="solid"/>
          </a:ln>
        </p:spPr>
      </p:sp>
      <p:sp>
        <p:nvSpPr>
          <p:cNvPr id="12" name="Text 10"/>
          <p:cNvSpPr/>
          <p:nvPr/>
        </p:nvSpPr>
        <p:spPr>
          <a:xfrm>
            <a:off x="4601633" y="4061752"/>
            <a:ext cx="3078395"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왜 확률인가</a:t>
            </a:r>
            <a:endParaRPr lang="en-US" sz="1600" dirty="0"/>
          </a:p>
        </p:txBody>
      </p:sp>
      <p:sp>
        <p:nvSpPr>
          <p:cNvPr id="13" name="Text 11"/>
          <p:cNvSpPr/>
          <p:nvPr/>
        </p:nvSpPr>
        <p:spPr>
          <a:xfrm>
            <a:off x="4601633" y="4369067"/>
            <a:ext cx="307839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예측값만 보면 피크 41% 포착 → 확률로 바꾸면 74% (간이 모델)</a:t>
            </a:r>
            <a:endParaRPr lang="en-US" sz="1300" dirty="0"/>
          </a:p>
        </p:txBody>
      </p:sp>
      <p:sp>
        <p:nvSpPr>
          <p:cNvPr id="14" name="Shape 12"/>
          <p:cNvSpPr/>
          <p:nvPr/>
        </p:nvSpPr>
        <p:spPr>
          <a:xfrm>
            <a:off x="7978775" y="3857495"/>
            <a:ext cx="3397250" cy="1211130"/>
          </a:xfrm>
          <a:prstGeom prst="roundRect">
            <a:avLst>
              <a:gd name="adj" fmla="val 8127"/>
            </a:avLst>
          </a:prstGeom>
          <a:solidFill>
            <a:srgbClr val="FFFFFF"/>
          </a:solidFill>
          <a:ln w="6350">
            <a:solidFill>
              <a:srgbClr val="DDE2E7"/>
            </a:solidFill>
            <a:prstDash val="solid"/>
          </a:ln>
        </p:spPr>
      </p:sp>
      <p:sp>
        <p:nvSpPr>
          <p:cNvPr id="15" name="Text 13"/>
          <p:cNvSpPr/>
          <p:nvPr/>
        </p:nvSpPr>
        <p:spPr>
          <a:xfrm>
            <a:off x="8183034" y="4061752"/>
            <a:ext cx="3078395"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경보 기준</a:t>
            </a:r>
            <a:endParaRPr lang="en-US" sz="1600" dirty="0"/>
          </a:p>
        </p:txBody>
      </p:sp>
      <p:sp>
        <p:nvSpPr>
          <p:cNvPr id="16" name="Text 14"/>
          <p:cNvSpPr/>
          <p:nvPr/>
        </p:nvSpPr>
        <p:spPr>
          <a:xfrm>
            <a:off x="8183034" y="4369067"/>
            <a:ext cx="3078395"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검증 구간 F1 이 최대인 확률 (0.15~0.25)</a:t>
            </a:r>
            <a:endParaRPr lang="en-US" sz="1300" dirty="0"/>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불량·고장 라벨이 없어 운영 위험이 큰 전력 피크를 이상으로 정의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2. AI 예측모델 · 후보와 튜닝</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베이스라인부터 앙상블까지 같은 조건에서 비교</a:t>
            </a:r>
            <a:endParaRPr lang="en-US" sz="3000" dirty="0"/>
          </a:p>
        </p:txBody>
      </p:sp>
      <p:sp>
        <p:nvSpPr>
          <p:cNvPr id="4" name="Shape 2"/>
          <p:cNvSpPr/>
          <p:nvPr/>
        </p:nvSpPr>
        <p:spPr>
          <a:xfrm>
            <a:off x="815975" y="1993240"/>
            <a:ext cx="2520950" cy="1881717"/>
          </a:xfrm>
          <a:prstGeom prst="roundRect">
            <a:avLst>
              <a:gd name="adj" fmla="val 5231"/>
            </a:avLst>
          </a:prstGeom>
          <a:solidFill>
            <a:srgbClr val="FFFFFF"/>
          </a:solidFill>
          <a:ln w="6350">
            <a:solidFill>
              <a:srgbClr val="DDE2E7"/>
            </a:solidFill>
            <a:prstDash val="solid"/>
          </a:ln>
        </p:spPr>
      </p:sp>
      <p:sp>
        <p:nvSpPr>
          <p:cNvPr id="5" name="Text 3"/>
          <p:cNvSpPr/>
          <p:nvPr/>
        </p:nvSpPr>
        <p:spPr>
          <a:xfrm>
            <a:off x="994833" y="2172097"/>
            <a:ext cx="222813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7A8594"/>
                </a:solidFill>
                <a:latin typeface="IBM Plex Sans KR" pitchFamily="34" charset="0"/>
                <a:ea typeface="IBM Plex Sans KR" pitchFamily="34" charset="-122"/>
                <a:cs typeface="IBM Plex Sans KR" pitchFamily="34" charset="-120"/>
              </a:rPr>
              <a:t>베이스라인</a:t>
            </a:r>
            <a:endParaRPr lang="en-US" sz="1500" dirty="0"/>
          </a:p>
        </p:txBody>
      </p:sp>
      <p:sp>
        <p:nvSpPr>
          <p:cNvPr id="6" name="Text 4"/>
          <p:cNvSpPr/>
          <p:nvPr/>
        </p:nvSpPr>
        <p:spPr>
          <a:xfrm>
            <a:off x="994833" y="2476897"/>
            <a:ext cx="222813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직전 시간 그대로</a:t>
            </a:r>
            <a:endParaRPr lang="en-US" sz="1200" dirty="0"/>
          </a:p>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지난주 같은 시간</a:t>
            </a:r>
            <a:endParaRPr lang="en-US" sz="1200" dirty="0"/>
          </a:p>
        </p:txBody>
      </p:sp>
      <p:sp>
        <p:nvSpPr>
          <p:cNvPr id="7" name="Text 5"/>
          <p:cNvSpPr/>
          <p:nvPr/>
        </p:nvSpPr>
        <p:spPr>
          <a:xfrm>
            <a:off x="994833" y="3010297"/>
            <a:ext cx="222813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7A8594"/>
                </a:solidFill>
                <a:latin typeface="IBM Plex Sans KR" pitchFamily="34" charset="0"/>
                <a:ea typeface="IBM Plex Sans KR" pitchFamily="34" charset="-122"/>
                <a:cs typeface="IBM Plex Sans KR" pitchFamily="34" charset="-120"/>
              </a:rPr>
              <a:t>학습 없는 단순 예측</a:t>
            </a:r>
            <a:endParaRPr lang="en-US" sz="1200" dirty="0"/>
          </a:p>
        </p:txBody>
      </p:sp>
      <p:sp>
        <p:nvSpPr>
          <p:cNvPr id="8" name="Shape 6"/>
          <p:cNvSpPr/>
          <p:nvPr/>
        </p:nvSpPr>
        <p:spPr>
          <a:xfrm>
            <a:off x="3495675" y="1993240"/>
            <a:ext cx="2520950" cy="1881717"/>
          </a:xfrm>
          <a:prstGeom prst="roundRect">
            <a:avLst>
              <a:gd name="adj" fmla="val 5231"/>
            </a:avLst>
          </a:prstGeom>
          <a:solidFill>
            <a:srgbClr val="FFFFFF"/>
          </a:solidFill>
          <a:ln w="6350">
            <a:solidFill>
              <a:srgbClr val="DDE2E7"/>
            </a:solidFill>
            <a:prstDash val="solid"/>
          </a:ln>
        </p:spPr>
      </p:sp>
      <p:sp>
        <p:nvSpPr>
          <p:cNvPr id="9" name="Text 7"/>
          <p:cNvSpPr/>
          <p:nvPr/>
        </p:nvSpPr>
        <p:spPr>
          <a:xfrm>
            <a:off x="3674533" y="2172097"/>
            <a:ext cx="2228130"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머신러닝</a:t>
            </a:r>
            <a:endParaRPr lang="en-US" sz="1500" dirty="0"/>
          </a:p>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(김정현)</a:t>
            </a:r>
            <a:endParaRPr lang="en-US" sz="1500" dirty="0"/>
          </a:p>
        </p:txBody>
      </p:sp>
      <p:sp>
        <p:nvSpPr>
          <p:cNvPr id="10" name="Text 8"/>
          <p:cNvSpPr/>
          <p:nvPr/>
        </p:nvSpPr>
        <p:spPr>
          <a:xfrm>
            <a:off x="3674533" y="2705497"/>
            <a:ext cx="222813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LightGBM · CatBoost · XGBoost · HistGBM · Tri-GBDT 등 9종</a:t>
            </a:r>
            <a:endParaRPr lang="en-US" sz="1200" dirty="0"/>
          </a:p>
        </p:txBody>
      </p:sp>
      <p:sp>
        <p:nvSpPr>
          <p:cNvPr id="11" name="Text 9"/>
          <p:cNvSpPr/>
          <p:nvPr/>
        </p:nvSpPr>
        <p:spPr>
          <a:xfrm>
            <a:off x="3674533" y="3238897"/>
            <a:ext cx="222813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7A8594"/>
                </a:solidFill>
                <a:latin typeface="IBM Plex Sans KR" pitchFamily="34" charset="0"/>
                <a:ea typeface="IBM Plex Sans KR" pitchFamily="34" charset="-122"/>
                <a:cs typeface="IBM Plex Sans KR" pitchFamily="34" charset="-120"/>
              </a:rPr>
              <a:t>파생 피처 57개</a:t>
            </a:r>
            <a:endParaRPr lang="en-US" sz="1200" dirty="0"/>
          </a:p>
        </p:txBody>
      </p:sp>
      <p:sp>
        <p:nvSpPr>
          <p:cNvPr id="12" name="Shape 10"/>
          <p:cNvSpPr/>
          <p:nvPr/>
        </p:nvSpPr>
        <p:spPr>
          <a:xfrm>
            <a:off x="6175375" y="1993240"/>
            <a:ext cx="2520950" cy="1881717"/>
          </a:xfrm>
          <a:prstGeom prst="roundRect">
            <a:avLst>
              <a:gd name="adj" fmla="val 5231"/>
            </a:avLst>
          </a:prstGeom>
          <a:solidFill>
            <a:srgbClr val="FFFFFF"/>
          </a:solidFill>
          <a:ln w="6350">
            <a:solidFill>
              <a:srgbClr val="DDE2E7"/>
            </a:solidFill>
            <a:prstDash val="solid"/>
          </a:ln>
        </p:spPr>
      </p:sp>
      <p:sp>
        <p:nvSpPr>
          <p:cNvPr id="13" name="Text 11"/>
          <p:cNvSpPr/>
          <p:nvPr/>
        </p:nvSpPr>
        <p:spPr>
          <a:xfrm>
            <a:off x="6354233" y="2172097"/>
            <a:ext cx="2228130"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사전학습 모델</a:t>
            </a:r>
            <a:endParaRPr lang="en-US" sz="1500" dirty="0"/>
          </a:p>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([경제님 이름])</a:t>
            </a:r>
            <a:endParaRPr lang="en-US" sz="1500" dirty="0"/>
          </a:p>
        </p:txBody>
      </p:sp>
      <p:sp>
        <p:nvSpPr>
          <p:cNvPr id="14" name="Text 12"/>
          <p:cNvSpPr/>
          <p:nvPr/>
        </p:nvSpPr>
        <p:spPr>
          <a:xfrm>
            <a:off x="6354233" y="2705497"/>
            <a:ext cx="2228130"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TimesFM 3.0 · Chronos-2 · Moirai 2.0 + XGBoost · LightGBM</a:t>
            </a:r>
            <a:endParaRPr lang="en-US" sz="1200" dirty="0"/>
          </a:p>
        </p:txBody>
      </p:sp>
      <p:sp>
        <p:nvSpPr>
          <p:cNvPr id="15" name="Text 13"/>
          <p:cNvSpPr/>
          <p:nvPr/>
        </p:nvSpPr>
        <p:spPr>
          <a:xfrm>
            <a:off x="6354233" y="3467497"/>
            <a:ext cx="222813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7A8594"/>
                </a:solidFill>
                <a:latin typeface="IBM Plex Sans KR" pitchFamily="34" charset="0"/>
                <a:ea typeface="IBM Plex Sans KR" pitchFamily="34" charset="-122"/>
                <a:cs typeface="IBM Plex Sans KR" pitchFamily="34" charset="-120"/>
              </a:rPr>
              <a:t>zero-shot · 층별 미세조정</a:t>
            </a:r>
            <a:endParaRPr lang="en-US" sz="1200" dirty="0"/>
          </a:p>
        </p:txBody>
      </p:sp>
      <p:sp>
        <p:nvSpPr>
          <p:cNvPr id="16" name="Shape 14"/>
          <p:cNvSpPr/>
          <p:nvPr/>
        </p:nvSpPr>
        <p:spPr>
          <a:xfrm>
            <a:off x="8855075" y="1993240"/>
            <a:ext cx="2520950" cy="1881717"/>
          </a:xfrm>
          <a:prstGeom prst="roundRect">
            <a:avLst>
              <a:gd name="adj" fmla="val 5231"/>
            </a:avLst>
          </a:prstGeom>
          <a:solidFill>
            <a:srgbClr val="FFFFFF"/>
          </a:solidFill>
          <a:ln w="6350">
            <a:solidFill>
              <a:srgbClr val="DDE2E7"/>
            </a:solidFill>
            <a:prstDash val="solid"/>
          </a:ln>
        </p:spPr>
      </p:sp>
      <p:sp>
        <p:nvSpPr>
          <p:cNvPr id="17" name="Text 15"/>
          <p:cNvSpPr/>
          <p:nvPr/>
        </p:nvSpPr>
        <p:spPr>
          <a:xfrm>
            <a:off x="9033934" y="2172097"/>
            <a:ext cx="2228130"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A78D6"/>
                </a:solidFill>
                <a:latin typeface="IBM Plex Sans KR" pitchFamily="34" charset="0"/>
                <a:ea typeface="IBM Plex Sans KR" pitchFamily="34" charset="-122"/>
                <a:cs typeface="IBM Plex Sans KR" pitchFamily="34" charset="-120"/>
              </a:rPr>
              <a:t>딥러닝</a:t>
            </a:r>
            <a:endParaRPr lang="en-US" sz="1500" dirty="0"/>
          </a:p>
          <a:p>
            <a:pPr algn="l" indent="0" marL="0">
              <a:lnSpc>
                <a:spcPts val="1800"/>
              </a:lnSpc>
              <a:buNone/>
            </a:pPr>
            <a:r>
              <a:rPr lang="en-US" sz="1500" b="1" dirty="0">
                <a:solidFill>
                  <a:srgbClr val="2A78D6"/>
                </a:solidFill>
                <a:latin typeface="IBM Plex Sans KR" pitchFamily="34" charset="0"/>
                <a:ea typeface="IBM Plex Sans KR" pitchFamily="34" charset="-122"/>
                <a:cs typeface="IBM Plex Sans KR" pitchFamily="34" charset="-120"/>
              </a:rPr>
              <a:t>(이한솔)</a:t>
            </a:r>
            <a:endParaRPr lang="en-US" sz="1500" dirty="0"/>
          </a:p>
        </p:txBody>
      </p:sp>
      <p:sp>
        <p:nvSpPr>
          <p:cNvPr id="18" name="Text 16"/>
          <p:cNvSpPr/>
          <p:nvPr/>
        </p:nvSpPr>
        <p:spPr>
          <a:xfrm>
            <a:off x="9033934" y="2705497"/>
            <a:ext cx="2228130"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LSTM · TCN · TCN-LSTM (IET 2026) · Weighted Ensemble (IEEE 2023)</a:t>
            </a:r>
            <a:endParaRPr lang="en-US" sz="1200" dirty="0"/>
          </a:p>
        </p:txBody>
      </p:sp>
      <p:sp>
        <p:nvSpPr>
          <p:cNvPr id="19" name="Text 17"/>
          <p:cNvSpPr/>
          <p:nvPr/>
        </p:nvSpPr>
        <p:spPr>
          <a:xfrm>
            <a:off x="812800" y="4132132"/>
            <a:ext cx="10883392"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3202E"/>
                </a:solidFill>
                <a:latin typeface="IBM Plex Sans KR" pitchFamily="34" charset="0"/>
                <a:ea typeface="IBM Plex Sans KR" pitchFamily="34" charset="-122"/>
                <a:cs typeface="IBM Plex Sans KR" pitchFamily="34" charset="-120"/>
              </a:rPr>
              <a:t>딥러닝 단계별 그리드 서치 315회 (Colab T4)</a:t>
            </a:r>
            <a:endParaRPr lang="en-US" sz="1400" dirty="0"/>
          </a:p>
        </p:txBody>
      </p:sp>
      <p:sp>
        <p:nvSpPr>
          <p:cNvPr id="20" name="Text 18"/>
          <p:cNvSpPr/>
          <p:nvPr/>
        </p:nvSpPr>
        <p:spPr>
          <a:xfrm>
            <a:off x="812800" y="4482641"/>
            <a:ext cx="1154311"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① lookback</a:t>
            </a:r>
            <a:endParaRPr lang="en-US" sz="1300" dirty="0"/>
          </a:p>
        </p:txBody>
      </p:sp>
      <p:pic>
        <p:nvPicPr>
          <p:cNvPr id="21" name="Image 0" descr="Play">    </p:cNvPr>
          <p:cNvPicPr>
            <a:picLocks noChangeAspect="1"/>
          </p:cNvPicPr>
          <p:nvPr/>
        </p:nvPicPr>
        <p:blipFill>
          <a:blip r:embed="rId1"/>
          <a:srcRect l="0" r="0" t="0" b="0"/>
          <a:stretch/>
        </p:blipFill>
        <p:spPr>
          <a:xfrm>
            <a:off x="2068711" y="4585494"/>
            <a:ext cx="177800" cy="177800"/>
          </a:xfrm>
          <a:prstGeom prst="rect">
            <a:avLst/>
          </a:prstGeom>
        </p:spPr>
      </p:pic>
      <p:sp>
        <p:nvSpPr>
          <p:cNvPr id="22" name="Text 19"/>
          <p:cNvSpPr/>
          <p:nvPr/>
        </p:nvSpPr>
        <p:spPr>
          <a:xfrm>
            <a:off x="2348111" y="4482641"/>
            <a:ext cx="778007"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② 구조</a:t>
            </a:r>
            <a:endParaRPr lang="en-US" sz="1300" dirty="0"/>
          </a:p>
        </p:txBody>
      </p:sp>
      <p:pic>
        <p:nvPicPr>
          <p:cNvPr id="23" name="Image 1" descr="Play">    </p:cNvPr>
          <p:cNvPicPr>
            <a:picLocks noChangeAspect="1"/>
          </p:cNvPicPr>
          <p:nvPr/>
        </p:nvPicPr>
        <p:blipFill>
          <a:blip r:embed="rId2"/>
          <a:srcRect l="0" r="0" t="0" b="0"/>
          <a:stretch/>
        </p:blipFill>
        <p:spPr>
          <a:xfrm>
            <a:off x="3227718" y="4585494"/>
            <a:ext cx="177800" cy="177800"/>
          </a:xfrm>
          <a:prstGeom prst="rect">
            <a:avLst/>
          </a:prstGeom>
        </p:spPr>
      </p:pic>
      <p:sp>
        <p:nvSpPr>
          <p:cNvPr id="24" name="Text 20"/>
          <p:cNvSpPr/>
          <p:nvPr/>
        </p:nvSpPr>
        <p:spPr>
          <a:xfrm>
            <a:off x="3507118" y="4482641"/>
            <a:ext cx="1567061"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③ 학습률·dropout</a:t>
            </a:r>
            <a:endParaRPr lang="en-US" sz="1300" dirty="0"/>
          </a:p>
        </p:txBody>
      </p:sp>
      <p:pic>
        <p:nvPicPr>
          <p:cNvPr id="25" name="Image 2" descr="Play">    </p:cNvPr>
          <p:cNvPicPr>
            <a:picLocks noChangeAspect="1"/>
          </p:cNvPicPr>
          <p:nvPr/>
        </p:nvPicPr>
        <p:blipFill>
          <a:blip r:embed="rId3"/>
          <a:srcRect l="0" r="0" t="0" b="0"/>
          <a:stretch/>
        </p:blipFill>
        <p:spPr>
          <a:xfrm>
            <a:off x="5175779" y="4585494"/>
            <a:ext cx="177800" cy="177800"/>
          </a:xfrm>
          <a:prstGeom prst="rect">
            <a:avLst/>
          </a:prstGeom>
        </p:spPr>
      </p:pic>
      <p:sp>
        <p:nvSpPr>
          <p:cNvPr id="26" name="Text 21"/>
          <p:cNvSpPr/>
          <p:nvPr/>
        </p:nvSpPr>
        <p:spPr>
          <a:xfrm>
            <a:off x="5455179" y="4482641"/>
            <a:ext cx="901502"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④ batch</a:t>
            </a:r>
            <a:endParaRPr lang="en-US" sz="1300" dirty="0"/>
          </a:p>
        </p:txBody>
      </p:sp>
      <p:sp>
        <p:nvSpPr>
          <p:cNvPr id="27" name="Text 22"/>
          <p:cNvSpPr/>
          <p:nvPr/>
        </p:nvSpPr>
        <p:spPr>
          <a:xfrm>
            <a:off x="812800" y="4967753"/>
            <a:ext cx="11379200"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검증 3개 평균 RMSE 최저 대비 2% 이내 중 피크 구간 MAE 최소를 선택. 정현님 파생 피처를 넣은 2차 실험(24회)은 검증에서 기본 피처보다 나빠 채택하지 않음</a:t>
            </a:r>
            <a:endParaRPr lang="en-US" sz="1300" dirty="0"/>
          </a:p>
        </p:txBody>
      </p:sp>
      <p:sp>
        <p:nvSpPr>
          <p:cNvPr id="28"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IEEE EECR 2023: LSTM·TCN 가중 앙상블 · IET 2026: TCN→LSTM 하이브리드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2. AI 예측모델 · 머신러닝 (김정현)</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[머신러닝 핵심 메시지 한 줄]</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8"/>
          <a:ext cx="6845300" cy="2155825"/>
        </p:xfrm>
        <a:graphic>
          <a:graphicData uri="http://schemas.openxmlformats.org/drawingml/2006/table">
            <a:tbl>
              <a:tblPr/>
              <a:tblGrid>
                <a:gridCol w="2327402"/>
                <a:gridCol w="1505966"/>
                <a:gridCol w="1505966"/>
                <a:gridCol w="1505966"/>
              </a:tblGrid>
              <a:tr h="359304">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모델</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검증 RMSE</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Test RMSE</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Test F1</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Tri-GBDT 앙상블</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CatBoost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LightGBM</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HistGBM</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XGBoost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5" name="Shape 2"/>
          <p:cNvSpPr/>
          <p:nvPr/>
        </p:nvSpPr>
        <p:spPr>
          <a:xfrm>
            <a:off x="7978775" y="1993243"/>
            <a:ext cx="3397250" cy="1107017"/>
          </a:xfrm>
          <a:prstGeom prst="roundRect">
            <a:avLst>
              <a:gd name="adj" fmla="val 8891"/>
            </a:avLst>
          </a:prstGeom>
          <a:solidFill>
            <a:srgbClr val="FFFFFF"/>
          </a:solidFill>
          <a:ln w="6350">
            <a:solidFill>
              <a:srgbClr val="DDE2E7"/>
            </a:solidFill>
            <a:prstDash val="solid"/>
          </a:ln>
        </p:spPr>
      </p:sp>
      <p:sp>
        <p:nvSpPr>
          <p:cNvPr id="6" name="Text 3"/>
          <p:cNvSpPr/>
          <p:nvPr/>
        </p:nvSpPr>
        <p:spPr>
          <a:xfrm>
            <a:off x="8157634" y="2172097"/>
            <a:ext cx="313071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피처 57개</a:t>
            </a:r>
            <a:endParaRPr lang="en-US" sz="1500" dirty="0"/>
          </a:p>
        </p:txBody>
      </p:sp>
      <p:sp>
        <p:nvSpPr>
          <p:cNvPr id="7" name="Text 4"/>
          <p:cNvSpPr/>
          <p:nvPr/>
        </p:nvSpPr>
        <p:spPr>
          <a:xfrm>
            <a:off x="8157634" y="2464197"/>
            <a:ext cx="3130719"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달력·조업, 과거 전력, 생산·설비, 기상, 누적 조업 피처. 애블레이션으로 선별</a:t>
            </a:r>
            <a:endParaRPr lang="en-US" sz="1200" dirty="0"/>
          </a:p>
        </p:txBody>
      </p:sp>
      <p:sp>
        <p:nvSpPr>
          <p:cNvPr id="8" name="Shape 5"/>
          <p:cNvSpPr/>
          <p:nvPr/>
        </p:nvSpPr>
        <p:spPr>
          <a:xfrm>
            <a:off x="7978775" y="3233607"/>
            <a:ext cx="3397250" cy="878417"/>
          </a:xfrm>
          <a:prstGeom prst="roundRect">
            <a:avLst>
              <a:gd name="adj" fmla="val 11205"/>
            </a:avLst>
          </a:prstGeom>
          <a:solidFill>
            <a:srgbClr val="FFFFFF"/>
          </a:solidFill>
          <a:ln w="6350">
            <a:solidFill>
              <a:srgbClr val="DDE2E7"/>
            </a:solidFill>
            <a:prstDash val="solid"/>
          </a:ln>
        </p:spPr>
      </p:sp>
      <p:sp>
        <p:nvSpPr>
          <p:cNvPr id="9" name="Text 6"/>
          <p:cNvSpPr/>
          <p:nvPr/>
        </p:nvSpPr>
        <p:spPr>
          <a:xfrm>
            <a:off x="8157634" y="3412468"/>
            <a:ext cx="313071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[선정 근거]</a:t>
            </a:r>
            <a:endParaRPr lang="en-US" sz="1500" dirty="0"/>
          </a:p>
        </p:txBody>
      </p:sp>
      <p:sp>
        <p:nvSpPr>
          <p:cNvPr id="10" name="Text 7"/>
          <p:cNvSpPr/>
          <p:nvPr/>
        </p:nvSpPr>
        <p:spPr>
          <a:xfrm>
            <a:off x="8157634" y="3704568"/>
            <a:ext cx="3130719"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[트리 모델이 강한 이유, 앙상블 가중치 등]</a:t>
            </a:r>
            <a:endParaRPr lang="en-US" sz="1200" dirty="0"/>
          </a:p>
        </p:txBody>
      </p:sp>
      <p:sp>
        <p:nvSpPr>
          <p:cNvPr id="11"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Test 8/16~9/14 셧다운 제외 703시간 · 177 kW 확률 경보 기준 (팀 공통 기준)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2. AI 예측모델 · 사전학습 시계열 모델 ([경제님 이름])</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[사전학습 모델 핵심 메시지 한 줄]</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8"/>
          <a:ext cx="6337300" cy="2155825"/>
        </p:xfrm>
        <a:graphic>
          <a:graphicData uri="http://schemas.openxmlformats.org/drawingml/2006/table">
            <a:tbl>
              <a:tblPr/>
              <a:tblGrid>
                <a:gridCol w="1901190"/>
                <a:gridCol w="1013968"/>
                <a:gridCol w="1140714"/>
                <a:gridCol w="1140714"/>
                <a:gridCol w="1140714"/>
              </a:tblGrid>
              <a:tr h="359304">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모델</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블록</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zero-shot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미세조정</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최적 범위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TimesFM 3.0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20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[F_]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Chronos-2</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12</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[F_]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Moirai 2.0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6</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[F_]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XGBoost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LightGBM</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5" name="Shape 2"/>
          <p:cNvSpPr/>
          <p:nvPr/>
        </p:nvSpPr>
        <p:spPr>
          <a:xfrm>
            <a:off x="7467600" y="1990068"/>
            <a:ext cx="3911600" cy="1104900"/>
          </a:xfrm>
          <a:prstGeom prst="roundRect">
            <a:avLst>
              <a:gd name="adj" fmla="val 9195"/>
            </a:avLst>
          </a:prstGeom>
          <a:solidFill>
            <a:srgbClr val="13202E"/>
          </a:solidFill>
          <a:ln/>
        </p:spPr>
      </p:sp>
      <p:sp>
        <p:nvSpPr>
          <p:cNvPr id="6" name="Text 3"/>
          <p:cNvSpPr/>
          <p:nvPr/>
        </p:nvSpPr>
        <p:spPr>
          <a:xfrm>
            <a:off x="7645400" y="2167868"/>
            <a:ext cx="366268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6F7F4"/>
                </a:solidFill>
                <a:latin typeface="IBM Plex Sans KR" pitchFamily="34" charset="0"/>
                <a:ea typeface="IBM Plex Sans KR" pitchFamily="34" charset="-122"/>
                <a:cs typeface="IBM Plex Sans KR" pitchFamily="34" charset="-120"/>
              </a:rPr>
              <a:t>층별 미세조정</a:t>
            </a:r>
            <a:endParaRPr lang="en-US" sz="1500" dirty="0"/>
          </a:p>
        </p:txBody>
      </p:sp>
      <p:sp>
        <p:nvSpPr>
          <p:cNvPr id="7" name="Text 4"/>
          <p:cNvSpPr/>
          <p:nvPr/>
        </p:nvSpPr>
        <p:spPr>
          <a:xfrm>
            <a:off x="7645400" y="2459968"/>
            <a:ext cx="36626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BFCCDA"/>
                </a:solidFill>
                <a:latin typeface="IBM Plex Sans KR" pitchFamily="34" charset="0"/>
                <a:ea typeface="IBM Plex Sans KR" pitchFamily="34" charset="-122"/>
                <a:cs typeface="IBM Plex Sans KR" pitchFamily="34" charset="-120"/>
              </a:rPr>
              <a:t>F0 출력부만 → F7 전체. 범위 8 × 학습률 3 × fold 3 = 모델당 72회</a:t>
            </a:r>
            <a:endParaRPr lang="en-US" sz="1200" dirty="0"/>
          </a:p>
        </p:txBody>
      </p:sp>
      <p:sp>
        <p:nvSpPr>
          <p:cNvPr id="8" name="Shape 5"/>
          <p:cNvSpPr/>
          <p:nvPr/>
        </p:nvSpPr>
        <p:spPr>
          <a:xfrm>
            <a:off x="7470775" y="3225143"/>
            <a:ext cx="3905250" cy="878417"/>
          </a:xfrm>
          <a:prstGeom prst="roundRect">
            <a:avLst>
              <a:gd name="adj" fmla="val 11205"/>
            </a:avLst>
          </a:prstGeom>
          <a:solidFill>
            <a:srgbClr val="FFFFFF"/>
          </a:solidFill>
          <a:ln w="6350">
            <a:solidFill>
              <a:srgbClr val="DDE2E7"/>
            </a:solidFill>
            <a:prstDash val="solid"/>
          </a:ln>
        </p:spPr>
      </p:sp>
      <p:sp>
        <p:nvSpPr>
          <p:cNvPr id="9" name="Text 6"/>
          <p:cNvSpPr/>
          <p:nvPr/>
        </p:nvSpPr>
        <p:spPr>
          <a:xfrm>
            <a:off x="7649634" y="3403997"/>
            <a:ext cx="365395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[발견한 점]</a:t>
            </a:r>
            <a:endParaRPr lang="en-US" sz="1500" dirty="0"/>
          </a:p>
        </p:txBody>
      </p:sp>
      <p:sp>
        <p:nvSpPr>
          <p:cNvPr id="10" name="Text 7"/>
          <p:cNvSpPr/>
          <p:nvPr/>
        </p:nvSpPr>
        <p:spPr>
          <a:xfrm>
            <a:off x="7649634" y="3696097"/>
            <a:ext cx="3723216"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[몇 층까지 학습할 때 가장 좋은지, zero-shot 대비 개선폭]</a:t>
            </a:r>
            <a:endParaRPr lang="en-US" sz="1200" dirty="0"/>
          </a:p>
        </p:txBody>
      </p:sp>
      <p:sp>
        <p:nvSpPr>
          <p:cNvPr id="11"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값: 검증 RMSE (kW) · 과거 168시간 → 다음 1시간 · Test 는 11장 최종 비교표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2. AI 예측모델 · 최종 비교</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Test 에서 모든 딥러닝이 베이스라인을 넘었습니다</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8"/>
          <a:ext cx="10553700" cy="3473648"/>
        </p:xfrm>
        <a:graphic>
          <a:graphicData uri="http://schemas.openxmlformats.org/drawingml/2006/table">
            <a:tbl>
              <a:tblPr/>
              <a:tblGrid>
                <a:gridCol w="3271647"/>
                <a:gridCol w="1160907"/>
                <a:gridCol w="1160907"/>
                <a:gridCol w="1160907"/>
                <a:gridCol w="1160907"/>
                <a:gridCol w="1160907"/>
                <a:gridCol w="1477518"/>
              </a:tblGrid>
              <a:tr h="385961">
                <a:tc>
                  <a:txBody>
                    <a:bodyPr/>
                    <a:lstStyle/>
                    <a:p>
                      <a:pP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모델</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MSE</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RMSE</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R²</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F1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Recall</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FN / FP</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85961">
                <a:tc>
                  <a:txBody>
                    <a:bodyPr/>
                    <a:lstStyle/>
                    <a:p>
                      <a:pP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직전 시간 그대로</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662.4</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25.74</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0.783</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0.412</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0.571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21 / 59</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지난주 같은 시간</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153.6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12.40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0.950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0.366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0.714</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14 / 107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[사전학습 최고 모델]</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[머신러닝 최고 모델]</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LSTM</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84.2</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9.17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0.972</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0.454</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1.000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 / 118</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TCN</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101.3</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10.07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0.967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0.506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0.878</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6 / 78</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TCN-LSTM</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89.9</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9.48</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0.971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0.467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0.939</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3 / 102</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Weighted Ensemble (최종)</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75.2</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8.67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0.975</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0.527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0.980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 / 85</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Test 2021-08-16 ~ 09-14 셧다운 제외 703시간 · 이상 49시간 · seed 42 · F1·Recall 은 이상 확률 경보 기준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202E"/>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7FB6EC"/>
                </a:solidFill>
                <a:latin typeface="IBM Plex Sans KR" pitchFamily="34" charset="0"/>
                <a:ea typeface="IBM Plex Sans KR" pitchFamily="34" charset="-122"/>
                <a:cs typeface="IBM Plex Sans KR" pitchFamily="34" charset="-120"/>
              </a:rPr>
              <a:t>2. AI 예측모델 · 선정 근거</a:t>
            </a:r>
            <a:endParaRPr lang="en-US" sz="1300" dirty="0"/>
          </a:p>
        </p:txBody>
      </p:sp>
      <p:sp>
        <p:nvSpPr>
          <p:cNvPr id="3" name="Text 1"/>
          <p:cNvSpPr/>
          <p:nvPr>
            <p:ph type="title"/>
          </p:nvPr>
        </p:nvSpPr>
        <p:spPr>
          <a:xfrm>
            <a:off x="812800" y="1348718"/>
            <a:ext cx="10883392"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7F4"/>
                </a:solidFill>
                <a:latin typeface="IBM Plex Sans KR" pitchFamily="34" charset="0"/>
                <a:ea typeface="IBM Plex Sans KR" pitchFamily="34" charset="-122"/>
                <a:cs typeface="IBM Plex Sans KR" pitchFamily="34" charset="-120"/>
              </a:rPr>
              <a:t>최종 모델: Weighted Ensemble</a:t>
            </a:r>
            <a:endParaRPr lang="en-US" sz="3200" dirty="0"/>
          </a:p>
          <a:p>
            <a:pPr algn="l" indent="0" marL="0">
              <a:lnSpc>
                <a:spcPts val="3680"/>
              </a:lnSpc>
              <a:buNone/>
            </a:pPr>
            <a:r>
              <a:rPr lang="en-US" sz="3200" b="1" i="0" dirty="0">
                <a:solidFill>
                  <a:srgbClr val="F6F7F4"/>
                </a:solidFill>
                <a:latin typeface="IBM Plex Sans KR" pitchFamily="34" charset="0"/>
                <a:ea typeface="IBM Plex Sans KR" pitchFamily="34" charset="-122"/>
                <a:cs typeface="IBM Plex Sans KR" pitchFamily="34" charset="-120"/>
              </a:rPr>
              <a:t>(LSTM 0.444 + TCN 0.556)</a:t>
            </a:r>
            <a:endParaRPr lang="en-US" sz="3200" dirty="0"/>
          </a:p>
        </p:txBody>
      </p:sp>
      <p:sp>
        <p:nvSpPr>
          <p:cNvPr id="4" name="Shape 2"/>
          <p:cNvSpPr/>
          <p:nvPr/>
        </p:nvSpPr>
        <p:spPr>
          <a:xfrm>
            <a:off x="812800" y="2600858"/>
            <a:ext cx="3386667" cy="0"/>
          </a:xfrm>
          <a:prstGeom prst="line">
            <a:avLst/>
          </a:prstGeom>
          <a:noFill/>
          <a:ln w="25400">
            <a:solidFill>
              <a:srgbClr val="7FB6EC"/>
            </a:solidFill>
            <a:prstDash val="solid"/>
          </a:ln>
        </p:spPr>
      </p:sp>
      <p:sp>
        <p:nvSpPr>
          <p:cNvPr id="5" name="Text 3"/>
          <p:cNvSpPr/>
          <p:nvPr/>
        </p:nvSpPr>
        <p:spPr>
          <a:xfrm>
            <a:off x="812800" y="2765958"/>
            <a:ext cx="3488267"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6F7F4"/>
                </a:solidFill>
                <a:latin typeface="IBM Plex Sans KR" pitchFamily="34" charset="0"/>
                <a:ea typeface="IBM Plex Sans KR" pitchFamily="34" charset="-122"/>
                <a:cs typeface="IBM Plex Sans KR" pitchFamily="34" charset="-120"/>
              </a:rPr>
              <a:t>검증과 Test 모두 1위</a:t>
            </a:r>
            <a:endParaRPr lang="en-US" sz="1700" dirty="0"/>
          </a:p>
        </p:txBody>
      </p:sp>
      <p:sp>
        <p:nvSpPr>
          <p:cNvPr id="6" name="Text 4"/>
          <p:cNvSpPr/>
          <p:nvPr/>
        </p:nvSpPr>
        <p:spPr>
          <a:xfrm>
            <a:off x="812800" y="3113881"/>
            <a:ext cx="3488267"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검증 RMSE 10.50 · F1 0.663</a:t>
            </a:r>
            <a:endParaRPr lang="en-US" sz="1300" dirty="0"/>
          </a:p>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Test RMSE 8.67 · F1 0.527</a:t>
            </a:r>
            <a:endParaRPr lang="en-US" sz="1300" dirty="0"/>
          </a:p>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검증으로 고르고 Test 로 확인</a:t>
            </a:r>
            <a:endParaRPr lang="en-US" sz="1300" dirty="0"/>
          </a:p>
        </p:txBody>
      </p:sp>
      <p:sp>
        <p:nvSpPr>
          <p:cNvPr id="7" name="Shape 5"/>
          <p:cNvSpPr/>
          <p:nvPr/>
        </p:nvSpPr>
        <p:spPr>
          <a:xfrm>
            <a:off x="4402667" y="2600858"/>
            <a:ext cx="3386667" cy="0"/>
          </a:xfrm>
          <a:prstGeom prst="line">
            <a:avLst/>
          </a:prstGeom>
          <a:noFill/>
          <a:ln w="25400">
            <a:solidFill>
              <a:srgbClr val="7FB6EC"/>
            </a:solidFill>
            <a:prstDash val="solid"/>
          </a:ln>
        </p:spPr>
      </p:sp>
      <p:sp>
        <p:nvSpPr>
          <p:cNvPr id="8" name="Text 6"/>
          <p:cNvSpPr/>
          <p:nvPr/>
        </p:nvSpPr>
        <p:spPr>
          <a:xfrm>
            <a:off x="4402667" y="2765958"/>
            <a:ext cx="3488267"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6F7F4"/>
                </a:solidFill>
                <a:latin typeface="IBM Plex Sans KR" pitchFamily="34" charset="0"/>
                <a:ea typeface="IBM Plex Sans KR" pitchFamily="34" charset="-122"/>
                <a:cs typeface="IBM Plex Sans KR" pitchFamily="34" charset="-120"/>
              </a:rPr>
              <a:t>서로 다른 시간 감각</a:t>
            </a:r>
            <a:endParaRPr lang="en-US" sz="1700" dirty="0"/>
          </a:p>
        </p:txBody>
      </p:sp>
      <p:sp>
        <p:nvSpPr>
          <p:cNvPr id="9" name="Text 7"/>
          <p:cNvSpPr/>
          <p:nvPr/>
        </p:nvSpPr>
        <p:spPr>
          <a:xfrm>
            <a:off x="4402667" y="3113881"/>
            <a:ext cx="3488267"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LSTM 은 1주일, TCN 은 하루를 봄</a:t>
            </a:r>
            <a:endParaRPr lang="en-US" sz="1300" dirty="0"/>
          </a:p>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검증은 TCN, Test 는 LSTM 이 우세</a:t>
            </a:r>
            <a:endParaRPr lang="en-US" sz="1300" dirty="0"/>
          </a:p>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결합이 가장 안정적</a:t>
            </a:r>
            <a:endParaRPr lang="en-US" sz="1300" dirty="0"/>
          </a:p>
        </p:txBody>
      </p:sp>
      <p:sp>
        <p:nvSpPr>
          <p:cNvPr id="10" name="Shape 8"/>
          <p:cNvSpPr/>
          <p:nvPr/>
        </p:nvSpPr>
        <p:spPr>
          <a:xfrm>
            <a:off x="7992534" y="2600858"/>
            <a:ext cx="3386667" cy="0"/>
          </a:xfrm>
          <a:prstGeom prst="line">
            <a:avLst/>
          </a:prstGeom>
          <a:noFill/>
          <a:ln w="25400">
            <a:solidFill>
              <a:srgbClr val="F0A07A"/>
            </a:solidFill>
            <a:prstDash val="solid"/>
          </a:ln>
        </p:spPr>
      </p:sp>
      <p:sp>
        <p:nvSpPr>
          <p:cNvPr id="11" name="Text 9"/>
          <p:cNvSpPr/>
          <p:nvPr/>
        </p:nvSpPr>
        <p:spPr>
          <a:xfrm>
            <a:off x="7992534" y="2765958"/>
            <a:ext cx="3488267"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6F7F4"/>
                </a:solidFill>
                <a:latin typeface="IBM Plex Sans KR" pitchFamily="34" charset="0"/>
                <a:ea typeface="IBM Plex Sans KR" pitchFamily="34" charset="-122"/>
                <a:cs typeface="IBM Plex Sans KR" pitchFamily="34" charset="-120"/>
              </a:rPr>
              <a:t>피크를 놓치지 않음</a:t>
            </a:r>
            <a:endParaRPr lang="en-US" sz="1700" dirty="0"/>
          </a:p>
        </p:txBody>
      </p:sp>
      <p:sp>
        <p:nvSpPr>
          <p:cNvPr id="12" name="Text 10"/>
          <p:cNvSpPr/>
          <p:nvPr/>
        </p:nvSpPr>
        <p:spPr>
          <a:xfrm>
            <a:off x="7992534" y="3113881"/>
            <a:ext cx="3488267"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피크 49시간 중 48시간 경보</a:t>
            </a:r>
            <a:endParaRPr lang="en-US" sz="1300" dirty="0"/>
          </a:p>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대신 헛경보 85시간 (Precision 0.36)</a:t>
            </a:r>
            <a:endParaRPr lang="en-US" sz="1300" dirty="0"/>
          </a:p>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놓침을 더 위험하게 보는 기준</a:t>
            </a:r>
            <a:endParaRPr lang="en-US" sz="13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0B3"/>
                </a:solidFill>
                <a:latin typeface="IBM Plex Sans KR" pitchFamily="34" charset="0"/>
                <a:ea typeface="IBM Plex Sans KR" pitchFamily="34" charset="-122"/>
                <a:cs typeface="IBM Plex Sans KR" pitchFamily="34" charset="-120"/>
              </a:rPr>
              <a:t>가중치 = 1 / 검증 MSE (IEEE EECR 2023 방식), Test 는 가중치 계산에 미사용 · 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3. 영향요인 및 오류분석 · 주요 변수</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직전 전력 흐름과 하루 중 시간이 대부분을 결정합니다</a:t>
            </a:r>
            <a:endParaRPr lang="en-US" sz="3000" dirty="0"/>
          </a:p>
        </p:txBody>
      </p:sp>
      <p:sp>
        <p:nvSpPr>
          <p:cNvPr id="4" name="Shape 2"/>
          <p:cNvSpPr/>
          <p:nvPr/>
        </p:nvSpPr>
        <p:spPr>
          <a:xfrm>
            <a:off x="812800" y="1990068"/>
            <a:ext cx="5715000" cy="3048000"/>
          </a:xfrm>
          <a:prstGeom prst="roundRect">
            <a:avLst>
              <a:gd name="adj" fmla="val 2500"/>
            </a:avLst>
          </a:prstGeom>
          <a:solidFill>
            <a:srgbClr val="FFFFFF"/>
          </a:solidFill>
          <a:ln/>
        </p:spPr>
      </p:sp>
      <p:pic>
        <p:nvPicPr>
          <p:cNvPr id="5" name="Image 0" descr="LSTM 변수 그룹별 영향: 과거 전력 +59.6 kW, 달력 +20.2 kW, 생산·설비 +1.4 kW, 기상 +0.3 kW">    </p:cNvPr>
          <p:cNvPicPr>
            <a:picLocks noChangeAspect="1"/>
          </p:cNvPicPr>
          <p:nvPr/>
        </p:nvPicPr>
        <p:blipFill>
          <a:blip r:embed="rId1"/>
          <a:stretch>
            <a:fillRect/>
          </a:stretch>
        </p:blipFill>
        <p:spPr>
          <a:xfrm>
            <a:off x="879527" y="1990068"/>
            <a:ext cx="5581546" cy="3048000"/>
          </a:xfrm>
          <a:custGeom>
            <a:avLst/>
            <a:gdLst/>
            <a:ahLst/>
            <a:cxnLst/>
            <a:rect l="l" t="t" r="r" b="b"/>
            <a:pathLst>
              <a:path w="5581546" h="3048000">
                <a:moveTo>
                  <a:pt x="0" y="591"/>
                </a:moveTo>
                <a:arcTo wR="76200" hR="76200" stAng="15771513" swAng="428487"/>
                <a:lnTo>
                  <a:pt x="5572073" y="0"/>
                </a:lnTo>
                <a:arcTo wR="76200" hR="76200" stAng="16200000" swAng="428487"/>
                <a:lnTo>
                  <a:pt x="5581546" y="3047409"/>
                </a:lnTo>
                <a:arcTo wR="76200" hR="76200" stAng="4971513" swAng="428487"/>
                <a:lnTo>
                  <a:pt x="9473" y="3048000"/>
                </a:lnTo>
                <a:arcTo wR="76200" hR="76200" stAng="5400000" swAng="428487"/>
                <a:close/>
              </a:path>
            </a:pathLst>
          </a:cu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45300" y="2002768"/>
          <a:ext cx="4533900" cy="1929805"/>
        </p:xfrm>
        <a:graphic>
          <a:graphicData uri="http://schemas.openxmlformats.org/drawingml/2006/table">
            <a:tbl>
              <a:tblPr/>
              <a:tblGrid>
                <a:gridCol w="2085594"/>
                <a:gridCol w="1224153"/>
                <a:gridCol w="1224153"/>
              </a:tblGrid>
              <a:tr h="385961">
                <a:tc>
                  <a:txBody>
                    <a:bodyPr/>
                    <a:lstStyle/>
                    <a:p>
                      <a:pP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변수 그룹</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LSTM</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TCN</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과거 전력</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+59.6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+59.6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시간·주말</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+20.2</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+16.1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생산량</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+1.4</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기상</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+0.3</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7" name="Text 3"/>
          <p:cNvSpPr/>
          <p:nvPr/>
        </p:nvSpPr>
        <p:spPr>
          <a:xfrm>
            <a:off x="6832600" y="4084972"/>
            <a:ext cx="4682998"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변수를 섞었을 때 Test RMSE 증가(kW). 변수 쌍의 상호작용은 0.4 kW 이하로 작고, 효과는 시간대 × 요일 조합에서 나타납니다.</a:t>
            </a:r>
            <a:endParaRPr lang="en-US" sz="1300" dirty="0"/>
          </a:p>
        </p:txBody>
      </p:sp>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Permutation importance, 3회 반복 평균 · analysis/error_analysis.py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3. 영향요인 및 오류분석 · FN·FP 집중 조건</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놓친 피크는 설비 기동과 고온에 몰립니다</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8"/>
          <a:ext cx="4432300" cy="2155825"/>
        </p:xfrm>
        <a:graphic>
          <a:graphicData uri="http://schemas.openxmlformats.org/drawingml/2006/table">
            <a:tbl>
              <a:tblPr/>
              <a:tblGrid>
                <a:gridCol w="2127504"/>
                <a:gridCol w="1152398"/>
                <a:gridCol w="1152398"/>
              </a:tblGrid>
              <a:tr h="359304">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FN 집중 조건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놓침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집중도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월요일 08시 기동</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3 / 7</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8.5배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08시</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11 / 36</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4.6배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10시</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10 / 21</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4.2배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16시</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9 / 11</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3.8배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기온 28℃ 이상</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18 / 85</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2.7배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5" name="Text 2"/>
          <p:cNvSpPr/>
          <p:nvPr/>
        </p:nvSpPr>
        <p:spPr>
          <a:xfrm>
            <a:off x="812800" y="4285593"/>
            <a:ext cx="457835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FP(헛경보)는 13시 점심 직후 복귀와 08~09시 조업 시작에 몰림. 집중도 = 오류 비중 ÷ 시간 비중</a:t>
            </a:r>
            <a:endParaRPr lang="en-US" sz="1200" dirty="0"/>
          </a:p>
        </p:txBody>
      </p:sp>
      <p:sp>
        <p:nvSpPr>
          <p:cNvPr id="6" name="Shape 3"/>
          <p:cNvSpPr/>
          <p:nvPr/>
        </p:nvSpPr>
        <p:spPr>
          <a:xfrm>
            <a:off x="5511800" y="1990068"/>
            <a:ext cx="5867400" cy="3429000"/>
          </a:xfrm>
          <a:prstGeom prst="roundRect">
            <a:avLst>
              <a:gd name="adj" fmla="val 2222"/>
            </a:avLst>
          </a:prstGeom>
          <a:solidFill>
            <a:srgbClr val="FFFFFF"/>
          </a:solidFill>
          <a:ln/>
        </p:spPr>
      </p:sp>
      <p:pic>
        <p:nvPicPr>
          <p:cNvPr id="7" name="Image 0" descr="요일과 시간대별 FN(놓친 피크)과 FP(헛경보) 시간 수 히트맵. FN은 월요일 08시와 평일 오전에, FP는 평일 08~16시에 분포">    </p:cNvPr>
          <p:cNvPicPr>
            <a:picLocks noChangeAspect="1"/>
          </p:cNvPicPr>
          <p:nvPr/>
        </p:nvPicPr>
        <p:blipFill>
          <a:blip r:embed="rId1"/>
          <a:stretch>
            <a:fillRect/>
          </a:stretch>
        </p:blipFill>
        <p:spPr>
          <a:xfrm>
            <a:off x="5767535" y="1990068"/>
            <a:ext cx="5355931" cy="3429000"/>
          </a:xfrm>
          <a:prstGeom prst="rect">
            <a:avLst/>
          </a:prstGeom>
        </p:spPr>
      </p:pic>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Weighted Ensemble · 검증+Test 2,911시간 (피크 225시간, FN 57, FP 151)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3. 영향요인 및 오류분석 · Test 구간</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Test 30일, 피크를 놓친 시간은 단 1시간</a:t>
            </a:r>
            <a:endParaRPr lang="en-US" sz="3000" dirty="0"/>
          </a:p>
        </p:txBody>
      </p:sp>
      <p:sp>
        <p:nvSpPr>
          <p:cNvPr id="4" name="Shape 2"/>
          <p:cNvSpPr/>
          <p:nvPr/>
        </p:nvSpPr>
        <p:spPr>
          <a:xfrm>
            <a:off x="812800" y="1990068"/>
            <a:ext cx="10566400" cy="3175000"/>
          </a:xfrm>
          <a:prstGeom prst="roundRect">
            <a:avLst>
              <a:gd name="adj" fmla="val 2400"/>
            </a:avLst>
          </a:prstGeom>
          <a:solidFill>
            <a:srgbClr val="FFFFFF"/>
          </a:solidFill>
          <a:ln/>
        </p:spPr>
      </p:sp>
      <p:pic>
        <p:nvPicPr>
          <p:cNvPr id="5" name="Image 0" descr="Test 8월 16일~9월 14일 실제 전력과 Weighted Ensemble 예측. 177 kW 기준선, FN 1시간, FP 85시간 표시">    </p:cNvPr>
          <p:cNvPicPr>
            <a:picLocks noChangeAspect="1"/>
          </p:cNvPicPr>
          <p:nvPr/>
        </p:nvPicPr>
        <p:blipFill>
          <a:blip r:embed="rId1"/>
          <a:stretch>
            <a:fillRect/>
          </a:stretch>
        </p:blipFill>
        <p:spPr>
          <a:xfrm>
            <a:off x="1680469" y="1990068"/>
            <a:ext cx="8831063" cy="3175000"/>
          </a:xfrm>
          <a:prstGeom prst="rect">
            <a:avLst/>
          </a:prstGeom>
        </p:spPr>
      </p:pic>
      <p:sp>
        <p:nvSpPr>
          <p:cNvPr id="6" name="Text 3"/>
          <p:cNvSpPr/>
          <p:nvPr/>
        </p:nvSpPr>
        <p:spPr>
          <a:xfrm>
            <a:off x="812800" y="5419068"/>
            <a:ext cx="10883392"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회색은 실제, 파랑은 예측입니다. 헛경보(주황 ▲)는 대부분 피크 직전·직후 시간으로, 실제 전력도 기준 근처까지 오른 시간입니다.</a:t>
            </a:r>
            <a:endParaRPr lang="en-US" sz="1300" dirty="0"/>
          </a:p>
        </p:txBody>
      </p:sp>
      <p:sp>
        <p:nvSpPr>
          <p:cNvPr id="7"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Weighted Ensemble · 이상 기준 177 kW · 경보 기준 확률 0.20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4. 현장 활용방안</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한 시간 먼저 알면 현장이 미리 움직일 수 있습니다</a:t>
            </a:r>
            <a:endParaRPr lang="en-US" sz="3000" dirty="0"/>
          </a:p>
        </p:txBody>
      </p:sp>
      <p:sp>
        <p:nvSpPr>
          <p:cNvPr id="4" name="Shape 2"/>
          <p:cNvSpPr/>
          <p:nvPr/>
        </p:nvSpPr>
        <p:spPr>
          <a:xfrm>
            <a:off x="815975" y="1993243"/>
            <a:ext cx="5187950" cy="1234017"/>
          </a:xfrm>
          <a:prstGeom prst="roundRect">
            <a:avLst>
              <a:gd name="adj" fmla="val 7976"/>
            </a:avLst>
          </a:prstGeom>
          <a:solidFill>
            <a:srgbClr val="FFFFFF"/>
          </a:solidFill>
          <a:ln w="6350">
            <a:solidFill>
              <a:srgbClr val="DDE2E7"/>
            </a:solidFill>
            <a:prstDash val="solid"/>
          </a:ln>
        </p:spPr>
      </p:sp>
      <p:pic>
        <p:nvPicPr>
          <p:cNvPr id="5" name="Image 0" descr="Warning">    </p:cNvPr>
          <p:cNvPicPr>
            <a:picLocks noChangeAspect="1"/>
          </p:cNvPicPr>
          <p:nvPr/>
        </p:nvPicPr>
        <p:blipFill>
          <a:blip r:embed="rId1"/>
          <a:srcRect l="0" r="0" t="0" b="0"/>
          <a:stretch/>
        </p:blipFill>
        <p:spPr>
          <a:xfrm>
            <a:off x="1020233" y="2197497"/>
            <a:ext cx="254000" cy="254000"/>
          </a:xfrm>
          <a:prstGeom prst="rect">
            <a:avLst/>
          </a:prstGeom>
        </p:spPr>
      </p:pic>
      <p:sp>
        <p:nvSpPr>
          <p:cNvPr id="6" name="Text 3"/>
          <p:cNvSpPr/>
          <p:nvPr/>
        </p:nvSpPr>
        <p:spPr>
          <a:xfrm>
            <a:off x="1375833" y="2202594"/>
            <a:ext cx="870029"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사전경보</a:t>
            </a:r>
            <a:endParaRPr lang="en-US" sz="1600" dirty="0"/>
          </a:p>
        </p:txBody>
      </p:sp>
      <p:sp>
        <p:nvSpPr>
          <p:cNvPr id="7" name="Text 4"/>
          <p:cNvSpPr/>
          <p:nvPr/>
        </p:nvSpPr>
        <p:spPr>
          <a:xfrm>
            <a:off x="1020233" y="2527697"/>
            <a:ext cx="4922816"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매시간 다음 1시간 이상 확률을 계산해 경보 기준을 넘으면 담당자에게 알림. 피크 49시간 중 48시간을 미리 경보</a:t>
            </a:r>
            <a:endParaRPr lang="en-US" sz="1300" dirty="0"/>
          </a:p>
        </p:txBody>
      </p:sp>
      <p:sp>
        <p:nvSpPr>
          <p:cNvPr id="8" name="Shape 5"/>
          <p:cNvSpPr/>
          <p:nvPr/>
        </p:nvSpPr>
        <p:spPr>
          <a:xfrm>
            <a:off x="6188075" y="1993243"/>
            <a:ext cx="5187950" cy="1234017"/>
          </a:xfrm>
          <a:prstGeom prst="roundRect">
            <a:avLst>
              <a:gd name="adj" fmla="val 7976"/>
            </a:avLst>
          </a:prstGeom>
          <a:solidFill>
            <a:srgbClr val="FFFFFF"/>
          </a:solidFill>
          <a:ln w="6350">
            <a:solidFill>
              <a:srgbClr val="DDE2E7"/>
            </a:solidFill>
            <a:prstDash val="solid"/>
          </a:ln>
        </p:spPr>
      </p:sp>
      <p:pic>
        <p:nvPicPr>
          <p:cNvPr id="9" name="Image 1" descr="Wrench">    </p:cNvPr>
          <p:cNvPicPr>
            <a:picLocks noChangeAspect="1"/>
          </p:cNvPicPr>
          <p:nvPr/>
        </p:nvPicPr>
        <p:blipFill>
          <a:blip r:embed="rId2"/>
          <a:srcRect l="0" r="0" t="0" b="0"/>
          <a:stretch/>
        </p:blipFill>
        <p:spPr>
          <a:xfrm>
            <a:off x="6392333" y="2197497"/>
            <a:ext cx="254000" cy="254000"/>
          </a:xfrm>
          <a:prstGeom prst="rect">
            <a:avLst/>
          </a:prstGeom>
        </p:spPr>
      </p:pic>
      <p:sp>
        <p:nvSpPr>
          <p:cNvPr id="10" name="Text 6"/>
          <p:cNvSpPr/>
          <p:nvPr/>
        </p:nvSpPr>
        <p:spPr>
          <a:xfrm>
            <a:off x="6747934" y="2202594"/>
            <a:ext cx="1797606"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공정점검 우선순위</a:t>
            </a:r>
            <a:endParaRPr lang="en-US" sz="1600" dirty="0"/>
          </a:p>
        </p:txBody>
      </p:sp>
      <p:sp>
        <p:nvSpPr>
          <p:cNvPr id="11" name="Text 7"/>
          <p:cNvSpPr/>
          <p:nvPr/>
        </p:nvSpPr>
        <p:spPr>
          <a:xfrm>
            <a:off x="6392333" y="2527697"/>
            <a:ext cx="4922816"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놓침이 몰리는 월요일 08시 기동, 28℃ 이상 오전 조업을 집중 관리 시간대로 지정하고 설비를 순차 기동</a:t>
            </a:r>
            <a:endParaRPr lang="en-US" sz="1300" dirty="0"/>
          </a:p>
        </p:txBody>
      </p:sp>
      <p:sp>
        <p:nvSpPr>
          <p:cNvPr id="12" name="Shape 8"/>
          <p:cNvSpPr/>
          <p:nvPr/>
        </p:nvSpPr>
        <p:spPr>
          <a:xfrm>
            <a:off x="815975" y="3411413"/>
            <a:ext cx="5187950" cy="1234017"/>
          </a:xfrm>
          <a:prstGeom prst="roundRect">
            <a:avLst>
              <a:gd name="adj" fmla="val 7976"/>
            </a:avLst>
          </a:prstGeom>
          <a:solidFill>
            <a:srgbClr val="FFFFFF"/>
          </a:solidFill>
          <a:ln w="6350">
            <a:solidFill>
              <a:srgbClr val="DDE2E7"/>
            </a:solidFill>
            <a:prstDash val="solid"/>
          </a:ln>
        </p:spPr>
      </p:sp>
      <p:pic>
        <p:nvPicPr>
          <p:cNvPr id="13" name="Image 2" descr="Users">    </p:cNvPr>
          <p:cNvPicPr>
            <a:picLocks noChangeAspect="1"/>
          </p:cNvPicPr>
          <p:nvPr/>
        </p:nvPicPr>
        <p:blipFill>
          <a:blip r:embed="rId3"/>
          <a:srcRect l="0" r="0" t="0" b="0"/>
          <a:stretch/>
        </p:blipFill>
        <p:spPr>
          <a:xfrm>
            <a:off x="1020233" y="3615668"/>
            <a:ext cx="254000" cy="254000"/>
          </a:xfrm>
          <a:prstGeom prst="rect">
            <a:avLst/>
          </a:prstGeom>
        </p:spPr>
      </p:pic>
      <p:sp>
        <p:nvSpPr>
          <p:cNvPr id="14" name="Text 9"/>
          <p:cNvSpPr/>
          <p:nvPr/>
        </p:nvSpPr>
        <p:spPr>
          <a:xfrm>
            <a:off x="1375833" y="3620765"/>
            <a:ext cx="158011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작업자 의사결정</a:t>
            </a:r>
            <a:endParaRPr lang="en-US" sz="1600" dirty="0"/>
          </a:p>
        </p:txBody>
      </p:sp>
      <p:sp>
        <p:nvSpPr>
          <p:cNvPr id="15" name="Text 10"/>
          <p:cNvSpPr/>
          <p:nvPr/>
        </p:nvSpPr>
        <p:spPr>
          <a:xfrm>
            <a:off x="1020233" y="3945868"/>
            <a:ext cx="4922816"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확률이 높은 시간에는 대형 설비 동시 가동을 미룸. 헛경보는 대부분 피크 직전·직후라 피크 임박 신호로 활용</a:t>
            </a:r>
            <a:endParaRPr lang="en-US" sz="1300" dirty="0"/>
          </a:p>
        </p:txBody>
      </p:sp>
      <p:sp>
        <p:nvSpPr>
          <p:cNvPr id="16" name="Shape 11"/>
          <p:cNvSpPr/>
          <p:nvPr/>
        </p:nvSpPr>
        <p:spPr>
          <a:xfrm>
            <a:off x="6188075" y="3411413"/>
            <a:ext cx="5187950" cy="1234017"/>
          </a:xfrm>
          <a:prstGeom prst="roundRect">
            <a:avLst>
              <a:gd name="adj" fmla="val 7976"/>
            </a:avLst>
          </a:prstGeom>
          <a:solidFill>
            <a:srgbClr val="FFFFFF"/>
          </a:solidFill>
          <a:ln w="6350">
            <a:solidFill>
              <a:srgbClr val="DDE2E7"/>
            </a:solidFill>
            <a:prstDash val="solid"/>
          </a:ln>
        </p:spPr>
      </p:sp>
      <p:pic>
        <p:nvPicPr>
          <p:cNvPr id="17" name="Image 3" descr="Database">    </p:cNvPr>
          <p:cNvPicPr>
            <a:picLocks noChangeAspect="1"/>
          </p:cNvPicPr>
          <p:nvPr/>
        </p:nvPicPr>
        <p:blipFill>
          <a:blip r:embed="rId4"/>
          <a:srcRect l="0" r="0" t="0" b="0"/>
          <a:stretch/>
        </p:blipFill>
        <p:spPr>
          <a:xfrm>
            <a:off x="6392333" y="3615668"/>
            <a:ext cx="254000" cy="254000"/>
          </a:xfrm>
          <a:prstGeom prst="rect">
            <a:avLst/>
          </a:prstGeom>
        </p:spPr>
      </p:pic>
      <p:sp>
        <p:nvSpPr>
          <p:cNvPr id="18" name="Text 12"/>
          <p:cNvSpPr/>
          <p:nvPr/>
        </p:nvSpPr>
        <p:spPr>
          <a:xfrm>
            <a:off x="6747934" y="3620765"/>
            <a:ext cx="142017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운영 정보 연계</a:t>
            </a:r>
            <a:endParaRPr lang="en-US" sz="1600" dirty="0"/>
          </a:p>
        </p:txBody>
      </p:sp>
      <p:sp>
        <p:nvSpPr>
          <p:cNvPr id="19" name="Text 13"/>
          <p:cNvSpPr/>
          <p:nvPr/>
        </p:nvSpPr>
        <p:spPr>
          <a:xfrm>
            <a:off x="6392333" y="3945868"/>
            <a:ext cx="4922816"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회사 휴무·생산 계획을 입력하면 개선 여지. 조업 일정 입력은 평상 조업 기간 RMSE 13.44 → 12.52</a:t>
            </a:r>
            <a:endParaRPr lang="en-US" sz="1300" dirty="0"/>
          </a:p>
        </p:txBody>
      </p:sp>
      <p:sp>
        <p:nvSpPr>
          <p:cNvPr id="20"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경보 결과: Weighted Ensemble, Test 8/16~9/14 · 운영 정보 효과: TCN 검증 fold2 · 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5. 창의성·차별성</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차별화한 방법과 그 근거</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8"/>
          <a:ext cx="10553700" cy="3233738"/>
        </p:xfrm>
        <a:graphic>
          <a:graphicData uri="http://schemas.openxmlformats.org/drawingml/2006/table">
            <a:tbl>
              <a:tblPr/>
              <a:tblGrid>
                <a:gridCol w="2110740"/>
                <a:gridCol w="4854702"/>
                <a:gridCol w="3588258"/>
              </a:tblGrid>
              <a:tr h="359304">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요구 키워드</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우리가 한 것</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근거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불확실성 추정</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전력 예측값 → 오차 분포 기반 이상 확률</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피크 포착 41% → 74% (간이 모델)</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확률보정</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isotonic·조건별 σ·분류모델을 검증으로 비교</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Test 이득 없어 미채택 (Brier 0.038 → 0.046)</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불균형 학습</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경보 기준을 0.5 대신 검증 F1 최대 확률로</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피크 7% · FN 1 / 49</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앙상블</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LSTM(1주)·TCN(하루) 검증 MSE 역수 가중</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Test RMSE 8.67 · F1 0.527 1위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제조지식 결합</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예측 시점의 조업 일정을 미래 입력으로</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평상 조업 RMSE 13.44 → 12.52</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피처 안전성</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학습 범위 이탈 진단으로 위험 피처 차단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fold1 RMSE 45.4 → 9.7</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사전학습 모델</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시계열 기반모델 층별 미세조정 (F0~F7)</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[zero-shot 대비 개선폭]</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원인 규명</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오차 추적으로 달력에 없는 회사 휴무 발견</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8/2~8/6 휴가, 겨울 정기 휴무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자세한 내용: docs/modeling/창의성_차별성.md · 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5. 창의성·차별성 · 피처 안전성 진단</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학습 때 보지 못한 값은 딥러닝을 무너뜨립니다</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8"/>
          <a:ext cx="6337300" cy="2155825"/>
        </p:xfrm>
        <a:graphic>
          <a:graphicData uri="http://schemas.openxmlformats.org/drawingml/2006/table">
            <a:tbl>
              <a:tblPr/>
              <a:tblGrid>
                <a:gridCol w="2154682"/>
                <a:gridCol w="1520952"/>
                <a:gridCol w="1140714"/>
                <a:gridCol w="1520952"/>
              </a:tblGrid>
              <a:tr h="359304">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피처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범위 이탈</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최대 |z|</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조치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냉방잠열부하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13~36%</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62.6</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제거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냉방도일 CDD</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7~18%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46.8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제거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수증기압</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31~73%</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5.5</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제거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월 sin</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47~50%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5.7</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제거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점심·공휴일·영업일</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 5.1</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유지</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5" name="Shape 2"/>
          <p:cNvSpPr/>
          <p:nvPr/>
        </p:nvSpPr>
        <p:spPr>
          <a:xfrm>
            <a:off x="7467600" y="1990068"/>
            <a:ext cx="3911600" cy="1432454"/>
          </a:xfrm>
          <a:prstGeom prst="roundRect">
            <a:avLst>
              <a:gd name="adj" fmla="val 7093"/>
            </a:avLst>
          </a:prstGeom>
          <a:solidFill>
            <a:srgbClr val="13202E"/>
          </a:solidFill>
          <a:ln/>
        </p:spPr>
      </p:sp>
      <p:sp>
        <p:nvSpPr>
          <p:cNvPr id="6" name="Text 3"/>
          <p:cNvSpPr/>
          <p:nvPr/>
        </p:nvSpPr>
        <p:spPr>
          <a:xfrm>
            <a:off x="7670800" y="2193268"/>
            <a:ext cx="361035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CDA"/>
                </a:solidFill>
                <a:latin typeface="IBM Plex Sans KR" pitchFamily="34" charset="0"/>
                <a:ea typeface="IBM Plex Sans KR" pitchFamily="34" charset="-122"/>
                <a:cs typeface="IBM Plex Sans KR" pitchFamily="34" charset="-120"/>
              </a:rPr>
              <a:t>TCN fold1 RMSE</a:t>
            </a:r>
            <a:endParaRPr lang="en-US" sz="1200" dirty="0"/>
          </a:p>
        </p:txBody>
      </p:sp>
      <p:sp>
        <p:nvSpPr>
          <p:cNvPr id="7" name="Text 4"/>
          <p:cNvSpPr/>
          <p:nvPr/>
        </p:nvSpPr>
        <p:spPr>
          <a:xfrm>
            <a:off x="7670800" y="2457388"/>
            <a:ext cx="3610356" cy="523214"/>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F6F7F4"/>
                </a:solidFill>
                <a:latin typeface="IBM Plex Mono" pitchFamily="49" charset="0"/>
                <a:ea typeface="IBM Plex Mono" pitchFamily="49" charset="-122"/>
                <a:cs typeface="IBM Plex Mono" pitchFamily="49" charset="-120"/>
              </a:rPr>
              <a:t>45.4 → 9.7</a:t>
            </a:r>
            <a:endParaRPr lang="en-US" sz="2800" dirty="0"/>
          </a:p>
        </p:txBody>
      </p:sp>
      <p:sp>
        <p:nvSpPr>
          <p:cNvPr id="8" name="Text 5"/>
          <p:cNvSpPr/>
          <p:nvPr/>
        </p:nvSpPr>
        <p:spPr>
          <a:xfrm>
            <a:off x="7670800" y="3006006"/>
            <a:ext cx="361035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CDA"/>
                </a:solidFill>
                <a:latin typeface="IBM Plex Sans KR" pitchFamily="34" charset="0"/>
                <a:ea typeface="IBM Plex Sans KR" pitchFamily="34" charset="-122"/>
                <a:cs typeface="IBM Plex Sans KR" pitchFamily="34" charset="-120"/>
              </a:rPr>
              <a:t>위험 피처 제거 전 → 후</a:t>
            </a:r>
            <a:endParaRPr lang="en-US" sz="1200" dirty="0"/>
          </a:p>
        </p:txBody>
      </p:sp>
      <p:sp>
        <p:nvSpPr>
          <p:cNvPr id="9" name="Text 6"/>
          <p:cNvSpPr/>
          <p:nvPr/>
        </p:nvSpPr>
        <p:spPr>
          <a:xfrm>
            <a:off x="7467600" y="3549526"/>
            <a:ext cx="4028948"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겨울만 있는 학습 구간에서 냉방 값은 거의 0이라, 여름 값이 극단적 이상값이 됩니다.</a:t>
            </a:r>
            <a:endParaRPr lang="en-US" sz="1300" dirty="0"/>
          </a:p>
        </p:txBody>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범위 이탈 = 평가 값 중 학습 구간 최소~최대 밖의 비율 (검증 fold 3개 + Test) · 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6. 코드 및 재현성</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명령 하나로 전처리부터 결과까지</a:t>
            </a:r>
            <a:endParaRPr lang="en-US" sz="3000" dirty="0"/>
          </a:p>
        </p:txBody>
      </p:sp>
      <p:sp>
        <p:nvSpPr>
          <p:cNvPr id="4" name="Text 2"/>
          <p:cNvSpPr/>
          <p:nvPr/>
        </p:nvSpPr>
        <p:spPr>
          <a:xfrm>
            <a:off x="812800" y="1990068"/>
            <a:ext cx="573947"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원본</a:t>
            </a:r>
            <a:endParaRPr lang="en-US" sz="1300" dirty="0"/>
          </a:p>
        </p:txBody>
      </p:sp>
      <p:pic>
        <p:nvPicPr>
          <p:cNvPr id="5" name="Image 0" descr="Play">    </p:cNvPr>
          <p:cNvPicPr>
            <a:picLocks noChangeAspect="1"/>
          </p:cNvPicPr>
          <p:nvPr/>
        </p:nvPicPr>
        <p:blipFill>
          <a:blip r:embed="rId1"/>
          <a:srcRect l="0" r="0" t="0" b="0"/>
          <a:stretch/>
        </p:blipFill>
        <p:spPr>
          <a:xfrm>
            <a:off x="1462947" y="2105620"/>
            <a:ext cx="152400" cy="152400"/>
          </a:xfrm>
          <a:prstGeom prst="rect">
            <a:avLst/>
          </a:prstGeom>
        </p:spPr>
      </p:pic>
      <p:sp>
        <p:nvSpPr>
          <p:cNvPr id="6" name="Text 3"/>
          <p:cNvSpPr/>
          <p:nvPr/>
        </p:nvSpPr>
        <p:spPr>
          <a:xfrm>
            <a:off x="1691548" y="1990068"/>
            <a:ext cx="573947"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정제</a:t>
            </a:r>
            <a:endParaRPr lang="en-US" sz="1300" dirty="0"/>
          </a:p>
        </p:txBody>
      </p:sp>
      <p:pic>
        <p:nvPicPr>
          <p:cNvPr id="7" name="Image 1" descr="Play">    </p:cNvPr>
          <p:cNvPicPr>
            <a:picLocks noChangeAspect="1"/>
          </p:cNvPicPr>
          <p:nvPr/>
        </p:nvPicPr>
        <p:blipFill>
          <a:blip r:embed="rId2"/>
          <a:srcRect l="0" r="0" t="0" b="0"/>
          <a:stretch/>
        </p:blipFill>
        <p:spPr>
          <a:xfrm>
            <a:off x="2341695" y="2105620"/>
            <a:ext cx="152400" cy="152400"/>
          </a:xfrm>
          <a:prstGeom prst="rect">
            <a:avLst/>
          </a:prstGeom>
        </p:spPr>
      </p:pic>
      <p:sp>
        <p:nvSpPr>
          <p:cNvPr id="8" name="Text 4"/>
          <p:cNvSpPr/>
          <p:nvPr/>
        </p:nvSpPr>
        <p:spPr>
          <a:xfrm>
            <a:off x="2570295" y="1990068"/>
            <a:ext cx="907455"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피처 생성</a:t>
            </a:r>
            <a:endParaRPr lang="en-US" sz="1300" dirty="0"/>
          </a:p>
        </p:txBody>
      </p:sp>
      <p:pic>
        <p:nvPicPr>
          <p:cNvPr id="9" name="Image 2" descr="Play">    </p:cNvPr>
          <p:cNvPicPr>
            <a:picLocks noChangeAspect="1"/>
          </p:cNvPicPr>
          <p:nvPr/>
        </p:nvPicPr>
        <p:blipFill>
          <a:blip r:embed="rId3"/>
          <a:srcRect l="0" r="0" t="0" b="0"/>
          <a:stretch/>
        </p:blipFill>
        <p:spPr>
          <a:xfrm>
            <a:off x="3553950" y="2105620"/>
            <a:ext cx="152400" cy="152400"/>
          </a:xfrm>
          <a:prstGeom prst="rect">
            <a:avLst/>
          </a:prstGeom>
        </p:spPr>
      </p:pic>
      <p:sp>
        <p:nvSpPr>
          <p:cNvPr id="10" name="Text 5"/>
          <p:cNvSpPr/>
          <p:nvPr/>
        </p:nvSpPr>
        <p:spPr>
          <a:xfrm>
            <a:off x="3782550" y="1990068"/>
            <a:ext cx="573947"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학습</a:t>
            </a:r>
            <a:endParaRPr lang="en-US" sz="1300" dirty="0"/>
          </a:p>
        </p:txBody>
      </p:sp>
      <p:pic>
        <p:nvPicPr>
          <p:cNvPr id="11" name="Image 3" descr="Play">    </p:cNvPr>
          <p:cNvPicPr>
            <a:picLocks noChangeAspect="1"/>
          </p:cNvPicPr>
          <p:nvPr/>
        </p:nvPicPr>
        <p:blipFill>
          <a:blip r:embed="rId4"/>
          <a:srcRect l="0" r="0" t="0" b="0"/>
          <a:stretch/>
        </p:blipFill>
        <p:spPr>
          <a:xfrm>
            <a:off x="4432697" y="2105620"/>
            <a:ext cx="152400" cy="152400"/>
          </a:xfrm>
          <a:prstGeom prst="rect">
            <a:avLst/>
          </a:prstGeom>
        </p:spPr>
      </p:pic>
      <p:sp>
        <p:nvSpPr>
          <p:cNvPr id="12" name="Text 6"/>
          <p:cNvSpPr/>
          <p:nvPr/>
        </p:nvSpPr>
        <p:spPr>
          <a:xfrm>
            <a:off x="4661297" y="1990068"/>
            <a:ext cx="922338"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추론·평가</a:t>
            </a:r>
            <a:endParaRPr lang="en-US" sz="1300" dirty="0"/>
          </a:p>
        </p:txBody>
      </p:sp>
      <p:pic>
        <p:nvPicPr>
          <p:cNvPr id="13" name="Image 4" descr="Play">    </p:cNvPr>
          <p:cNvPicPr>
            <a:picLocks noChangeAspect="1"/>
          </p:cNvPicPr>
          <p:nvPr/>
        </p:nvPicPr>
        <p:blipFill>
          <a:blip r:embed="rId5"/>
          <a:srcRect l="0" r="0" t="0" b="0"/>
          <a:stretch/>
        </p:blipFill>
        <p:spPr>
          <a:xfrm>
            <a:off x="5659834" y="2105620"/>
            <a:ext cx="152400" cy="152400"/>
          </a:xfrm>
          <a:prstGeom prst="rect">
            <a:avLst/>
          </a:prstGeom>
        </p:spPr>
      </p:pic>
      <p:sp>
        <p:nvSpPr>
          <p:cNvPr id="14" name="Text 7"/>
          <p:cNvSpPr/>
          <p:nvPr/>
        </p:nvSpPr>
        <p:spPr>
          <a:xfrm>
            <a:off x="5888434" y="1990068"/>
            <a:ext cx="868495"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오류분석</a:t>
            </a:r>
            <a:endParaRPr lang="en-US" sz="1300" dirty="0"/>
          </a:p>
        </p:txBody>
      </p:sp>
      <p:pic>
        <p:nvPicPr>
          <p:cNvPr id="15" name="Image 5" descr="Play">    </p:cNvPr>
          <p:cNvPicPr>
            <a:picLocks noChangeAspect="1"/>
          </p:cNvPicPr>
          <p:nvPr/>
        </p:nvPicPr>
        <p:blipFill>
          <a:blip r:embed="rId6"/>
          <a:srcRect l="0" r="0" t="0" b="0"/>
          <a:stretch/>
        </p:blipFill>
        <p:spPr>
          <a:xfrm>
            <a:off x="6833129" y="2105620"/>
            <a:ext cx="152400" cy="152400"/>
          </a:xfrm>
          <a:prstGeom prst="rect">
            <a:avLst/>
          </a:prstGeom>
        </p:spPr>
      </p:pic>
      <p:sp>
        <p:nvSpPr>
          <p:cNvPr id="16" name="Text 8"/>
          <p:cNvSpPr/>
          <p:nvPr/>
        </p:nvSpPr>
        <p:spPr>
          <a:xfrm>
            <a:off x="7061729" y="1990068"/>
            <a:ext cx="1054761" cy="383514"/>
          </a:xfrm>
          <a:prstGeom prst="roundRect">
            <a:avLst>
              <a:gd name="adj" fmla="val 50000"/>
            </a:avLst>
          </a:prstGeom>
          <a:solidFill>
            <a:srgbClr val="2A78D6"/>
          </a:solidFill>
          <a:ln/>
        </p:spPr>
        <p:txBody>
          <a:bodyPr wrap="none" lIns="0" tIns="0" rIns="0" bIns="0" rtlCol="0" anchor="ctr">
            <a:normAutofit/>
          </a:bodyPr>
          <a:lstStyle/>
          <a:p>
            <a:pPr algn="ctr" indent="0" marL="0">
              <a:lnSpc>
                <a:spcPts val="1820"/>
              </a:lnSpc>
              <a:buNone/>
            </a:pPr>
            <a:r>
              <a:rPr lang="en-US" sz="1300" dirty="0">
                <a:solidFill>
                  <a:srgbClr val="FFFFFF"/>
                </a:solidFill>
                <a:latin typeface="IBM Plex Sans KR" pitchFamily="34" charset="0"/>
                <a:ea typeface="IBM Plex Sans KR" pitchFamily="34" charset="-122"/>
                <a:cs typeface="IBM Plex Sans KR" pitchFamily="34" charset="-120"/>
              </a:rPr>
              <a:t>결과 보고서</a:t>
            </a:r>
            <a:endParaRPr lang="en-US" sz="1300" dirty="0"/>
          </a:p>
        </p:txBody>
      </p:sp>
      <p:sp>
        <p:nvSpPr>
          <p:cNvPr id="17" name="Text 9"/>
          <p:cNvSpPr/>
          <p:nvPr/>
        </p:nvSpPr>
        <p:spPr>
          <a:xfrm>
            <a:off x="812800" y="2627585"/>
            <a:ext cx="10566400" cy="640027"/>
          </a:xfrm>
          <a:prstGeom prst="roundRect">
            <a:avLst>
              <a:gd name="adj" fmla="val 11906"/>
            </a:avLst>
          </a:prstGeom>
          <a:solidFill>
            <a:srgbClr val="13202E"/>
          </a:solidFill>
          <a:ln/>
        </p:spPr>
        <p:txBody>
          <a:bodyPr wrap="square" lIns="206282" tIns="155482" rIns="0" bIns="130082" rtlCol="0" anchor="t">
            <a:normAutofit/>
          </a:bodyPr>
          <a:lstStyle/>
          <a:p>
            <a:pPr algn="l" indent="0" marL="0">
              <a:lnSpc>
                <a:spcPts val="2240"/>
              </a:lnSpc>
              <a:buNone/>
            </a:pPr>
            <a:r>
              <a:rPr lang="en-US" sz="1600" dirty="0">
                <a:solidFill>
                  <a:srgbClr val="F6F7F4"/>
                </a:solidFill>
                <a:latin typeface="IBM Plex Mono" pitchFamily="49" charset="0"/>
                <a:ea typeface="IBM Plex Mono" pitchFamily="49" charset="-122"/>
                <a:cs typeface="IBM Plex Mono" pitchFamily="49" charset="-120"/>
              </a:rPr>
              <a:t>pip install -r requirements.txt → python run_all.py</a:t>
            </a:r>
            <a:endParaRPr lang="en-US" sz="1600" dirty="0"/>
          </a:p>
        </p:txBody>
      </p:sp>
      <p:sp>
        <p:nvSpPr>
          <p:cNvPr id="18" name="Shape 10"/>
          <p:cNvSpPr/>
          <p:nvPr/>
        </p:nvSpPr>
        <p:spPr>
          <a:xfrm>
            <a:off x="815975" y="3524783"/>
            <a:ext cx="3397250" cy="1195917"/>
          </a:xfrm>
          <a:prstGeom prst="roundRect">
            <a:avLst>
              <a:gd name="adj" fmla="val 8230"/>
            </a:avLst>
          </a:prstGeom>
          <a:solidFill>
            <a:srgbClr val="FFFFFF"/>
          </a:solidFill>
          <a:ln w="6350">
            <a:solidFill>
              <a:srgbClr val="DDE2E7"/>
            </a:solidFill>
            <a:prstDash val="solid"/>
          </a:ln>
        </p:spPr>
      </p:sp>
      <p:pic>
        <p:nvPicPr>
          <p:cNvPr id="19" name="Image 6" descr="Verified">    </p:cNvPr>
          <p:cNvPicPr>
            <a:picLocks noChangeAspect="1"/>
          </p:cNvPicPr>
          <p:nvPr/>
        </p:nvPicPr>
        <p:blipFill>
          <a:blip r:embed="rId7"/>
          <a:srcRect l="0" r="0" t="0" b="0"/>
          <a:stretch/>
        </p:blipFill>
        <p:spPr>
          <a:xfrm>
            <a:off x="1020233" y="3729038"/>
            <a:ext cx="228600" cy="228600"/>
          </a:xfrm>
          <a:prstGeom prst="rect">
            <a:avLst/>
          </a:prstGeom>
        </p:spPr>
      </p:pic>
      <p:sp>
        <p:nvSpPr>
          <p:cNvPr id="20" name="Text 11"/>
          <p:cNvSpPr/>
          <p:nvPr/>
        </p:nvSpPr>
        <p:spPr>
          <a:xfrm>
            <a:off x="1337733" y="3729038"/>
            <a:ext cx="107354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데이터 재현</a:t>
            </a:r>
            <a:endParaRPr lang="en-US" sz="1500" dirty="0"/>
          </a:p>
        </p:txBody>
      </p:sp>
      <p:sp>
        <p:nvSpPr>
          <p:cNvPr id="21" name="Text 12"/>
          <p:cNvSpPr/>
          <p:nvPr/>
        </p:nvSpPr>
        <p:spPr>
          <a:xfrm>
            <a:off x="1020233" y="4021138"/>
            <a:ext cx="307839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정제 데이터로 만든 피처 파일이 팀 실험 파일과 바이트 단위로 동일</a:t>
            </a:r>
            <a:endParaRPr lang="en-US" sz="1300" dirty="0"/>
          </a:p>
        </p:txBody>
      </p:sp>
      <p:sp>
        <p:nvSpPr>
          <p:cNvPr id="22" name="Shape 13"/>
          <p:cNvSpPr/>
          <p:nvPr/>
        </p:nvSpPr>
        <p:spPr>
          <a:xfrm>
            <a:off x="4397375" y="3524783"/>
            <a:ext cx="3397250" cy="1195917"/>
          </a:xfrm>
          <a:prstGeom prst="roundRect">
            <a:avLst>
              <a:gd name="adj" fmla="val 8230"/>
            </a:avLst>
          </a:prstGeom>
          <a:solidFill>
            <a:srgbClr val="FFFFFF"/>
          </a:solidFill>
          <a:ln w="6350">
            <a:solidFill>
              <a:srgbClr val="DDE2E7"/>
            </a:solidFill>
            <a:prstDash val="solid"/>
          </a:ln>
        </p:spPr>
      </p:sp>
      <p:pic>
        <p:nvPicPr>
          <p:cNvPr id="23" name="Image 7" descr="CheckCircle">    </p:cNvPr>
          <p:cNvPicPr>
            <a:picLocks noChangeAspect="1"/>
          </p:cNvPicPr>
          <p:nvPr/>
        </p:nvPicPr>
        <p:blipFill>
          <a:blip r:embed="rId8"/>
          <a:srcRect l="0" r="0" t="0" b="0"/>
          <a:stretch/>
        </p:blipFill>
        <p:spPr>
          <a:xfrm>
            <a:off x="4601633" y="3729038"/>
            <a:ext cx="228600" cy="228600"/>
          </a:xfrm>
          <a:prstGeom prst="rect">
            <a:avLst/>
          </a:prstGeom>
        </p:spPr>
      </p:pic>
      <p:sp>
        <p:nvSpPr>
          <p:cNvPr id="24" name="Text 14"/>
          <p:cNvSpPr/>
          <p:nvPr/>
        </p:nvSpPr>
        <p:spPr>
          <a:xfrm>
            <a:off x="4919133" y="3729038"/>
            <a:ext cx="869632"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결과 재현</a:t>
            </a:r>
            <a:endParaRPr lang="en-US" sz="1500" dirty="0"/>
          </a:p>
        </p:txBody>
      </p:sp>
      <p:sp>
        <p:nvSpPr>
          <p:cNvPr id="25" name="Text 15"/>
          <p:cNvSpPr/>
          <p:nvPr/>
        </p:nvSpPr>
        <p:spPr>
          <a:xfrm>
            <a:off x="4601633" y="4021138"/>
            <a:ext cx="307839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seed 42 고정, 같은 환경에서 두 번 실행한 수치가 소수점까지 동일</a:t>
            </a:r>
            <a:endParaRPr lang="en-US" sz="1300" dirty="0"/>
          </a:p>
        </p:txBody>
      </p:sp>
      <p:sp>
        <p:nvSpPr>
          <p:cNvPr id="26" name="Shape 16"/>
          <p:cNvSpPr/>
          <p:nvPr/>
        </p:nvSpPr>
        <p:spPr>
          <a:xfrm>
            <a:off x="7978775" y="3524783"/>
            <a:ext cx="3397250" cy="1195917"/>
          </a:xfrm>
          <a:prstGeom prst="roundRect">
            <a:avLst>
              <a:gd name="adj" fmla="val 8230"/>
            </a:avLst>
          </a:prstGeom>
          <a:solidFill>
            <a:srgbClr val="FFFFFF"/>
          </a:solidFill>
          <a:ln w="6350">
            <a:solidFill>
              <a:srgbClr val="DDE2E7"/>
            </a:solidFill>
            <a:prstDash val="solid"/>
          </a:ln>
        </p:spPr>
      </p:sp>
      <p:pic>
        <p:nvPicPr>
          <p:cNvPr id="27" name="Image 8" descr="Book">    </p:cNvPr>
          <p:cNvPicPr>
            <a:picLocks noChangeAspect="1"/>
          </p:cNvPicPr>
          <p:nvPr/>
        </p:nvPicPr>
        <p:blipFill>
          <a:blip r:embed="rId9"/>
          <a:srcRect l="0" r="0" t="0" b="0"/>
          <a:stretch/>
        </p:blipFill>
        <p:spPr>
          <a:xfrm>
            <a:off x="8183034" y="3729038"/>
            <a:ext cx="228600" cy="228600"/>
          </a:xfrm>
          <a:prstGeom prst="rect">
            <a:avLst/>
          </a:prstGeom>
        </p:spPr>
      </p:pic>
      <p:sp>
        <p:nvSpPr>
          <p:cNvPr id="28" name="Text 17"/>
          <p:cNvSpPr/>
          <p:nvPr/>
        </p:nvSpPr>
        <p:spPr>
          <a:xfrm>
            <a:off x="8500534" y="3729038"/>
            <a:ext cx="869632"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실행 기록</a:t>
            </a:r>
            <a:endParaRPr lang="en-US" sz="1500" dirty="0"/>
          </a:p>
        </p:txBody>
      </p:sp>
      <p:sp>
        <p:nvSpPr>
          <p:cNvPr id="29" name="Text 18"/>
          <p:cNvSpPr/>
          <p:nvPr/>
        </p:nvSpPr>
        <p:spPr>
          <a:xfrm>
            <a:off x="8183034" y="4021138"/>
            <a:ext cx="307839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버전·커밋·데이터 지문(MD5)·단계별 시간을 run_manifest.json 에 자동 저장</a:t>
            </a:r>
            <a:endParaRPr lang="en-US" sz="1300" dirty="0"/>
          </a:p>
        </p:txBody>
      </p:sp>
      <p:sp>
        <p:nvSpPr>
          <p:cNvPr id="30"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CPU 약 2.5시간 · Colab T4 약 30분 · 동작 확인 --quick 12분 · 실행 안내 docs/REPRODUCE.md · 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02E"/>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7FB6EC"/>
                </a:solidFill>
                <a:latin typeface="IBM Plex Sans KR" pitchFamily="34" charset="0"/>
                <a:ea typeface="IBM Plex Sans KR" pitchFamily="34" charset="-122"/>
                <a:cs typeface="IBM Plex Sans KR" pitchFamily="34" charset="-120"/>
              </a:rPr>
              <a:t>결론</a:t>
            </a:r>
            <a:endParaRPr lang="en-US" sz="1300" dirty="0"/>
          </a:p>
        </p:txBody>
      </p:sp>
      <p:sp>
        <p:nvSpPr>
          <p:cNvPr id="3" name="Text 1"/>
          <p:cNvSpPr/>
          <p:nvPr>
            <p:ph type="title"/>
          </p:nvPr>
        </p:nvSpPr>
        <p:spPr>
          <a:xfrm>
            <a:off x="812800" y="1348718"/>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7F4"/>
                </a:solidFill>
                <a:latin typeface="IBM Plex Sans KR" pitchFamily="34" charset="0"/>
                <a:ea typeface="IBM Plex Sans KR" pitchFamily="34" charset="-122"/>
                <a:cs typeface="IBM Plex Sans KR" pitchFamily="34" charset="-120"/>
              </a:rPr>
              <a:t>불량 라벨 없이도 공장의 이상을 미리 알릴 수 있습니다</a:t>
            </a:r>
            <a:endParaRPr lang="en-US" sz="3200" dirty="0"/>
          </a:p>
        </p:txBody>
      </p:sp>
      <p:sp>
        <p:nvSpPr>
          <p:cNvPr id="4" name="Text 2"/>
          <p:cNvSpPr/>
          <p:nvPr/>
        </p:nvSpPr>
        <p:spPr>
          <a:xfrm>
            <a:off x="812800" y="2120838"/>
            <a:ext cx="5232400"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7FB6EC"/>
                </a:solidFill>
                <a:latin typeface="IBM Plex Sans KR" pitchFamily="34" charset="0"/>
                <a:ea typeface="IBM Plex Sans KR" pitchFamily="34" charset="-122"/>
                <a:cs typeface="IBM Plex Sans KR" pitchFamily="34" charset="-120"/>
              </a:rPr>
              <a:t>성과</a:t>
            </a:r>
            <a:endParaRPr lang="en-US" sz="1700" dirty="0"/>
          </a:p>
        </p:txBody>
      </p:sp>
      <p:sp>
        <p:nvSpPr>
          <p:cNvPr id="5" name="Text 3"/>
          <p:cNvSpPr/>
          <p:nvPr/>
        </p:nvSpPr>
        <p:spPr>
          <a:xfrm>
            <a:off x="812800" y="25068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F6F7F4"/>
                </a:solidFill>
                <a:latin typeface="IBM Plex Sans KR" pitchFamily="34" charset="0"/>
                <a:ea typeface="IBM Plex Sans KR" pitchFamily="34" charset="-122"/>
                <a:cs typeface="IBM Plex Sans KR" pitchFamily="34" charset="-120"/>
              </a:rPr>
              <a:t>전력 피크를 1시간 전 확률로 경보: Recall 0.98, F1 0.527</a:t>
            </a:r>
            <a:endParaRPr lang="en-US" sz="1400" dirty="0"/>
          </a:p>
        </p:txBody>
      </p:sp>
      <p:sp>
        <p:nvSpPr>
          <p:cNvPr id="6" name="Text 4"/>
          <p:cNvSpPr/>
          <p:nvPr/>
        </p:nvSpPr>
        <p:spPr>
          <a:xfrm>
            <a:off x="812800" y="29005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F6F7F4"/>
                </a:solidFill>
                <a:latin typeface="IBM Plex Sans KR" pitchFamily="34" charset="0"/>
                <a:ea typeface="IBM Plex Sans KR" pitchFamily="34" charset="-122"/>
                <a:cs typeface="IBM Plex Sans KR" pitchFamily="34" charset="-120"/>
              </a:rPr>
              <a:t>전력 예측 RMSE 8.67 kW, 베이스라인 대비 30% 감소</a:t>
            </a:r>
            <a:endParaRPr lang="en-US" sz="1400" dirty="0"/>
          </a:p>
        </p:txBody>
      </p:sp>
      <p:sp>
        <p:nvSpPr>
          <p:cNvPr id="7" name="Text 5"/>
          <p:cNvSpPr/>
          <p:nvPr/>
        </p:nvSpPr>
        <p:spPr>
          <a:xfrm>
            <a:off x="812800" y="32942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F6F7F4"/>
                </a:solidFill>
                <a:latin typeface="IBM Plex Sans KR" pitchFamily="34" charset="0"/>
                <a:ea typeface="IBM Plex Sans KR" pitchFamily="34" charset="-122"/>
                <a:cs typeface="IBM Plex Sans KR" pitchFamily="34" charset="-120"/>
              </a:rPr>
              <a:t>오차 원인 규명: 설비 기동·고온·달력에 없는 회사 휴무</a:t>
            </a:r>
            <a:endParaRPr lang="en-US" sz="1400" dirty="0"/>
          </a:p>
        </p:txBody>
      </p:sp>
      <p:sp>
        <p:nvSpPr>
          <p:cNvPr id="8" name="Text 6"/>
          <p:cNvSpPr/>
          <p:nvPr/>
        </p:nvSpPr>
        <p:spPr>
          <a:xfrm>
            <a:off x="6299200" y="2120838"/>
            <a:ext cx="5232400"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0A07A"/>
                </a:solidFill>
                <a:latin typeface="IBM Plex Sans KR" pitchFamily="34" charset="0"/>
                <a:ea typeface="IBM Plex Sans KR" pitchFamily="34" charset="-122"/>
                <a:cs typeface="IBM Plex Sans KR" pitchFamily="34" charset="-120"/>
              </a:rPr>
              <a:t>한계와 다음 단계</a:t>
            </a:r>
            <a:endParaRPr lang="en-US" sz="1700" dirty="0"/>
          </a:p>
        </p:txBody>
      </p:sp>
      <p:sp>
        <p:nvSpPr>
          <p:cNvPr id="9" name="Text 7"/>
          <p:cNvSpPr/>
          <p:nvPr/>
        </p:nvSpPr>
        <p:spPr>
          <a:xfrm>
            <a:off x="6299200" y="25068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CCDA"/>
                </a:solidFill>
                <a:latin typeface="IBM Plex Sans KR" pitchFamily="34" charset="0"/>
                <a:ea typeface="IBM Plex Sans KR" pitchFamily="34" charset="-122"/>
                <a:cs typeface="IBM Plex Sans KR" pitchFamily="34" charset="-120"/>
              </a:rPr>
              <a:t>헛경보가 많음(Precision 0.36) → 피크 비용을 반영한 경보 기준</a:t>
            </a:r>
            <a:endParaRPr lang="en-US" sz="1400" dirty="0"/>
          </a:p>
        </p:txBody>
      </p:sp>
      <p:sp>
        <p:nvSpPr>
          <p:cNvPr id="10" name="Text 8"/>
          <p:cNvSpPr/>
          <p:nvPr/>
        </p:nvSpPr>
        <p:spPr>
          <a:xfrm>
            <a:off x="6299200" y="29005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CCDA"/>
                </a:solidFill>
                <a:latin typeface="IBM Plex Sans KR" pitchFamily="34" charset="0"/>
                <a:ea typeface="IBM Plex Sans KR" pitchFamily="34" charset="-122"/>
                <a:cs typeface="IBM Plex Sans KR" pitchFamily="34" charset="-120"/>
              </a:rPr>
              <a:t>회사 휴무·생산 계획을 입력으로 연계</a:t>
            </a:r>
            <a:endParaRPr lang="en-US" sz="1400" dirty="0"/>
          </a:p>
        </p:txBody>
      </p:sp>
      <p:sp>
        <p:nvSpPr>
          <p:cNvPr id="11" name="Text 9"/>
          <p:cNvSpPr/>
          <p:nvPr/>
        </p:nvSpPr>
        <p:spPr>
          <a:xfrm>
            <a:off x="6299200" y="32942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CCDA"/>
                </a:solidFill>
                <a:latin typeface="IBM Plex Sans KR" pitchFamily="34" charset="0"/>
                <a:ea typeface="IBM Plex Sans KR" pitchFamily="34" charset="-122"/>
                <a:cs typeface="IBM Plex Sans KR" pitchFamily="34" charset="-120"/>
              </a:rPr>
              <a:t>9개월 데이터 → 1년 이상 데이터로 계절 검증 확대</a:t>
            </a:r>
            <a:endParaRPr lang="en-US" sz="14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0B3"/>
                </a:solidFill>
                <a:latin typeface="IBM Plex Sans KR" pitchFamily="34" charset="0"/>
                <a:ea typeface="IBM Plex Sans KR" pitchFamily="34" charset="-122"/>
                <a:cs typeface="IBM Plex Sans KR" pitchFamily="34" charset="-120"/>
              </a:rPr>
              <a:t>코드·결과: GitHub jgi0117/KAMP-Competition · 20</a:t>
            </a:r>
            <a:endParaRPr lang="en-US" sz="1200" dirty="0"/>
          </a:p>
        </p:txBody>
      </p:sp>
    </p:spTree>
  </p:cSld>
  <p:clrMapOvr>
    <a:masterClrMapping/>
  </p:clrMapOvr>
</p:sld>
</file>

<file path=ppt/theme/theme1.xml><?xml version="1.0" encoding="utf-8"?>
<a:theme xmlns:a="http://schemas.openxmlformats.org/drawingml/2006/main" name="OKM 전력 피크 예측 발표">
  <a:themeElements>
    <a:clrScheme name="OKM 전력 피크 예측 발표">
      <a:dk1>
        <a:srgbClr val="13202E"/>
      </a:dk1>
      <a:lt1>
        <a:srgbClr val="F6F7F4"/>
      </a:lt1>
      <a:dk2>
        <a:srgbClr val="4C5660"/>
      </a:dk2>
      <a:lt2>
        <a:srgbClr val="DFE2E0"/>
      </a:lt2>
      <a:accent1>
        <a:srgbClr val="2A78D6"/>
      </a:accent1>
      <a:accent2>
        <a:srgbClr val="1F4E86"/>
      </a:accent2>
      <a:accent3>
        <a:srgbClr val="7FB6EC"/>
      </a:accent3>
      <a:accent4>
        <a:srgbClr val="E2672F"/>
      </a:accent4>
      <a:accent5>
        <a:srgbClr val="F0A07A"/>
      </a:accent5>
      <a:accent6>
        <a:srgbClr val="4A5568"/>
      </a:accent6>
      <a:hlink>
        <a:srgbClr val="0563C1"/>
      </a:hlink>
      <a:folHlink>
        <a:srgbClr val="954F72"/>
      </a:folHlink>
    </a:clrScheme>
    <a:fontScheme name="OKM 전력 피크 예측 발표">
      <a:majorFont>
        <a:latin typeface="IBM Plex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OKM 전력 피크 예측 발표</dc:title>
  <dc:subject/>
  <dc:creator/>
  <cp:lastModifiedBy/>
  <cp:revision>1</cp:revision>
  <dcterms:created xsi:type="dcterms:W3CDTF">2026-10-07T13:47:35Z</dcterms:created>
  <dcterms:modified xsi:type="dcterms:W3CDTF">2026-10-07T13:47:35Z</dcterms:modified>
</cp:coreProperties>
</file>